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9" r:id="rId7"/>
    <p:sldId id="261" r:id="rId8"/>
    <p:sldId id="266" r:id="rId9"/>
    <p:sldId id="267" r:id="rId10"/>
    <p:sldId id="262" r:id="rId11"/>
    <p:sldId id="270" r:id="rId12"/>
    <p:sldId id="263" r:id="rId13"/>
    <p:sldId id="272" r:id="rId14"/>
    <p:sldId id="271" r:id="rId15"/>
    <p:sldId id="264" r:id="rId16"/>
    <p:sldId id="276" r:id="rId17"/>
    <p:sldId id="265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000F"/>
    <a:srgbClr val="D9DA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8"/>
  </p:normalViewPr>
  <p:slideViewPr>
    <p:cSldViewPr snapToGrid="0" snapToObjects="1">
      <p:cViewPr>
        <p:scale>
          <a:sx n="160" d="100"/>
          <a:sy n="160" d="100"/>
        </p:scale>
        <p:origin x="-296" y="-9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D06-2E38-D444-B065-07948143C79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FEA7-9E0D-8143-AC8A-B984E172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38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D06-2E38-D444-B065-07948143C79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FEA7-9E0D-8143-AC8A-B984E172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9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D06-2E38-D444-B065-07948143C79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FEA7-9E0D-8143-AC8A-B984E172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0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D06-2E38-D444-B065-07948143C79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FEA7-9E0D-8143-AC8A-B984E172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2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D06-2E38-D444-B065-07948143C79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FEA7-9E0D-8143-AC8A-B984E172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33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D06-2E38-D444-B065-07948143C79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FEA7-9E0D-8143-AC8A-B984E172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39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D06-2E38-D444-B065-07948143C79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FEA7-9E0D-8143-AC8A-B984E172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36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D06-2E38-D444-B065-07948143C79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FEA7-9E0D-8143-AC8A-B984E172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53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D06-2E38-D444-B065-07948143C79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FEA7-9E0D-8143-AC8A-B984E172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D06-2E38-D444-B065-07948143C79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FEA7-9E0D-8143-AC8A-B984E172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50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D06-2E38-D444-B065-07948143C79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FEA7-9E0D-8143-AC8A-B984E172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1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C9D06-2E38-D444-B065-07948143C79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FFEA7-9E0D-8143-AC8A-B984E172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92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20716" y="4022223"/>
            <a:ext cx="8636363" cy="2639159"/>
            <a:chOff x="207303" y="3589460"/>
            <a:chExt cx="8636363" cy="2639159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12" y="3702067"/>
              <a:ext cx="7277249" cy="2526552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220716" y="3702067"/>
              <a:ext cx="607896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3.3V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2357" y="5859287"/>
              <a:ext cx="621309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GND</a:t>
              </a:r>
            </a:p>
          </p:txBody>
        </p:sp>
        <p:cxnSp>
          <p:nvCxnSpPr>
            <p:cNvPr id="10" name="Straight Arrow Connector 9"/>
            <p:cNvCxnSpPr>
              <a:stCxn id="7" idx="3"/>
            </p:cNvCxnSpPr>
            <p:nvPr/>
          </p:nvCxnSpPr>
          <p:spPr>
            <a:xfrm>
              <a:off x="828612" y="3886733"/>
              <a:ext cx="594438" cy="148577"/>
            </a:xfrm>
            <a:prstGeom prst="straightConnector1">
              <a:avLst/>
            </a:prstGeom>
            <a:ln w="3810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H="1" flipV="1">
              <a:off x="7637639" y="4022223"/>
              <a:ext cx="529816" cy="98351"/>
            </a:xfrm>
            <a:prstGeom prst="straightConnector1">
              <a:avLst/>
            </a:prstGeom>
            <a:ln w="38100" cmpd="sng"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31" idx="3"/>
            </p:cNvCxnSpPr>
            <p:nvPr/>
          </p:nvCxnSpPr>
          <p:spPr>
            <a:xfrm flipV="1">
              <a:off x="828612" y="4101395"/>
              <a:ext cx="477352" cy="184666"/>
            </a:xfrm>
            <a:prstGeom prst="straightConnector1">
              <a:avLst/>
            </a:prstGeom>
            <a:ln w="38100" cmpd="sng"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8222357" y="3589460"/>
              <a:ext cx="432630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5V</a:t>
              </a: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flipH="1">
              <a:off x="7637639" y="3702067"/>
              <a:ext cx="584718" cy="184666"/>
            </a:xfrm>
            <a:prstGeom prst="straightConnector1">
              <a:avLst/>
            </a:prstGeom>
            <a:ln w="38100" cmpd="sng">
              <a:solidFill>
                <a:srgbClr val="FFFF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8212681" y="4035310"/>
              <a:ext cx="621309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GND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07303" y="5827021"/>
              <a:ext cx="621309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GND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07303" y="4101395"/>
              <a:ext cx="621309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GND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07303" y="5367708"/>
              <a:ext cx="607896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3.3V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>
              <a:off x="828612" y="5665647"/>
              <a:ext cx="594438" cy="193640"/>
            </a:xfrm>
            <a:prstGeom prst="straightConnector1">
              <a:avLst/>
            </a:prstGeom>
            <a:ln w="3810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V="1">
              <a:off x="815199" y="5998920"/>
              <a:ext cx="607851" cy="96896"/>
            </a:xfrm>
            <a:prstGeom prst="straightConnector1">
              <a:avLst/>
            </a:prstGeom>
            <a:ln w="38100" cmpd="sng"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8" idx="1"/>
            </p:cNvCxnSpPr>
            <p:nvPr/>
          </p:nvCxnSpPr>
          <p:spPr>
            <a:xfrm flipH="1" flipV="1">
              <a:off x="7700685" y="5859287"/>
              <a:ext cx="521672" cy="184666"/>
            </a:xfrm>
            <a:prstGeom prst="straightConnector1">
              <a:avLst/>
            </a:prstGeom>
            <a:ln w="38100" cmpd="sng"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8222357" y="5457689"/>
              <a:ext cx="607896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3.3V</a:t>
              </a:r>
            </a:p>
          </p:txBody>
        </p:sp>
        <p:cxnSp>
          <p:nvCxnSpPr>
            <p:cNvPr id="52" name="Straight Arrow Connector 51"/>
            <p:cNvCxnSpPr>
              <a:stCxn id="51" idx="1"/>
            </p:cNvCxnSpPr>
            <p:nvPr/>
          </p:nvCxnSpPr>
          <p:spPr>
            <a:xfrm flipH="1">
              <a:off x="7700685" y="5642355"/>
              <a:ext cx="521672" cy="126133"/>
            </a:xfrm>
            <a:prstGeom prst="straightConnector1">
              <a:avLst/>
            </a:prstGeom>
            <a:ln w="3810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/>
          <p:cNvGrpSpPr/>
          <p:nvPr/>
        </p:nvGrpSpPr>
        <p:grpSpPr>
          <a:xfrm>
            <a:off x="207303" y="384510"/>
            <a:ext cx="3584959" cy="1720017"/>
            <a:chOff x="2053515" y="1388607"/>
            <a:chExt cx="3584959" cy="1720017"/>
          </a:xfrm>
        </p:grpSpPr>
        <p:pic>
          <p:nvPicPr>
            <p:cNvPr id="55" name="Pictur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35441" y="706681"/>
              <a:ext cx="1720017" cy="3083869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5205844" y="1735195"/>
              <a:ext cx="432630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5V</a:t>
              </a:r>
            </a:p>
          </p:txBody>
        </p:sp>
        <p:cxnSp>
          <p:nvCxnSpPr>
            <p:cNvPr id="62" name="Straight Arrow Connector 61"/>
            <p:cNvCxnSpPr/>
            <p:nvPr/>
          </p:nvCxnSpPr>
          <p:spPr>
            <a:xfrm flipH="1">
              <a:off x="4241419" y="1874826"/>
              <a:ext cx="964425" cy="0"/>
            </a:xfrm>
            <a:prstGeom prst="straightConnector1">
              <a:avLst/>
            </a:prstGeom>
            <a:ln w="38100" cmpd="sng">
              <a:solidFill>
                <a:srgbClr val="FFFF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5050696" y="1144086"/>
            <a:ext cx="2362386" cy="2161507"/>
            <a:chOff x="1503296" y="1575730"/>
            <a:chExt cx="2362386" cy="2161507"/>
          </a:xfrm>
        </p:grpSpPr>
        <p:sp>
          <p:nvSpPr>
            <p:cNvPr id="27" name="Rectangle 26"/>
            <p:cNvSpPr/>
            <p:nvPr/>
          </p:nvSpPr>
          <p:spPr bwMode="auto">
            <a:xfrm rot="16200000">
              <a:off x="3408666" y="2847942"/>
              <a:ext cx="648072" cy="265961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200</a:t>
              </a:r>
            </a:p>
          </p:txBody>
        </p:sp>
        <p:cxnSp>
          <p:nvCxnSpPr>
            <p:cNvPr id="28" name="Straight Connector 27"/>
            <p:cNvCxnSpPr/>
            <p:nvPr/>
          </p:nvCxnSpPr>
          <p:spPr bwMode="auto">
            <a:xfrm rot="16200000" flipH="1">
              <a:off x="3588686" y="2512871"/>
              <a:ext cx="28803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2" name="Straight Connector 31"/>
            <p:cNvCxnSpPr>
              <a:stCxn id="27" idx="1"/>
            </p:cNvCxnSpPr>
            <p:nvPr/>
          </p:nvCxnSpPr>
          <p:spPr bwMode="auto">
            <a:xfrm rot="16200000" flipH="1">
              <a:off x="3552682" y="3484979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3" name="Rectangle 32"/>
            <p:cNvSpPr/>
            <p:nvPr/>
          </p:nvSpPr>
          <p:spPr bwMode="auto">
            <a:xfrm>
              <a:off x="2121144" y="2080823"/>
              <a:ext cx="887788" cy="1274658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163764" y="1584248"/>
              <a:ext cx="83189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ESP32</a:t>
              </a:r>
            </a:p>
            <a:p>
              <a:pPr algn="ctr"/>
              <a:r>
                <a:rPr lang="en-US" sz="1400" dirty="0"/>
                <a:t>SIG_GEN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221279" y="2189922"/>
              <a:ext cx="81304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Vs</a:t>
              </a:r>
            </a:p>
            <a:p>
              <a:pPr algn="r"/>
              <a:r>
                <a:rPr lang="en-US" sz="1200" dirty="0"/>
                <a:t>Sine wave</a:t>
              </a:r>
            </a:p>
            <a:p>
              <a:pPr algn="r"/>
              <a:r>
                <a:rPr lang="en-US" sz="1200" dirty="0"/>
                <a:t>10kHz</a:t>
              </a:r>
            </a:p>
            <a:p>
              <a:pPr algn="r"/>
              <a:r>
                <a:rPr lang="en-US" sz="1200" dirty="0"/>
                <a:t>1.65Vp-p</a:t>
              </a:r>
            </a:p>
            <a:p>
              <a:pPr algn="r"/>
              <a:r>
                <a:rPr lang="en-US" sz="1200" dirty="0"/>
                <a:t>2.5V dc</a:t>
              </a:r>
            </a:p>
          </p:txBody>
        </p:sp>
        <p:cxnSp>
          <p:nvCxnSpPr>
            <p:cNvPr id="36" name="Straight Connector 35"/>
            <p:cNvCxnSpPr/>
            <p:nvPr/>
          </p:nvCxnSpPr>
          <p:spPr bwMode="auto">
            <a:xfrm flipH="1">
              <a:off x="3008932" y="2368854"/>
              <a:ext cx="72377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7" name="TextBox 36"/>
            <p:cNvSpPr txBox="1"/>
            <p:nvPr/>
          </p:nvSpPr>
          <p:spPr>
            <a:xfrm>
              <a:off x="2996779" y="2107468"/>
              <a:ext cx="3406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26</a:t>
              </a:r>
            </a:p>
          </p:txBody>
        </p:sp>
        <p:cxnSp>
          <p:nvCxnSpPr>
            <p:cNvPr id="38" name="Straight Connector 37"/>
            <p:cNvCxnSpPr/>
            <p:nvPr/>
          </p:nvCxnSpPr>
          <p:spPr bwMode="auto">
            <a:xfrm>
              <a:off x="2573772" y="3339051"/>
              <a:ext cx="0" cy="1810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9" name="Group 38"/>
            <p:cNvGrpSpPr/>
            <p:nvPr/>
          </p:nvGrpSpPr>
          <p:grpSpPr>
            <a:xfrm>
              <a:off x="2470514" y="3520091"/>
              <a:ext cx="216024" cy="72008"/>
              <a:chOff x="3447628" y="4437112"/>
              <a:chExt cx="351656" cy="144016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57" name="Straight Connector 56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58" name="Straight Connector 57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40" name="Group 39"/>
            <p:cNvGrpSpPr/>
            <p:nvPr/>
          </p:nvGrpSpPr>
          <p:grpSpPr>
            <a:xfrm>
              <a:off x="3642341" y="3665229"/>
              <a:ext cx="216024" cy="72008"/>
              <a:chOff x="3447628" y="4437112"/>
              <a:chExt cx="351656" cy="144016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50" name="Straight Connector 49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53" name="Straight Connector 52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41" name="TextBox 40"/>
            <p:cNvSpPr txBox="1"/>
            <p:nvPr/>
          </p:nvSpPr>
          <p:spPr>
            <a:xfrm>
              <a:off x="2494447" y="3289531"/>
              <a:ext cx="5690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(GND)</a:t>
              </a:r>
            </a:p>
          </p:txBody>
        </p:sp>
        <p:cxnSp>
          <p:nvCxnSpPr>
            <p:cNvPr id="44" name="Straight Connector 43"/>
            <p:cNvCxnSpPr/>
            <p:nvPr/>
          </p:nvCxnSpPr>
          <p:spPr bwMode="auto">
            <a:xfrm flipH="1">
              <a:off x="1858207" y="2224840"/>
              <a:ext cx="26293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 rot="16200000" flipH="1">
              <a:off x="1686711" y="2032472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46" name="TextBox 45"/>
            <p:cNvSpPr txBox="1"/>
            <p:nvPr/>
          </p:nvSpPr>
          <p:spPr>
            <a:xfrm>
              <a:off x="1503296" y="1575730"/>
              <a:ext cx="7098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5V(USB)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050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319697" y="841081"/>
            <a:ext cx="4492898" cy="4782838"/>
            <a:chOff x="4339596" y="182417"/>
            <a:chExt cx="4492898" cy="478283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90910" y="698142"/>
              <a:ext cx="2512855" cy="4267113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502903" y="2863168"/>
              <a:ext cx="647345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Pin 1</a:t>
              </a:r>
            </a:p>
          </p:txBody>
        </p:sp>
        <p:cxnSp>
          <p:nvCxnSpPr>
            <p:cNvPr id="10" name="Straight Arrow Connector 9"/>
            <p:cNvCxnSpPr>
              <a:stCxn id="7" idx="3"/>
            </p:cNvCxnSpPr>
            <p:nvPr/>
          </p:nvCxnSpPr>
          <p:spPr>
            <a:xfrm flipV="1">
              <a:off x="5150248" y="2958726"/>
              <a:ext cx="771128" cy="89108"/>
            </a:xfrm>
            <a:prstGeom prst="straightConnector1">
              <a:avLst/>
            </a:prstGeom>
            <a:ln w="38100" cmpd="sng">
              <a:solidFill>
                <a:srgbClr val="FFFF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4960905" y="4645481"/>
              <a:ext cx="292791" cy="0"/>
            </a:xfrm>
            <a:prstGeom prst="straightConnector1">
              <a:avLst/>
            </a:prstGeom>
            <a:ln w="38100" cmpd="sng"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4339596" y="4455719"/>
              <a:ext cx="621309" cy="369332"/>
            </a:xfrm>
            <a:prstGeom prst="rect">
              <a:avLst/>
            </a:prstGeom>
            <a:solidFill>
              <a:srgbClr val="0000FF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GND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412883" y="755041"/>
              <a:ext cx="432630" cy="369332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5V</a:t>
              </a:r>
            </a:p>
          </p:txBody>
        </p:sp>
        <p:cxnSp>
          <p:nvCxnSpPr>
            <p:cNvPr id="62" name="Straight Arrow Connector 61"/>
            <p:cNvCxnSpPr>
              <a:stCxn id="56" idx="3"/>
            </p:cNvCxnSpPr>
            <p:nvPr/>
          </p:nvCxnSpPr>
          <p:spPr>
            <a:xfrm>
              <a:off x="4845513" y="939707"/>
              <a:ext cx="445397" cy="75505"/>
            </a:xfrm>
            <a:prstGeom prst="straightConnector1">
              <a:avLst/>
            </a:prstGeom>
            <a:ln w="3810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5921376" y="2832767"/>
              <a:ext cx="63047" cy="54044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5748992" y="2615003"/>
              <a:ext cx="204665" cy="1569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48442" y="2587269"/>
              <a:ext cx="207749" cy="184666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4522185" y="2329598"/>
              <a:ext cx="723876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notch</a:t>
              </a:r>
            </a:p>
          </p:txBody>
        </p:sp>
        <p:cxnSp>
          <p:nvCxnSpPr>
            <p:cNvPr id="34" name="Straight Arrow Connector 33"/>
            <p:cNvCxnSpPr>
              <a:endCxn id="16" idx="3"/>
            </p:cNvCxnSpPr>
            <p:nvPr/>
          </p:nvCxnSpPr>
          <p:spPr>
            <a:xfrm>
              <a:off x="5209881" y="2556291"/>
              <a:ext cx="646310" cy="123311"/>
            </a:xfrm>
            <a:prstGeom prst="straightConnector1">
              <a:avLst/>
            </a:prstGeom>
            <a:ln w="38100" cmpd="sng">
              <a:solidFill>
                <a:schemeClr val="bg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7212426" y="182417"/>
              <a:ext cx="887758" cy="646331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0.1uF </a:t>
              </a:r>
            </a:p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Decoupling</a:t>
              </a:r>
            </a:p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capacitor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7719184" y="965932"/>
              <a:ext cx="771769" cy="675299"/>
              <a:chOff x="4962769" y="797207"/>
              <a:chExt cx="771769" cy="675299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>
                <a:off x="5343769" y="983743"/>
                <a:ext cx="39076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5343769" y="1095816"/>
                <a:ext cx="39076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 flipV="1">
                <a:off x="5539153" y="810846"/>
                <a:ext cx="0" cy="1660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5539153" y="1086047"/>
                <a:ext cx="5861" cy="3864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flipV="1">
                <a:off x="4962769" y="797207"/>
                <a:ext cx="582245" cy="136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Straight Connector 52"/>
            <p:cNvCxnSpPr/>
            <p:nvPr/>
          </p:nvCxnSpPr>
          <p:spPr>
            <a:xfrm>
              <a:off x="7719184" y="1205140"/>
              <a:ext cx="203662" cy="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8301429" y="828748"/>
              <a:ext cx="5310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0.1uF</a:t>
              </a:r>
            </a:p>
          </p:txBody>
        </p:sp>
        <p:cxnSp>
          <p:nvCxnSpPr>
            <p:cNvPr id="58" name="Straight Connector 57"/>
            <p:cNvCxnSpPr/>
            <p:nvPr/>
          </p:nvCxnSpPr>
          <p:spPr>
            <a:xfrm flipH="1" flipV="1">
              <a:off x="6566146" y="3232500"/>
              <a:ext cx="11576" cy="1407886"/>
            </a:xfrm>
            <a:prstGeom prst="line">
              <a:avLst/>
            </a:prstGeom>
            <a:ln w="57150" cmpd="sng"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>
              <a:off x="5290910" y="4640385"/>
              <a:ext cx="2428274" cy="0"/>
            </a:xfrm>
            <a:prstGeom prst="line">
              <a:avLst/>
            </a:prstGeom>
            <a:ln w="57150" cmpd="sng"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V="1">
              <a:off x="5953657" y="1054082"/>
              <a:ext cx="30766" cy="1388226"/>
            </a:xfrm>
            <a:prstGeom prst="line">
              <a:avLst/>
            </a:prstGeom>
            <a:ln w="5715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H="1">
              <a:off x="5290911" y="1054082"/>
              <a:ext cx="693512" cy="0"/>
            </a:xfrm>
            <a:prstGeom prst="line">
              <a:avLst/>
            </a:prstGeom>
            <a:ln w="5715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7922846" y="1205140"/>
              <a:ext cx="8845" cy="231092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7931691" y="1436231"/>
              <a:ext cx="363877" cy="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/>
            <p:cNvGrpSpPr/>
            <p:nvPr/>
          </p:nvGrpSpPr>
          <p:grpSpPr>
            <a:xfrm>
              <a:off x="8119490" y="1641231"/>
              <a:ext cx="363877" cy="136466"/>
              <a:chOff x="8119490" y="1641231"/>
              <a:chExt cx="363877" cy="136466"/>
            </a:xfrm>
          </p:grpSpPr>
          <p:cxnSp>
            <p:nvCxnSpPr>
              <p:cNvPr id="115" name="Straight Connector 114"/>
              <p:cNvCxnSpPr/>
              <p:nvPr/>
            </p:nvCxnSpPr>
            <p:spPr>
              <a:xfrm flipV="1">
                <a:off x="8119490" y="1641231"/>
                <a:ext cx="363877" cy="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V="1">
                <a:off x="8207647" y="1709463"/>
                <a:ext cx="187799" cy="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>
                <a:off x="8246959" y="1777697"/>
                <a:ext cx="12894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1" name="Oval 120"/>
            <p:cNvSpPr/>
            <p:nvPr/>
          </p:nvSpPr>
          <p:spPr>
            <a:xfrm>
              <a:off x="8255939" y="1399494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555133" y="1105747"/>
            <a:ext cx="2449956" cy="3531416"/>
            <a:chOff x="894141" y="1079875"/>
            <a:chExt cx="2449956" cy="3531416"/>
          </a:xfrm>
        </p:grpSpPr>
        <p:pic>
          <p:nvPicPr>
            <p:cNvPr id="95" name="Picture 9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464843" y="2044481"/>
              <a:ext cx="3333421" cy="1800200"/>
            </a:xfrm>
            <a:prstGeom prst="rect">
              <a:avLst/>
            </a:prstGeom>
          </p:spPr>
        </p:pic>
        <p:cxnSp>
          <p:nvCxnSpPr>
            <p:cNvPr id="122" name="Straight Connector 121"/>
            <p:cNvCxnSpPr/>
            <p:nvPr/>
          </p:nvCxnSpPr>
          <p:spPr>
            <a:xfrm>
              <a:off x="1110456" y="1436232"/>
              <a:ext cx="0" cy="803649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>
              <a:off x="1110456" y="2213178"/>
              <a:ext cx="312735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/>
            <p:cNvSpPr txBox="1"/>
            <p:nvPr/>
          </p:nvSpPr>
          <p:spPr>
            <a:xfrm>
              <a:off x="894141" y="1079875"/>
              <a:ext cx="432630" cy="369332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5V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>
              <a:off x="3189637" y="3652070"/>
              <a:ext cx="0" cy="803649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>
              <a:off x="2871320" y="3663019"/>
              <a:ext cx="312735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1" name="Group 130"/>
            <p:cNvGrpSpPr/>
            <p:nvPr/>
          </p:nvGrpSpPr>
          <p:grpSpPr>
            <a:xfrm>
              <a:off x="2980220" y="4467883"/>
              <a:ext cx="363877" cy="136466"/>
              <a:chOff x="8119490" y="1641231"/>
              <a:chExt cx="363877" cy="136466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 flipV="1">
                <a:off x="8119490" y="1641231"/>
                <a:ext cx="363877" cy="1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V="1">
                <a:off x="8207647" y="1709463"/>
                <a:ext cx="187799" cy="2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>
              <a:xfrm>
                <a:off x="8246959" y="1777697"/>
                <a:ext cx="128949" cy="0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50438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019557" y="3392979"/>
            <a:ext cx="4465271" cy="3122095"/>
            <a:chOff x="1808708" y="1989395"/>
            <a:chExt cx="4465271" cy="3122095"/>
          </a:xfrm>
        </p:grpSpPr>
        <p:grpSp>
          <p:nvGrpSpPr>
            <p:cNvPr id="45" name="Group 44"/>
            <p:cNvGrpSpPr/>
            <p:nvPr/>
          </p:nvGrpSpPr>
          <p:grpSpPr>
            <a:xfrm>
              <a:off x="3930481" y="3003513"/>
              <a:ext cx="1152128" cy="1368152"/>
              <a:chOff x="2503140" y="2852936"/>
              <a:chExt cx="1440160" cy="1368152"/>
            </a:xfrm>
          </p:grpSpPr>
          <p:cxnSp>
            <p:nvCxnSpPr>
              <p:cNvPr id="47" name="Straight Connector 46"/>
              <p:cNvCxnSpPr/>
              <p:nvPr/>
            </p:nvCxnSpPr>
            <p:spPr bwMode="auto">
              <a:xfrm>
                <a:off x="2503140" y="2852936"/>
                <a:ext cx="0" cy="136815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49" name="Straight Connector 48"/>
              <p:cNvCxnSpPr/>
              <p:nvPr/>
            </p:nvCxnSpPr>
            <p:spPr bwMode="auto">
              <a:xfrm>
                <a:off x="2503140" y="2852936"/>
                <a:ext cx="1440160" cy="72008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51" name="Straight Connector 50"/>
              <p:cNvCxnSpPr/>
              <p:nvPr/>
            </p:nvCxnSpPr>
            <p:spPr bwMode="auto">
              <a:xfrm flipV="1">
                <a:off x="2503140" y="3573016"/>
                <a:ext cx="1440160" cy="64807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52" name="TextBox 51"/>
            <p:cNvSpPr txBox="1"/>
            <p:nvPr/>
          </p:nvSpPr>
          <p:spPr>
            <a:xfrm>
              <a:off x="3904982" y="1989395"/>
              <a:ext cx="10008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Vcc = 5v</a:t>
              </a:r>
            </a:p>
          </p:txBody>
        </p:sp>
        <p:cxnSp>
          <p:nvCxnSpPr>
            <p:cNvPr id="54" name="Straight Connector 53"/>
            <p:cNvCxnSpPr/>
            <p:nvPr/>
          </p:nvCxnSpPr>
          <p:spPr bwMode="auto">
            <a:xfrm>
              <a:off x="4506547" y="2238136"/>
              <a:ext cx="0" cy="112541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55" name="Group 54"/>
            <p:cNvGrpSpPr/>
            <p:nvPr/>
          </p:nvGrpSpPr>
          <p:grpSpPr>
            <a:xfrm>
              <a:off x="4578553" y="3939617"/>
              <a:ext cx="279648" cy="288032"/>
              <a:chOff x="3079204" y="2996952"/>
              <a:chExt cx="279648" cy="288032"/>
            </a:xfrm>
          </p:grpSpPr>
          <p:cxnSp>
            <p:nvCxnSpPr>
              <p:cNvPr id="59" name="Straight Connector 58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61" name="Group 60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64" name="Straight Connector 63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65" name="Straight Connector 64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66" name="TextBox 65"/>
            <p:cNvSpPr txBox="1"/>
            <p:nvPr/>
          </p:nvSpPr>
          <p:spPr>
            <a:xfrm>
              <a:off x="3916951" y="3147529"/>
              <a:ext cx="373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67" name="Straight Connector 66"/>
            <p:cNvCxnSpPr/>
            <p:nvPr/>
          </p:nvCxnSpPr>
          <p:spPr bwMode="auto">
            <a:xfrm flipH="1">
              <a:off x="4002489" y="4011625"/>
              <a:ext cx="14401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8" name="Straight Connector 67"/>
            <p:cNvCxnSpPr/>
            <p:nvPr/>
          </p:nvCxnSpPr>
          <p:spPr bwMode="auto">
            <a:xfrm flipH="1">
              <a:off x="3570441" y="3363553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 flipH="1">
              <a:off x="3570441" y="4011625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2" name="Straight Connector 71"/>
            <p:cNvCxnSpPr/>
            <p:nvPr/>
          </p:nvCxnSpPr>
          <p:spPr bwMode="auto">
            <a:xfrm flipH="1">
              <a:off x="5082609" y="3723593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3" name="Straight Connector 72"/>
            <p:cNvCxnSpPr/>
            <p:nvPr/>
          </p:nvCxnSpPr>
          <p:spPr bwMode="auto">
            <a:xfrm flipV="1">
              <a:off x="5226625" y="3723593"/>
              <a:ext cx="0" cy="9361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4" name="Straight Connector 73"/>
            <p:cNvCxnSpPr/>
            <p:nvPr/>
          </p:nvCxnSpPr>
          <p:spPr bwMode="auto">
            <a:xfrm flipV="1">
              <a:off x="3570441" y="4011625"/>
              <a:ext cx="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6" name="Straight Connector 75"/>
            <p:cNvCxnSpPr/>
            <p:nvPr/>
          </p:nvCxnSpPr>
          <p:spPr bwMode="auto">
            <a:xfrm flipH="1">
              <a:off x="2307589" y="3363553"/>
              <a:ext cx="1334860" cy="41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77" name="Oval 76"/>
            <p:cNvSpPr/>
            <p:nvPr/>
          </p:nvSpPr>
          <p:spPr bwMode="auto">
            <a:xfrm>
              <a:off x="2019557" y="3795601"/>
              <a:ext cx="504056" cy="504056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pic>
          <p:nvPicPr>
            <p:cNvPr id="78" name="Picture 77"/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9000" contrast="-4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68013" y="3867609"/>
              <a:ext cx="283592" cy="293720"/>
            </a:xfrm>
            <a:prstGeom prst="rect">
              <a:avLst/>
            </a:prstGeom>
          </p:spPr>
        </p:pic>
        <p:cxnSp>
          <p:nvCxnSpPr>
            <p:cNvPr id="80" name="Straight Connector 79"/>
            <p:cNvCxnSpPr/>
            <p:nvPr/>
          </p:nvCxnSpPr>
          <p:spPr bwMode="auto">
            <a:xfrm>
              <a:off x="2307589" y="3363553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81" name="Group 80"/>
            <p:cNvGrpSpPr/>
            <p:nvPr/>
          </p:nvGrpSpPr>
          <p:grpSpPr>
            <a:xfrm>
              <a:off x="2163573" y="4299657"/>
              <a:ext cx="279648" cy="288032"/>
              <a:chOff x="3079204" y="2996952"/>
              <a:chExt cx="279648" cy="288032"/>
            </a:xfrm>
          </p:grpSpPr>
          <p:cxnSp>
            <p:nvCxnSpPr>
              <p:cNvPr id="82" name="Straight Connector 81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83" name="Group 82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84" name="Straight Connector 83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6" name="Straight Connector 85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7" name="Straight Connector 86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88" name="Oval 87"/>
            <p:cNvSpPr/>
            <p:nvPr/>
          </p:nvSpPr>
          <p:spPr bwMode="auto">
            <a:xfrm>
              <a:off x="5874697" y="3651585"/>
              <a:ext cx="144016" cy="144016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802689" y="3219537"/>
              <a:ext cx="471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Verdana"/>
                  <a:cs typeface="Verdana"/>
                </a:rPr>
                <a:t>Vo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808708" y="3178886"/>
              <a:ext cx="462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Verdana"/>
                  <a:cs typeface="Verdana"/>
                </a:rPr>
                <a:t>Vs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3570441" y="4515681"/>
              <a:ext cx="1656184" cy="595809"/>
              <a:chOff x="3354361" y="3248980"/>
              <a:chExt cx="1656184" cy="595809"/>
            </a:xfrm>
          </p:grpSpPr>
          <p:sp>
            <p:nvSpPr>
              <p:cNvPr id="70" name="Rectangle 69"/>
              <p:cNvSpPr/>
              <p:nvPr/>
            </p:nvSpPr>
            <p:spPr bwMode="auto">
              <a:xfrm>
                <a:off x="4146449" y="3248980"/>
                <a:ext cx="504056" cy="288032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/>
                    <a:cs typeface="Verdana"/>
                  </a:rPr>
                  <a:t>R3</a:t>
                </a:r>
              </a:p>
            </p:txBody>
          </p:sp>
          <p:cxnSp>
            <p:nvCxnSpPr>
              <p:cNvPr id="71" name="Straight Connector 70"/>
              <p:cNvCxnSpPr/>
              <p:nvPr/>
            </p:nvCxnSpPr>
            <p:spPr bwMode="auto">
              <a:xfrm flipH="1">
                <a:off x="4650505" y="3392996"/>
                <a:ext cx="36004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75" name="Straight Connector 74"/>
              <p:cNvCxnSpPr>
                <a:stCxn id="70" idx="1"/>
              </p:cNvCxnSpPr>
              <p:nvPr/>
            </p:nvCxnSpPr>
            <p:spPr bwMode="auto">
              <a:xfrm flipH="1">
                <a:off x="3354361" y="3392996"/>
                <a:ext cx="79208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92" name="TextBox 91"/>
              <p:cNvSpPr txBox="1"/>
              <p:nvPr/>
            </p:nvSpPr>
            <p:spPr>
              <a:xfrm>
                <a:off x="4146449" y="3537012"/>
                <a:ext cx="6335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Verdana"/>
                    <a:cs typeface="Verdana"/>
                  </a:rPr>
                  <a:t>200k</a:t>
                </a: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4506545" y="2787489"/>
              <a:ext cx="792087" cy="648071"/>
              <a:chOff x="2575148" y="1844825"/>
              <a:chExt cx="792087" cy="648071"/>
            </a:xfrm>
          </p:grpSpPr>
          <p:grpSp>
            <p:nvGrpSpPr>
              <p:cNvPr id="94" name="Group 93"/>
              <p:cNvGrpSpPr/>
              <p:nvPr/>
            </p:nvGrpSpPr>
            <p:grpSpPr>
              <a:xfrm>
                <a:off x="2575148" y="1844825"/>
                <a:ext cx="792087" cy="504056"/>
                <a:chOff x="3511253" y="2048847"/>
                <a:chExt cx="792087" cy="588065"/>
              </a:xfrm>
            </p:grpSpPr>
            <p:grpSp>
              <p:nvGrpSpPr>
                <p:cNvPr id="102" name="Group 101"/>
                <p:cNvGrpSpPr/>
                <p:nvPr/>
              </p:nvGrpSpPr>
              <p:grpSpPr>
                <a:xfrm>
                  <a:off x="3511253" y="2132856"/>
                  <a:ext cx="360040" cy="504056"/>
                  <a:chOff x="3511252" y="2132856"/>
                  <a:chExt cx="505147" cy="504056"/>
                </a:xfrm>
              </p:grpSpPr>
              <p:cxnSp>
                <p:nvCxnSpPr>
                  <p:cNvPr id="104" name="Straight Connector 103"/>
                  <p:cNvCxnSpPr/>
                  <p:nvPr/>
                </p:nvCxnSpPr>
                <p:spPr bwMode="auto">
                  <a:xfrm>
                    <a:off x="3871292" y="2132856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5" name="Straight Connector 104"/>
                  <p:cNvCxnSpPr/>
                  <p:nvPr/>
                </p:nvCxnSpPr>
                <p:spPr bwMode="auto">
                  <a:xfrm flipH="1">
                    <a:off x="3726185" y="2348880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6" name="Straight Connector 105"/>
                  <p:cNvCxnSpPr/>
                  <p:nvPr/>
                </p:nvCxnSpPr>
                <p:spPr bwMode="auto">
                  <a:xfrm flipH="1">
                    <a:off x="3727276" y="2420888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7" name="Straight Connector 106"/>
                  <p:cNvCxnSpPr/>
                  <p:nvPr/>
                </p:nvCxnSpPr>
                <p:spPr bwMode="auto">
                  <a:xfrm>
                    <a:off x="3871292" y="2420888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8" name="Straight Connector 107"/>
                  <p:cNvCxnSpPr/>
                  <p:nvPr/>
                </p:nvCxnSpPr>
                <p:spPr bwMode="auto">
                  <a:xfrm flipH="1">
                    <a:off x="3511252" y="2132856"/>
                    <a:ext cx="36004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103" name="TextBox 102"/>
                <p:cNvSpPr txBox="1"/>
                <p:nvPr/>
              </p:nvSpPr>
              <p:spPr>
                <a:xfrm>
                  <a:off x="3772425" y="2048847"/>
                  <a:ext cx="5309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Verdana"/>
                      <a:cs typeface="Verdana"/>
                    </a:rPr>
                    <a:t>0.1</a:t>
                  </a:r>
                  <a:r>
                    <a:rPr lang="en-US" sz="1200" dirty="0">
                      <a:latin typeface="Symbol" charset="2"/>
                      <a:cs typeface="Symbol" charset="2"/>
                    </a:rPr>
                    <a:t>m</a:t>
                  </a:r>
                </a:p>
              </p:txBody>
            </p:sp>
          </p:grpSp>
          <p:grpSp>
            <p:nvGrpSpPr>
              <p:cNvPr id="96" name="Group 95"/>
              <p:cNvGrpSpPr/>
              <p:nvPr/>
            </p:nvGrpSpPr>
            <p:grpSpPr>
              <a:xfrm>
                <a:off x="2719164" y="2204864"/>
                <a:ext cx="216024" cy="288032"/>
                <a:chOff x="3079204" y="2996952"/>
                <a:chExt cx="279648" cy="288032"/>
              </a:xfrm>
            </p:grpSpPr>
            <p:cxnSp>
              <p:nvCxnSpPr>
                <p:cNvPr id="97" name="Straight Connector 96"/>
                <p:cNvCxnSpPr/>
                <p:nvPr/>
              </p:nvCxnSpPr>
              <p:spPr bwMode="auto">
                <a:xfrm>
                  <a:off x="3223220" y="2996952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98" name="Group 97"/>
                <p:cNvGrpSpPr/>
                <p:nvPr/>
              </p:nvGrpSpPr>
              <p:grpSpPr>
                <a:xfrm>
                  <a:off x="3079204" y="3212976"/>
                  <a:ext cx="279648" cy="72008"/>
                  <a:chOff x="3447628" y="4437112"/>
                  <a:chExt cx="351656" cy="144016"/>
                </a:xfrm>
              </p:grpSpPr>
              <p:cxnSp>
                <p:nvCxnSpPr>
                  <p:cNvPr id="99" name="Straight Connector 98"/>
                  <p:cNvCxnSpPr/>
                  <p:nvPr/>
                </p:nvCxnSpPr>
                <p:spPr bwMode="auto">
                  <a:xfrm flipH="1">
                    <a:off x="3447628" y="4437112"/>
                    <a:ext cx="351656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0" name="Straight Connector 99"/>
                  <p:cNvCxnSpPr/>
                  <p:nvPr/>
                </p:nvCxnSpPr>
                <p:spPr bwMode="auto">
                  <a:xfrm flipH="1">
                    <a:off x="3511252" y="4509120"/>
                    <a:ext cx="216024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1" name="Straight Connector 100"/>
                  <p:cNvCxnSpPr/>
                  <p:nvPr/>
                </p:nvCxnSpPr>
                <p:spPr bwMode="auto">
                  <a:xfrm flipH="1">
                    <a:off x="3583260" y="4581128"/>
                    <a:ext cx="72008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</p:grpSp>
        <p:sp>
          <p:nvSpPr>
            <p:cNvPr id="110" name="TextBox 109"/>
            <p:cNvSpPr txBox="1"/>
            <p:nvPr/>
          </p:nvSpPr>
          <p:spPr>
            <a:xfrm>
              <a:off x="3887472" y="3559832"/>
              <a:ext cx="10422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½ opamp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218513" y="3003513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8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4650561" y="3867609"/>
              <a:ext cx="2824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4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5010601" y="3435561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1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3642449" y="3723593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2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3642449" y="3075521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3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4905827" y="3023258"/>
              <a:ext cx="4241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C1</a:t>
              </a:r>
            </a:p>
          </p:txBody>
        </p:sp>
        <p:sp>
          <p:nvSpPr>
            <p:cNvPr id="150" name="Oval 149"/>
            <p:cNvSpPr/>
            <p:nvPr/>
          </p:nvSpPr>
          <p:spPr>
            <a:xfrm>
              <a:off x="4466918" y="2822760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/>
            <p:cNvSpPr/>
            <p:nvPr/>
          </p:nvSpPr>
          <p:spPr>
            <a:xfrm>
              <a:off x="5186996" y="3699261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958278" y="3765721"/>
            <a:ext cx="1807253" cy="2466139"/>
            <a:chOff x="2739054" y="2373578"/>
            <a:chExt cx="1807253" cy="2466139"/>
          </a:xfrm>
        </p:grpSpPr>
        <p:grpSp>
          <p:nvGrpSpPr>
            <p:cNvPr id="7" name="Group 6"/>
            <p:cNvGrpSpPr/>
            <p:nvPr/>
          </p:nvGrpSpPr>
          <p:grpSpPr>
            <a:xfrm>
              <a:off x="2739054" y="2410133"/>
              <a:ext cx="1766717" cy="2429584"/>
              <a:chOff x="2739054" y="2410133"/>
              <a:chExt cx="1766717" cy="2429584"/>
            </a:xfrm>
          </p:grpSpPr>
          <p:grpSp>
            <p:nvGrpSpPr>
              <p:cNvPr id="123" name="Group 122"/>
              <p:cNvGrpSpPr/>
              <p:nvPr/>
            </p:nvGrpSpPr>
            <p:grpSpPr>
              <a:xfrm rot="16200000">
                <a:off x="2582086" y="2571292"/>
                <a:ext cx="938197" cy="624261"/>
                <a:chOff x="3896161" y="2912751"/>
                <a:chExt cx="938197" cy="624261"/>
              </a:xfrm>
            </p:grpSpPr>
            <p:sp>
              <p:nvSpPr>
                <p:cNvPr id="124" name="Rectangle 123"/>
                <p:cNvSpPr/>
                <p:nvPr/>
              </p:nvSpPr>
              <p:spPr bwMode="auto">
                <a:xfrm>
                  <a:off x="4146449" y="3248980"/>
                  <a:ext cx="504056" cy="288032"/>
                </a:xfrm>
                <a:prstGeom prst="rect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/>
                      <a:cs typeface="Verdana"/>
                    </a:rPr>
                    <a:t>R1</a:t>
                  </a:r>
                </a:p>
              </p:txBody>
            </p:sp>
            <p:cxnSp>
              <p:nvCxnSpPr>
                <p:cNvPr id="126" name="Straight Connector 125"/>
                <p:cNvCxnSpPr/>
                <p:nvPr/>
              </p:nvCxnSpPr>
              <p:spPr bwMode="auto">
                <a:xfrm rot="5400000" flipH="1">
                  <a:off x="4742431" y="3301072"/>
                  <a:ext cx="1" cy="18385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36" name="Straight Connector 135"/>
                <p:cNvCxnSpPr>
                  <a:stCxn id="124" idx="1"/>
                </p:cNvCxnSpPr>
                <p:nvPr/>
              </p:nvCxnSpPr>
              <p:spPr bwMode="auto">
                <a:xfrm rot="5400000">
                  <a:off x="4021305" y="3267852"/>
                  <a:ext cx="0" cy="250288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37" name="TextBox 136"/>
                <p:cNvSpPr txBox="1"/>
                <p:nvPr/>
              </p:nvSpPr>
              <p:spPr>
                <a:xfrm>
                  <a:off x="4101153" y="2912751"/>
                  <a:ext cx="63350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Verdana"/>
                      <a:cs typeface="Verdana"/>
                    </a:rPr>
                    <a:t>200k</a:t>
                  </a:r>
                </a:p>
              </p:txBody>
            </p:sp>
          </p:grpSp>
          <p:grpSp>
            <p:nvGrpSpPr>
              <p:cNvPr id="138" name="Group 137"/>
              <p:cNvGrpSpPr/>
              <p:nvPr/>
            </p:nvGrpSpPr>
            <p:grpSpPr>
              <a:xfrm rot="16200000">
                <a:off x="2471347" y="3659715"/>
                <a:ext cx="1188131" cy="595808"/>
                <a:chOff x="3822414" y="2941204"/>
                <a:chExt cx="1188131" cy="595808"/>
              </a:xfrm>
            </p:grpSpPr>
            <p:sp>
              <p:nvSpPr>
                <p:cNvPr id="139" name="Rectangle 138"/>
                <p:cNvSpPr/>
                <p:nvPr/>
              </p:nvSpPr>
              <p:spPr bwMode="auto">
                <a:xfrm>
                  <a:off x="4146449" y="3248980"/>
                  <a:ext cx="504056" cy="288032"/>
                </a:xfrm>
                <a:prstGeom prst="rect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Verdana"/>
                      <a:cs typeface="Verdana"/>
                    </a:rPr>
                    <a:t>R2</a:t>
                  </a:r>
                </a:p>
              </p:txBody>
            </p:sp>
            <p:cxnSp>
              <p:nvCxnSpPr>
                <p:cNvPr id="140" name="Straight Connector 139"/>
                <p:cNvCxnSpPr/>
                <p:nvPr/>
              </p:nvCxnSpPr>
              <p:spPr bwMode="auto">
                <a:xfrm flipH="1">
                  <a:off x="4650505" y="339299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41" name="Straight Connector 140"/>
                <p:cNvCxnSpPr>
                  <a:stCxn id="139" idx="1"/>
                </p:cNvCxnSpPr>
                <p:nvPr/>
              </p:nvCxnSpPr>
              <p:spPr bwMode="auto">
                <a:xfrm rot="5400000" flipH="1">
                  <a:off x="3984431" y="3230978"/>
                  <a:ext cx="1" cy="324036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42" name="TextBox 141"/>
                <p:cNvSpPr txBox="1"/>
                <p:nvPr/>
              </p:nvSpPr>
              <p:spPr>
                <a:xfrm>
                  <a:off x="4073400" y="2941204"/>
                  <a:ext cx="63350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Verdana"/>
                      <a:cs typeface="Verdana"/>
                    </a:rPr>
                    <a:t>200k</a:t>
                  </a:r>
                </a:p>
              </p:txBody>
            </p:sp>
          </p:grpSp>
          <p:grpSp>
            <p:nvGrpSpPr>
              <p:cNvPr id="143" name="Group 142"/>
              <p:cNvGrpSpPr/>
              <p:nvPr/>
            </p:nvGrpSpPr>
            <p:grpSpPr>
              <a:xfrm>
                <a:off x="3075283" y="4551685"/>
                <a:ext cx="279648" cy="288032"/>
                <a:chOff x="3079204" y="2996952"/>
                <a:chExt cx="279648" cy="288032"/>
              </a:xfrm>
            </p:grpSpPr>
            <p:cxnSp>
              <p:nvCxnSpPr>
                <p:cNvPr id="144" name="Straight Connector 143"/>
                <p:cNvCxnSpPr/>
                <p:nvPr/>
              </p:nvCxnSpPr>
              <p:spPr bwMode="auto">
                <a:xfrm>
                  <a:off x="3223220" y="2996952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145" name="Group 144"/>
                <p:cNvGrpSpPr/>
                <p:nvPr/>
              </p:nvGrpSpPr>
              <p:grpSpPr>
                <a:xfrm>
                  <a:off x="3079204" y="3212976"/>
                  <a:ext cx="279648" cy="72008"/>
                  <a:chOff x="3447628" y="4437112"/>
                  <a:chExt cx="351656" cy="144016"/>
                </a:xfrm>
              </p:grpSpPr>
              <p:cxnSp>
                <p:nvCxnSpPr>
                  <p:cNvPr id="146" name="Straight Connector 145"/>
                  <p:cNvCxnSpPr/>
                  <p:nvPr/>
                </p:nvCxnSpPr>
                <p:spPr bwMode="auto">
                  <a:xfrm flipH="1">
                    <a:off x="3447628" y="4437112"/>
                    <a:ext cx="351656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47" name="Straight Connector 146"/>
                  <p:cNvCxnSpPr/>
                  <p:nvPr/>
                </p:nvCxnSpPr>
                <p:spPr bwMode="auto">
                  <a:xfrm flipH="1">
                    <a:off x="3511252" y="4509120"/>
                    <a:ext cx="216024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48" name="Straight Connector 147"/>
                  <p:cNvCxnSpPr/>
                  <p:nvPr/>
                </p:nvCxnSpPr>
                <p:spPr bwMode="auto">
                  <a:xfrm flipH="1">
                    <a:off x="3583260" y="4581128"/>
                    <a:ext cx="72008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  <p:cxnSp>
            <p:nvCxnSpPr>
              <p:cNvPr id="149" name="Straight Connector 148"/>
              <p:cNvCxnSpPr/>
              <p:nvPr/>
            </p:nvCxnSpPr>
            <p:spPr bwMode="auto">
              <a:xfrm flipH="1">
                <a:off x="3219299" y="2410133"/>
                <a:ext cx="1286472" cy="419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151" name="Oval 150"/>
            <p:cNvSpPr/>
            <p:nvPr/>
          </p:nvSpPr>
          <p:spPr>
            <a:xfrm>
              <a:off x="3183142" y="3336156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/>
            <p:cNvSpPr/>
            <p:nvPr/>
          </p:nvSpPr>
          <p:spPr>
            <a:xfrm>
              <a:off x="4467050" y="2373578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503949" y="3997157"/>
            <a:ext cx="840413" cy="1062176"/>
            <a:chOff x="5503949" y="3915469"/>
            <a:chExt cx="840413" cy="1062176"/>
          </a:xfrm>
        </p:grpSpPr>
        <p:sp>
          <p:nvSpPr>
            <p:cNvPr id="154" name="TextBox 153"/>
            <p:cNvSpPr txBox="1"/>
            <p:nvPr/>
          </p:nvSpPr>
          <p:spPr>
            <a:xfrm>
              <a:off x="5582637" y="3915469"/>
              <a:ext cx="761725" cy="30777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Verdana"/>
                  <a:cs typeface="Verdana"/>
                </a:rPr>
                <a:t>Pin 1</a:t>
              </a:r>
            </a:p>
          </p:txBody>
        </p:sp>
        <p:cxnSp>
          <p:nvCxnSpPr>
            <p:cNvPr id="155" name="Straight Connector 154"/>
            <p:cNvCxnSpPr>
              <a:endCxn id="114" idx="3"/>
            </p:cNvCxnSpPr>
            <p:nvPr/>
          </p:nvCxnSpPr>
          <p:spPr>
            <a:xfrm flipH="1">
              <a:off x="5503949" y="4299818"/>
              <a:ext cx="331104" cy="677827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5140594" y="3802276"/>
            <a:ext cx="2879235" cy="2447267"/>
            <a:chOff x="4896348" y="2472296"/>
            <a:chExt cx="2879235" cy="2447267"/>
          </a:xfrm>
        </p:grpSpPr>
        <p:pic>
          <p:nvPicPr>
            <p:cNvPr id="156" name="Picture 155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5716" y="2472296"/>
              <a:ext cx="977124" cy="1874667"/>
            </a:xfrm>
            <a:prstGeom prst="rect">
              <a:avLst/>
            </a:prstGeom>
            <a:noFill/>
            <a:ln>
              <a:noFill/>
            </a:ln>
            <a:extLst>
              <a:ext uri="{FAA26D3D-D897-4be2-8F04-BA451C77F1D7}">
                <ma14:placeholderFlag xmlns:ma14="http://schemas.microsoft.com/office/mac/drawingml/2011/main" xmlns=""/>
              </a:ext>
            </a:extLst>
          </p:spPr>
        </p:pic>
        <p:cxnSp>
          <p:nvCxnSpPr>
            <p:cNvPr id="157" name="Straight Connector 156"/>
            <p:cNvCxnSpPr/>
            <p:nvPr/>
          </p:nvCxnSpPr>
          <p:spPr>
            <a:xfrm flipH="1">
              <a:off x="4896348" y="3588869"/>
              <a:ext cx="2101953" cy="1049701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/>
            <p:cNvSpPr txBox="1"/>
            <p:nvPr/>
          </p:nvSpPr>
          <p:spPr>
            <a:xfrm>
              <a:off x="5719254" y="4457898"/>
              <a:ext cx="2056329" cy="46166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Verdana"/>
                  <a:cs typeface="Verdana"/>
                </a:rPr>
                <a:t>Mount resistor on adjacent pins vertically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059239" y="1122556"/>
            <a:ext cx="2974925" cy="1457691"/>
            <a:chOff x="1059239" y="1122556"/>
            <a:chExt cx="2974925" cy="1457691"/>
          </a:xfrm>
        </p:grpSpPr>
        <p:sp>
          <p:nvSpPr>
            <p:cNvPr id="178" name="TextBox 177"/>
            <p:cNvSpPr txBox="1"/>
            <p:nvPr/>
          </p:nvSpPr>
          <p:spPr>
            <a:xfrm>
              <a:off x="1059239" y="1614170"/>
              <a:ext cx="1741014" cy="60016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Verdana"/>
                  <a:cs typeface="Verdana"/>
                </a:rPr>
                <a:t>10kHz sine wave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  <a:latin typeface="Verdana"/>
                  <a:cs typeface="Verdana"/>
                </a:rPr>
                <a:t>1.65V peak-to-peak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  <a:latin typeface="Verdana"/>
                  <a:cs typeface="Verdana"/>
                </a:rPr>
                <a:t>2.5V DC offset</a:t>
              </a: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2921488" y="1122556"/>
              <a:ext cx="1112676" cy="1457691"/>
              <a:chOff x="4711812" y="838551"/>
              <a:chExt cx="1112676" cy="1457691"/>
            </a:xfrm>
          </p:grpSpPr>
          <p:sp>
            <p:nvSpPr>
              <p:cNvPr id="187" name="TextBox 186"/>
              <p:cNvSpPr txBox="1"/>
              <p:nvPr/>
            </p:nvSpPr>
            <p:spPr>
              <a:xfrm>
                <a:off x="4711812" y="1222676"/>
                <a:ext cx="3044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+</a:t>
                </a:r>
              </a:p>
            </p:txBody>
          </p:sp>
          <p:sp>
            <p:nvSpPr>
              <p:cNvPr id="188" name="TextBox 187"/>
              <p:cNvSpPr txBox="1"/>
              <p:nvPr/>
            </p:nvSpPr>
            <p:spPr>
              <a:xfrm>
                <a:off x="4746850" y="1561230"/>
                <a:ext cx="287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-</a:t>
                </a:r>
              </a:p>
            </p:txBody>
          </p:sp>
          <p:sp>
            <p:nvSpPr>
              <p:cNvPr id="189" name="TextBox 188"/>
              <p:cNvSpPr txBox="1"/>
              <p:nvPr/>
            </p:nvSpPr>
            <p:spPr>
              <a:xfrm>
                <a:off x="5143860" y="1345206"/>
                <a:ext cx="42411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Vs</a:t>
                </a:r>
              </a:p>
            </p:txBody>
          </p:sp>
          <p:cxnSp>
            <p:nvCxnSpPr>
              <p:cNvPr id="191" name="Straight Connector 190"/>
              <p:cNvCxnSpPr/>
              <p:nvPr/>
            </p:nvCxnSpPr>
            <p:spPr bwMode="auto">
              <a:xfrm flipH="1">
                <a:off x="4991879" y="838551"/>
                <a:ext cx="17706" cy="131936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90" name="Oval 189"/>
              <p:cNvSpPr/>
              <p:nvPr/>
            </p:nvSpPr>
            <p:spPr bwMode="auto">
              <a:xfrm>
                <a:off x="4827585" y="1444645"/>
                <a:ext cx="360040" cy="360040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kern="1200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endParaRPr>
              </a:p>
            </p:txBody>
          </p:sp>
          <p:grpSp>
            <p:nvGrpSpPr>
              <p:cNvPr id="192" name="Group 191"/>
              <p:cNvGrpSpPr/>
              <p:nvPr/>
            </p:nvGrpSpPr>
            <p:grpSpPr>
              <a:xfrm>
                <a:off x="4850468" y="2008210"/>
                <a:ext cx="279648" cy="288032"/>
                <a:chOff x="3079204" y="2996952"/>
                <a:chExt cx="279648" cy="288032"/>
              </a:xfrm>
            </p:grpSpPr>
            <p:cxnSp>
              <p:nvCxnSpPr>
                <p:cNvPr id="193" name="Straight Connector 192"/>
                <p:cNvCxnSpPr/>
                <p:nvPr/>
              </p:nvCxnSpPr>
              <p:spPr bwMode="auto">
                <a:xfrm>
                  <a:off x="3223220" y="2996952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194" name="Group 193"/>
                <p:cNvGrpSpPr/>
                <p:nvPr/>
              </p:nvGrpSpPr>
              <p:grpSpPr>
                <a:xfrm>
                  <a:off x="3079204" y="3212976"/>
                  <a:ext cx="279648" cy="72008"/>
                  <a:chOff x="3447628" y="4437112"/>
                  <a:chExt cx="351656" cy="144016"/>
                </a:xfrm>
              </p:grpSpPr>
              <p:cxnSp>
                <p:nvCxnSpPr>
                  <p:cNvPr id="195" name="Straight Connector 194"/>
                  <p:cNvCxnSpPr/>
                  <p:nvPr/>
                </p:nvCxnSpPr>
                <p:spPr bwMode="auto">
                  <a:xfrm flipH="1">
                    <a:off x="3447628" y="4437112"/>
                    <a:ext cx="351656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96" name="Straight Connector 195"/>
                  <p:cNvCxnSpPr/>
                  <p:nvPr/>
                </p:nvCxnSpPr>
                <p:spPr bwMode="auto">
                  <a:xfrm flipH="1">
                    <a:off x="3511252" y="4509120"/>
                    <a:ext cx="216024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97" name="Straight Connector 196"/>
                  <p:cNvCxnSpPr/>
                  <p:nvPr/>
                </p:nvCxnSpPr>
                <p:spPr bwMode="auto">
                  <a:xfrm flipH="1">
                    <a:off x="3583260" y="4581128"/>
                    <a:ext cx="72008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  <p:cxnSp>
            <p:nvCxnSpPr>
              <p:cNvPr id="198" name="Straight Connector 197"/>
              <p:cNvCxnSpPr/>
              <p:nvPr/>
            </p:nvCxnSpPr>
            <p:spPr bwMode="auto">
              <a:xfrm flipH="1">
                <a:off x="4994848" y="838551"/>
                <a:ext cx="829640" cy="419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19" name="Group 18"/>
          <p:cNvGrpSpPr/>
          <p:nvPr/>
        </p:nvGrpSpPr>
        <p:grpSpPr>
          <a:xfrm>
            <a:off x="4018388" y="1075032"/>
            <a:ext cx="2490863" cy="1645603"/>
            <a:chOff x="5373422" y="1222676"/>
            <a:chExt cx="2490863" cy="1645603"/>
          </a:xfrm>
        </p:grpSpPr>
        <p:grpSp>
          <p:nvGrpSpPr>
            <p:cNvPr id="17" name="Group 16"/>
            <p:cNvGrpSpPr/>
            <p:nvPr/>
          </p:nvGrpSpPr>
          <p:grpSpPr>
            <a:xfrm>
              <a:off x="7070501" y="1222676"/>
              <a:ext cx="793784" cy="1645603"/>
              <a:chOff x="2780371" y="938671"/>
              <a:chExt cx="793784" cy="1645603"/>
            </a:xfrm>
          </p:grpSpPr>
          <p:sp>
            <p:nvSpPr>
              <p:cNvPr id="167" name="Oval 166"/>
              <p:cNvSpPr/>
              <p:nvPr/>
            </p:nvSpPr>
            <p:spPr bwMode="auto">
              <a:xfrm>
                <a:off x="2780371" y="1864194"/>
                <a:ext cx="423664" cy="432048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endParaRPr>
              </a:p>
            </p:txBody>
          </p:sp>
          <p:pic>
            <p:nvPicPr>
              <p:cNvPr id="168" name="Picture 167"/>
              <p:cNvPicPr>
                <a:picLocks noChangeAspect="1"/>
              </p:cNvPicPr>
              <p:nvPr/>
            </p:nvPicPr>
            <p:blipFill>
              <a:blip r:embed="rId2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9000" contrast="-4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79981" y="1956607"/>
                <a:ext cx="217945" cy="225729"/>
              </a:xfrm>
              <a:prstGeom prst="rect">
                <a:avLst/>
              </a:prstGeom>
            </p:spPr>
          </p:pic>
          <p:cxnSp>
            <p:nvCxnSpPr>
              <p:cNvPr id="169" name="Straight Connector 168"/>
              <p:cNvCxnSpPr/>
              <p:nvPr/>
            </p:nvCxnSpPr>
            <p:spPr bwMode="auto">
              <a:xfrm>
                <a:off x="2977648" y="938671"/>
                <a:ext cx="59650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70" name="Group 169"/>
              <p:cNvGrpSpPr/>
              <p:nvPr/>
            </p:nvGrpSpPr>
            <p:grpSpPr>
              <a:xfrm>
                <a:off x="2859259" y="2296242"/>
                <a:ext cx="279648" cy="288032"/>
                <a:chOff x="3079204" y="2996952"/>
                <a:chExt cx="279648" cy="288032"/>
              </a:xfrm>
            </p:grpSpPr>
            <p:cxnSp>
              <p:nvCxnSpPr>
                <p:cNvPr id="171" name="Straight Connector 170"/>
                <p:cNvCxnSpPr/>
                <p:nvPr/>
              </p:nvCxnSpPr>
              <p:spPr bwMode="auto">
                <a:xfrm>
                  <a:off x="3223220" y="2996952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172" name="Group 171"/>
                <p:cNvGrpSpPr/>
                <p:nvPr/>
              </p:nvGrpSpPr>
              <p:grpSpPr>
                <a:xfrm>
                  <a:off x="3079204" y="3212976"/>
                  <a:ext cx="279648" cy="72008"/>
                  <a:chOff x="3447628" y="4437112"/>
                  <a:chExt cx="351656" cy="144016"/>
                </a:xfrm>
              </p:grpSpPr>
              <p:cxnSp>
                <p:nvCxnSpPr>
                  <p:cNvPr id="173" name="Straight Connector 172"/>
                  <p:cNvCxnSpPr/>
                  <p:nvPr/>
                </p:nvCxnSpPr>
                <p:spPr bwMode="auto">
                  <a:xfrm flipH="1">
                    <a:off x="3447628" y="4437112"/>
                    <a:ext cx="351656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74" name="Straight Connector 173"/>
                  <p:cNvCxnSpPr/>
                  <p:nvPr/>
                </p:nvCxnSpPr>
                <p:spPr bwMode="auto">
                  <a:xfrm flipH="1">
                    <a:off x="3511252" y="4509120"/>
                    <a:ext cx="216024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75" name="Straight Connector 174"/>
                  <p:cNvCxnSpPr/>
                  <p:nvPr/>
                </p:nvCxnSpPr>
                <p:spPr bwMode="auto">
                  <a:xfrm flipH="1">
                    <a:off x="3583260" y="4581128"/>
                    <a:ext cx="72008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  <p:grpSp>
            <p:nvGrpSpPr>
              <p:cNvPr id="179" name="Group 178"/>
              <p:cNvGrpSpPr/>
              <p:nvPr/>
            </p:nvGrpSpPr>
            <p:grpSpPr>
              <a:xfrm>
                <a:off x="2809574" y="938671"/>
                <a:ext cx="354318" cy="907349"/>
                <a:chOff x="4214737" y="3980542"/>
                <a:chExt cx="561769" cy="1200039"/>
              </a:xfrm>
            </p:grpSpPr>
            <p:grpSp>
              <p:nvGrpSpPr>
                <p:cNvPr id="180" name="Group 179"/>
                <p:cNvGrpSpPr/>
                <p:nvPr/>
              </p:nvGrpSpPr>
              <p:grpSpPr>
                <a:xfrm>
                  <a:off x="4214737" y="4492711"/>
                  <a:ext cx="561769" cy="310216"/>
                  <a:chOff x="4214737" y="4492711"/>
                  <a:chExt cx="561769" cy="310216"/>
                </a:xfrm>
              </p:grpSpPr>
              <p:cxnSp>
                <p:nvCxnSpPr>
                  <p:cNvPr id="183" name="Straight Connector 182"/>
                  <p:cNvCxnSpPr/>
                  <p:nvPr/>
                </p:nvCxnSpPr>
                <p:spPr bwMode="auto">
                  <a:xfrm>
                    <a:off x="4214737" y="4492711"/>
                    <a:ext cx="532962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84" name="Straight Connector 183"/>
                  <p:cNvCxnSpPr/>
                  <p:nvPr/>
                </p:nvCxnSpPr>
                <p:spPr bwMode="auto">
                  <a:xfrm>
                    <a:off x="4340067" y="4591009"/>
                    <a:ext cx="284039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85" name="Straight Connector 184"/>
                  <p:cNvCxnSpPr/>
                  <p:nvPr/>
                </p:nvCxnSpPr>
                <p:spPr bwMode="auto">
                  <a:xfrm>
                    <a:off x="4243544" y="4704629"/>
                    <a:ext cx="532962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86" name="Straight Connector 185"/>
                  <p:cNvCxnSpPr/>
                  <p:nvPr/>
                </p:nvCxnSpPr>
                <p:spPr bwMode="auto">
                  <a:xfrm>
                    <a:off x="4368874" y="4802927"/>
                    <a:ext cx="284039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cxnSp>
              <p:nvCxnSpPr>
                <p:cNvPr id="181" name="Straight Connector 180"/>
                <p:cNvCxnSpPr/>
                <p:nvPr/>
              </p:nvCxnSpPr>
              <p:spPr bwMode="auto">
                <a:xfrm>
                  <a:off x="4481218" y="3980542"/>
                  <a:ext cx="10001" cy="523461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82" name="Straight Connector 181"/>
                <p:cNvCxnSpPr/>
                <p:nvPr/>
              </p:nvCxnSpPr>
              <p:spPr bwMode="auto">
                <a:xfrm>
                  <a:off x="4505808" y="4802927"/>
                  <a:ext cx="1" cy="37765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199" name="TextBox 198"/>
            <p:cNvSpPr txBox="1"/>
            <p:nvPr/>
          </p:nvSpPr>
          <p:spPr>
            <a:xfrm>
              <a:off x="6196995" y="1609927"/>
              <a:ext cx="792088" cy="26161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Verdana"/>
                  <a:cs typeface="Verdana"/>
                </a:rPr>
                <a:t>2.5V DC</a:t>
              </a: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5373422" y="2121793"/>
              <a:ext cx="1640004" cy="43088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Verdana"/>
                  <a:cs typeface="Verdana"/>
                </a:rPr>
                <a:t>10kHz sine wave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  <a:latin typeface="Verdana"/>
                  <a:cs typeface="Verdana"/>
                </a:rPr>
                <a:t>1.65V peak-to-peak</a:t>
              </a: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7037849" y="1329414"/>
              <a:ext cx="3044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+</a:t>
              </a:r>
            </a:p>
          </p:txBody>
        </p:sp>
      </p:grpSp>
      <p:sp>
        <p:nvSpPr>
          <p:cNvPr id="203" name="TextBox 202"/>
          <p:cNvSpPr txBox="1"/>
          <p:nvPr/>
        </p:nvSpPr>
        <p:spPr>
          <a:xfrm>
            <a:off x="4025081" y="1352560"/>
            <a:ext cx="476289" cy="52322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Verdana"/>
                <a:cs typeface="Verdana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330902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4626167" y="1000098"/>
            <a:ext cx="1152128" cy="1368152"/>
            <a:chOff x="2503140" y="2852936"/>
            <a:chExt cx="1440160" cy="1368152"/>
          </a:xfrm>
        </p:grpSpPr>
        <p:cxnSp>
          <p:nvCxnSpPr>
            <p:cNvPr id="47" name="Straight Connector 46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52" name="TextBox 51"/>
          <p:cNvSpPr txBox="1"/>
          <p:nvPr/>
        </p:nvSpPr>
        <p:spPr>
          <a:xfrm>
            <a:off x="2909855" y="139869"/>
            <a:ext cx="100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Vcc = 5v</a:t>
            </a:r>
          </a:p>
        </p:txBody>
      </p:sp>
      <p:cxnSp>
        <p:nvCxnSpPr>
          <p:cNvPr id="54" name="Straight Connector 53"/>
          <p:cNvCxnSpPr/>
          <p:nvPr/>
        </p:nvCxnSpPr>
        <p:spPr bwMode="auto">
          <a:xfrm>
            <a:off x="5201457" y="406718"/>
            <a:ext cx="776" cy="9534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55" name="Group 54"/>
          <p:cNvGrpSpPr/>
          <p:nvPr/>
        </p:nvGrpSpPr>
        <p:grpSpPr>
          <a:xfrm>
            <a:off x="5274239" y="1936202"/>
            <a:ext cx="279648" cy="288032"/>
            <a:chOff x="3079204" y="2996952"/>
            <a:chExt cx="279648" cy="288032"/>
          </a:xfrm>
        </p:grpSpPr>
        <p:cxnSp>
          <p:nvCxnSpPr>
            <p:cNvPr id="59" name="Straight Connector 58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61" name="Group 6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63" name="Straight Connector 62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4" name="Straight Connector 63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5" name="Straight Connector 64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66" name="TextBox 65"/>
          <p:cNvSpPr txBox="1"/>
          <p:nvPr/>
        </p:nvSpPr>
        <p:spPr>
          <a:xfrm>
            <a:off x="4612637" y="1144114"/>
            <a:ext cx="37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67" name="Straight Connector 66"/>
          <p:cNvCxnSpPr/>
          <p:nvPr/>
        </p:nvCxnSpPr>
        <p:spPr bwMode="auto">
          <a:xfrm flipH="1">
            <a:off x="4698175" y="2008210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4266127" y="1360138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 flipH="1">
            <a:off x="4266127" y="2008210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2" name="Straight Connector 71"/>
          <p:cNvCxnSpPr/>
          <p:nvPr/>
        </p:nvCxnSpPr>
        <p:spPr bwMode="auto">
          <a:xfrm flipH="1">
            <a:off x="5778295" y="1720178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 flipV="1">
            <a:off x="5922311" y="1720178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 flipV="1">
            <a:off x="4266127" y="2008210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6" name="Straight Connector 75"/>
          <p:cNvCxnSpPr/>
          <p:nvPr/>
        </p:nvCxnSpPr>
        <p:spPr bwMode="auto">
          <a:xfrm flipH="1">
            <a:off x="3003275" y="1360138"/>
            <a:ext cx="1334860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77" name="Oval 76"/>
          <p:cNvSpPr/>
          <p:nvPr/>
        </p:nvSpPr>
        <p:spPr bwMode="auto">
          <a:xfrm>
            <a:off x="2715243" y="1792186"/>
            <a:ext cx="504056" cy="50405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9000" contras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63699" y="1864194"/>
            <a:ext cx="283592" cy="293720"/>
          </a:xfrm>
          <a:prstGeom prst="rect">
            <a:avLst/>
          </a:prstGeom>
        </p:spPr>
      </p:pic>
      <p:cxnSp>
        <p:nvCxnSpPr>
          <p:cNvPr id="80" name="Straight Connector 79"/>
          <p:cNvCxnSpPr/>
          <p:nvPr/>
        </p:nvCxnSpPr>
        <p:spPr bwMode="auto">
          <a:xfrm>
            <a:off x="3003275" y="1360138"/>
            <a:ext cx="0" cy="43204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81" name="Group 80"/>
          <p:cNvGrpSpPr/>
          <p:nvPr/>
        </p:nvGrpSpPr>
        <p:grpSpPr>
          <a:xfrm>
            <a:off x="2859259" y="2296242"/>
            <a:ext cx="279648" cy="288032"/>
            <a:chOff x="3079204" y="2996952"/>
            <a:chExt cx="279648" cy="288032"/>
          </a:xfrm>
        </p:grpSpPr>
        <p:cxnSp>
          <p:nvCxnSpPr>
            <p:cNvPr id="82" name="Straight Connector 81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83" name="Group 82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84" name="Straight Connector 83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6" name="Straight Connector 85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7" name="Straight Connector 8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88" name="Oval 87"/>
          <p:cNvSpPr/>
          <p:nvPr/>
        </p:nvSpPr>
        <p:spPr bwMode="auto">
          <a:xfrm>
            <a:off x="6570383" y="1648170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498375" y="1216122"/>
            <a:ext cx="47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Vo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504394" y="1175471"/>
            <a:ext cx="462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Vs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266127" y="2512266"/>
            <a:ext cx="1656184" cy="595809"/>
            <a:chOff x="3354361" y="3248980"/>
            <a:chExt cx="1656184" cy="595809"/>
          </a:xfrm>
        </p:grpSpPr>
        <p:sp>
          <p:nvSpPr>
            <p:cNvPr id="70" name="Rectangle 69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R3</a:t>
              </a: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5" name="Straight Connector 74"/>
            <p:cNvCxnSpPr>
              <a:stCxn id="70" idx="1"/>
            </p:cNvCxnSpPr>
            <p:nvPr/>
          </p:nvCxnSpPr>
          <p:spPr bwMode="auto">
            <a:xfrm flipH="1">
              <a:off x="3354361" y="3392996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4146449" y="353701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5202231" y="784074"/>
            <a:ext cx="792087" cy="648071"/>
            <a:chOff x="2575148" y="1844825"/>
            <a:chExt cx="792087" cy="648071"/>
          </a:xfrm>
        </p:grpSpPr>
        <p:grpSp>
          <p:nvGrpSpPr>
            <p:cNvPr id="94" name="Group 93"/>
            <p:cNvGrpSpPr/>
            <p:nvPr/>
          </p:nvGrpSpPr>
          <p:grpSpPr>
            <a:xfrm>
              <a:off x="2575148" y="1844825"/>
              <a:ext cx="792087" cy="504056"/>
              <a:chOff x="3511253" y="2048847"/>
              <a:chExt cx="792087" cy="588065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5" name="Straight Connector 104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03" name="TextBox 102"/>
              <p:cNvSpPr txBox="1"/>
              <p:nvPr/>
            </p:nvSpPr>
            <p:spPr>
              <a:xfrm>
                <a:off x="3772425" y="2048847"/>
                <a:ext cx="530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Verdana"/>
                    <a:cs typeface="Verdana"/>
                  </a:rPr>
                  <a:t>0.1</a:t>
                </a:r>
                <a:r>
                  <a:rPr lang="en-US" sz="1200" dirty="0">
                    <a:latin typeface="Symbol" charset="2"/>
                    <a:cs typeface="Symbol" charset="2"/>
                  </a:rPr>
                  <a:t>m</a:t>
                </a:r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97" name="Straight Connector 96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98" name="Group 97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99" name="Straight Connector 98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0" name="Straight Connector 99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1" name="Straight Connector 100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110" name="TextBox 109"/>
          <p:cNvSpPr txBox="1"/>
          <p:nvPr/>
        </p:nvSpPr>
        <p:spPr>
          <a:xfrm>
            <a:off x="4583158" y="1556417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½ opamp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914199" y="1000098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346247" y="1864194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06287" y="1432146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38135" y="1720178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338135" y="1072106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01513" y="1019843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C1</a:t>
            </a:r>
          </a:p>
        </p:txBody>
      </p:sp>
      <p:grpSp>
        <p:nvGrpSpPr>
          <p:cNvPr id="123" name="Group 122"/>
          <p:cNvGrpSpPr/>
          <p:nvPr/>
        </p:nvGrpSpPr>
        <p:grpSpPr>
          <a:xfrm rot="16200000">
            <a:off x="3189678" y="479783"/>
            <a:ext cx="1114384" cy="624261"/>
            <a:chOff x="3896161" y="2912751"/>
            <a:chExt cx="1114384" cy="624261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R1</a:t>
              </a:r>
            </a:p>
          </p:txBody>
        </p:sp>
        <p:cxnSp>
          <p:nvCxnSpPr>
            <p:cNvPr id="126" name="Straight Connector 125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6" name="Straight Connector 135"/>
            <p:cNvCxnSpPr>
              <a:stCxn id="124" idx="1"/>
            </p:cNvCxnSpPr>
            <p:nvPr/>
          </p:nvCxnSpPr>
          <p:spPr bwMode="auto">
            <a:xfrm rot="5400000">
              <a:off x="4021305" y="3267852"/>
              <a:ext cx="0" cy="2502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>
              <a:off x="4101153" y="2912751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 rot="16200000">
            <a:off x="3167033" y="1656300"/>
            <a:ext cx="1188131" cy="595808"/>
            <a:chOff x="3822414" y="2941204"/>
            <a:chExt cx="1188131" cy="595808"/>
          </a:xfrm>
        </p:grpSpPr>
        <p:sp>
          <p:nvSpPr>
            <p:cNvPr id="139" name="Rectangle 138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R2</a:t>
              </a:r>
            </a:p>
          </p:txBody>
        </p:sp>
        <p:cxnSp>
          <p:nvCxnSpPr>
            <p:cNvPr id="140" name="Straight Connector 139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1" name="Straight Connector 140"/>
            <p:cNvCxnSpPr>
              <a:stCxn id="139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42" name="TextBox 141"/>
            <p:cNvSpPr txBox="1"/>
            <p:nvPr/>
          </p:nvSpPr>
          <p:spPr>
            <a:xfrm>
              <a:off x="4073400" y="2941204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3770969" y="2548270"/>
            <a:ext cx="279648" cy="288032"/>
            <a:chOff x="3079204" y="2996952"/>
            <a:chExt cx="279648" cy="288032"/>
          </a:xfrm>
        </p:grpSpPr>
        <p:cxnSp>
          <p:nvCxnSpPr>
            <p:cNvPr id="144" name="Straight Connector 143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45" name="Group 144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46" name="Straight Connector 145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8" name="Straight Connector 147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cxnSp>
        <p:nvCxnSpPr>
          <p:cNvPr id="149" name="Straight Connector 148"/>
          <p:cNvCxnSpPr/>
          <p:nvPr/>
        </p:nvCxnSpPr>
        <p:spPr bwMode="auto">
          <a:xfrm flipH="1">
            <a:off x="3914985" y="406718"/>
            <a:ext cx="1286472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0" name="Oval 149"/>
          <p:cNvSpPr/>
          <p:nvPr/>
        </p:nvSpPr>
        <p:spPr>
          <a:xfrm>
            <a:off x="5162604" y="819345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Oval 150"/>
          <p:cNvSpPr/>
          <p:nvPr/>
        </p:nvSpPr>
        <p:spPr>
          <a:xfrm>
            <a:off x="3878828" y="1332741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Oval 151"/>
          <p:cNvSpPr/>
          <p:nvPr/>
        </p:nvSpPr>
        <p:spPr>
          <a:xfrm>
            <a:off x="5882682" y="169584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Oval 152"/>
          <p:cNvSpPr/>
          <p:nvPr/>
        </p:nvSpPr>
        <p:spPr>
          <a:xfrm>
            <a:off x="3878828" y="374172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4" name="TextBox 153"/>
          <p:cNvSpPr txBox="1"/>
          <p:nvPr/>
        </p:nvSpPr>
        <p:spPr>
          <a:xfrm>
            <a:off x="6207940" y="565925"/>
            <a:ext cx="761725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Verdana"/>
                <a:cs typeface="Verdana"/>
              </a:rPr>
              <a:t>Pin 1</a:t>
            </a:r>
          </a:p>
        </p:txBody>
      </p:sp>
      <p:cxnSp>
        <p:nvCxnSpPr>
          <p:cNvPr id="155" name="Straight Connector 154"/>
          <p:cNvCxnSpPr>
            <a:endCxn id="114" idx="3"/>
          </p:cNvCxnSpPr>
          <p:nvPr/>
        </p:nvCxnSpPr>
        <p:spPr>
          <a:xfrm flipH="1">
            <a:off x="5988786" y="892819"/>
            <a:ext cx="331104" cy="677827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6" name="Picture 15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402" y="468881"/>
            <a:ext cx="977124" cy="187466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/>
            </a:ext>
          </a:extLst>
        </p:spPr>
      </p:pic>
      <p:cxnSp>
        <p:nvCxnSpPr>
          <p:cNvPr id="157" name="Straight Connector 156"/>
          <p:cNvCxnSpPr/>
          <p:nvPr/>
        </p:nvCxnSpPr>
        <p:spPr>
          <a:xfrm flipH="1">
            <a:off x="5592034" y="1585454"/>
            <a:ext cx="2101953" cy="104970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6414940" y="2454483"/>
            <a:ext cx="2056329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Verdana"/>
                <a:cs typeface="Verdana"/>
              </a:rPr>
              <a:t>Mount resistor on adjacent pins vertically</a:t>
            </a:r>
          </a:p>
        </p:txBody>
      </p:sp>
      <p:grpSp>
        <p:nvGrpSpPr>
          <p:cNvPr id="109" name="Group 108"/>
          <p:cNvGrpSpPr/>
          <p:nvPr/>
        </p:nvGrpSpPr>
        <p:grpSpPr>
          <a:xfrm>
            <a:off x="3158315" y="3689279"/>
            <a:ext cx="1152128" cy="1368152"/>
            <a:chOff x="2503140" y="2852936"/>
            <a:chExt cx="1440160" cy="1368152"/>
          </a:xfrm>
        </p:grpSpPr>
        <p:cxnSp>
          <p:nvCxnSpPr>
            <p:cNvPr id="220" name="Straight Connector 219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21" name="Straight Connector 220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22" name="Straight Connector 221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111" name="TextBox 110"/>
          <p:cNvSpPr txBox="1"/>
          <p:nvPr/>
        </p:nvSpPr>
        <p:spPr>
          <a:xfrm>
            <a:off x="3914246" y="3509828"/>
            <a:ext cx="100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Vcc = 5v</a:t>
            </a:r>
          </a:p>
        </p:txBody>
      </p:sp>
      <p:cxnSp>
        <p:nvCxnSpPr>
          <p:cNvPr id="115" name="Straight Connector 114"/>
          <p:cNvCxnSpPr/>
          <p:nvPr/>
        </p:nvCxnSpPr>
        <p:spPr bwMode="auto">
          <a:xfrm>
            <a:off x="3733605" y="3509828"/>
            <a:ext cx="776" cy="5394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116" name="Group 115"/>
          <p:cNvGrpSpPr/>
          <p:nvPr/>
        </p:nvGrpSpPr>
        <p:grpSpPr>
          <a:xfrm>
            <a:off x="3806387" y="4625383"/>
            <a:ext cx="279648" cy="288032"/>
            <a:chOff x="3079204" y="2996952"/>
            <a:chExt cx="279648" cy="288032"/>
          </a:xfrm>
        </p:grpSpPr>
        <p:cxnSp>
          <p:nvCxnSpPr>
            <p:cNvPr id="215" name="Straight Connector 214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16" name="Group 215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217" name="Straight Connector 216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18" name="Straight Connector 217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19" name="Straight Connector 218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18" name="TextBox 117"/>
          <p:cNvSpPr txBox="1"/>
          <p:nvPr/>
        </p:nvSpPr>
        <p:spPr>
          <a:xfrm>
            <a:off x="3144785" y="3833295"/>
            <a:ext cx="37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121" name="Straight Connector 120"/>
          <p:cNvCxnSpPr/>
          <p:nvPr/>
        </p:nvCxnSpPr>
        <p:spPr bwMode="auto">
          <a:xfrm flipH="1">
            <a:off x="3230323" y="4697391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2" name="Straight Connector 121"/>
          <p:cNvCxnSpPr/>
          <p:nvPr/>
        </p:nvCxnSpPr>
        <p:spPr bwMode="auto">
          <a:xfrm flipH="1">
            <a:off x="2798275" y="4049319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5" name="Straight Connector 124"/>
          <p:cNvCxnSpPr/>
          <p:nvPr/>
        </p:nvCxnSpPr>
        <p:spPr bwMode="auto">
          <a:xfrm flipH="1">
            <a:off x="2798275" y="4697391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7" name="Straight Connector 126"/>
          <p:cNvCxnSpPr/>
          <p:nvPr/>
        </p:nvCxnSpPr>
        <p:spPr bwMode="auto">
          <a:xfrm flipH="1">
            <a:off x="4310443" y="4409359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8" name="Straight Connector 127"/>
          <p:cNvCxnSpPr/>
          <p:nvPr/>
        </p:nvCxnSpPr>
        <p:spPr bwMode="auto">
          <a:xfrm flipV="1">
            <a:off x="4454459" y="4409359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9" name="Straight Connector 128"/>
          <p:cNvCxnSpPr/>
          <p:nvPr/>
        </p:nvCxnSpPr>
        <p:spPr bwMode="auto">
          <a:xfrm flipV="1">
            <a:off x="2798275" y="4697391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0" name="Straight Connector 129"/>
          <p:cNvCxnSpPr/>
          <p:nvPr/>
        </p:nvCxnSpPr>
        <p:spPr bwMode="auto">
          <a:xfrm flipH="1">
            <a:off x="1535423" y="4049319"/>
            <a:ext cx="1334860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1" name="Oval 130"/>
          <p:cNvSpPr/>
          <p:nvPr/>
        </p:nvSpPr>
        <p:spPr bwMode="auto">
          <a:xfrm>
            <a:off x="1247391" y="4481367"/>
            <a:ext cx="504056" cy="50405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pic>
        <p:nvPicPr>
          <p:cNvPr id="132" name="Picture 131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9000" contras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5847" y="4553375"/>
            <a:ext cx="283592" cy="293720"/>
          </a:xfrm>
          <a:prstGeom prst="rect">
            <a:avLst/>
          </a:prstGeom>
        </p:spPr>
      </p:pic>
      <p:cxnSp>
        <p:nvCxnSpPr>
          <p:cNvPr id="133" name="Straight Connector 132"/>
          <p:cNvCxnSpPr/>
          <p:nvPr/>
        </p:nvCxnSpPr>
        <p:spPr bwMode="auto">
          <a:xfrm>
            <a:off x="1535423" y="4049319"/>
            <a:ext cx="0" cy="43204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134" name="Group 133"/>
          <p:cNvGrpSpPr/>
          <p:nvPr/>
        </p:nvGrpSpPr>
        <p:grpSpPr>
          <a:xfrm>
            <a:off x="1391407" y="4985423"/>
            <a:ext cx="279648" cy="288032"/>
            <a:chOff x="3079204" y="2996952"/>
            <a:chExt cx="279648" cy="288032"/>
          </a:xfrm>
        </p:grpSpPr>
        <p:cxnSp>
          <p:nvCxnSpPr>
            <p:cNvPr id="210" name="Straight Connector 209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11" name="Group 21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212" name="Straight Connector 211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13" name="Straight Connector 212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14" name="Straight Connector 213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35" name="Oval 134"/>
          <p:cNvSpPr/>
          <p:nvPr/>
        </p:nvSpPr>
        <p:spPr bwMode="auto">
          <a:xfrm>
            <a:off x="5102531" y="4337351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5030523" y="3905303"/>
            <a:ext cx="47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Vo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36542" y="3864652"/>
            <a:ext cx="462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Vs</a:t>
            </a:r>
          </a:p>
        </p:txBody>
      </p:sp>
      <p:grpSp>
        <p:nvGrpSpPr>
          <p:cNvPr id="162" name="Group 161"/>
          <p:cNvGrpSpPr/>
          <p:nvPr/>
        </p:nvGrpSpPr>
        <p:grpSpPr>
          <a:xfrm>
            <a:off x="2165245" y="5201447"/>
            <a:ext cx="2289214" cy="894916"/>
            <a:chOff x="2721331" y="3248980"/>
            <a:chExt cx="2289214" cy="894916"/>
          </a:xfrm>
        </p:grpSpPr>
        <p:sp>
          <p:nvSpPr>
            <p:cNvPr id="206" name="Rectangle 205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R2</a:t>
              </a:r>
            </a:p>
          </p:txBody>
        </p:sp>
        <p:cxnSp>
          <p:nvCxnSpPr>
            <p:cNvPr id="207" name="Straight Connector 206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08" name="Straight Connector 207"/>
            <p:cNvCxnSpPr>
              <a:stCxn id="206" idx="1"/>
            </p:cNvCxnSpPr>
            <p:nvPr/>
          </p:nvCxnSpPr>
          <p:spPr bwMode="auto">
            <a:xfrm flipH="1">
              <a:off x="3354361" y="3392996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09" name="TextBox 208"/>
            <p:cNvSpPr txBox="1"/>
            <p:nvPr/>
          </p:nvSpPr>
          <p:spPr>
            <a:xfrm>
              <a:off x="4146449" y="353701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100k</a:t>
              </a: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2721331" y="3836119"/>
              <a:ext cx="5191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20k</a:t>
              </a:r>
            </a:p>
          </p:txBody>
        </p:sp>
      </p:grpSp>
      <p:sp>
        <p:nvSpPr>
          <p:cNvPr id="165" name="TextBox 164"/>
          <p:cNvSpPr txBox="1"/>
          <p:nvPr/>
        </p:nvSpPr>
        <p:spPr>
          <a:xfrm>
            <a:off x="3446347" y="3689279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8</a:t>
            </a:r>
          </a:p>
        </p:txBody>
      </p:sp>
      <p:sp>
        <p:nvSpPr>
          <p:cNvPr id="177" name="Oval 176"/>
          <p:cNvSpPr/>
          <p:nvPr/>
        </p:nvSpPr>
        <p:spPr>
          <a:xfrm>
            <a:off x="4414830" y="4385027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654259" y="5330517"/>
            <a:ext cx="288032" cy="1188131"/>
            <a:chOff x="3903666" y="2186104"/>
            <a:chExt cx="288032" cy="1188131"/>
          </a:xfrm>
        </p:grpSpPr>
        <p:sp>
          <p:nvSpPr>
            <p:cNvPr id="223" name="Rectangle 222"/>
            <p:cNvSpPr/>
            <p:nvPr/>
          </p:nvSpPr>
          <p:spPr bwMode="auto">
            <a:xfrm rot="16200000">
              <a:off x="3795654" y="2654156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R1</a:t>
              </a:r>
            </a:p>
          </p:txBody>
        </p:sp>
        <p:cxnSp>
          <p:nvCxnSpPr>
            <p:cNvPr id="224" name="Straight Connector 223"/>
            <p:cNvCxnSpPr/>
            <p:nvPr/>
          </p:nvCxnSpPr>
          <p:spPr bwMode="auto">
            <a:xfrm rot="16200000" flipH="1">
              <a:off x="3867662" y="2366124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25" name="Straight Connector 224"/>
            <p:cNvCxnSpPr>
              <a:stCxn id="223" idx="1"/>
            </p:cNvCxnSpPr>
            <p:nvPr/>
          </p:nvCxnSpPr>
          <p:spPr bwMode="auto">
            <a:xfrm flipH="1">
              <a:off x="4047681" y="3050199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26" name="Group 225"/>
          <p:cNvGrpSpPr/>
          <p:nvPr/>
        </p:nvGrpSpPr>
        <p:grpSpPr>
          <a:xfrm>
            <a:off x="2662643" y="6294772"/>
            <a:ext cx="279648" cy="288032"/>
            <a:chOff x="3079204" y="2996952"/>
            <a:chExt cx="279648" cy="288032"/>
          </a:xfrm>
        </p:grpSpPr>
        <p:cxnSp>
          <p:nvCxnSpPr>
            <p:cNvPr id="227" name="Straight Connector 226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28" name="Group 227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229" name="Straight Connector 228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30" name="Straight Connector 229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31" name="Straight Connector 230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232" name="Oval 231"/>
          <p:cNvSpPr/>
          <p:nvPr/>
        </p:nvSpPr>
        <p:spPr>
          <a:xfrm>
            <a:off x="2769141" y="530427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08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814066" y="2237677"/>
            <a:ext cx="1760170" cy="6001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10kHz sine wave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1.65V peak-to-peak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2.5V DC offset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4606462" y="1673663"/>
            <a:ext cx="1152128" cy="1368152"/>
            <a:chOff x="2503140" y="2852936"/>
            <a:chExt cx="1440160" cy="1368152"/>
          </a:xfrm>
        </p:grpSpPr>
        <p:cxnSp>
          <p:nvCxnSpPr>
            <p:cNvPr id="47" name="Straight Connector 46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52" name="TextBox 51"/>
          <p:cNvSpPr txBox="1"/>
          <p:nvPr/>
        </p:nvSpPr>
        <p:spPr>
          <a:xfrm>
            <a:off x="2890150" y="813434"/>
            <a:ext cx="100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Vcc = 5v</a:t>
            </a:r>
          </a:p>
        </p:txBody>
      </p:sp>
      <p:cxnSp>
        <p:nvCxnSpPr>
          <p:cNvPr id="54" name="Straight Connector 53"/>
          <p:cNvCxnSpPr/>
          <p:nvPr/>
        </p:nvCxnSpPr>
        <p:spPr bwMode="auto">
          <a:xfrm>
            <a:off x="5181752" y="1080283"/>
            <a:ext cx="776" cy="9534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55" name="Group 54"/>
          <p:cNvGrpSpPr/>
          <p:nvPr/>
        </p:nvGrpSpPr>
        <p:grpSpPr>
          <a:xfrm>
            <a:off x="5254534" y="2609767"/>
            <a:ext cx="279648" cy="288032"/>
            <a:chOff x="3079204" y="2996952"/>
            <a:chExt cx="279648" cy="288032"/>
          </a:xfrm>
        </p:grpSpPr>
        <p:cxnSp>
          <p:nvCxnSpPr>
            <p:cNvPr id="59" name="Straight Connector 58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61" name="Group 6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63" name="Straight Connector 62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4" name="Straight Connector 63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5" name="Straight Connector 64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66" name="TextBox 65"/>
          <p:cNvSpPr txBox="1"/>
          <p:nvPr/>
        </p:nvSpPr>
        <p:spPr>
          <a:xfrm>
            <a:off x="4592932" y="1817679"/>
            <a:ext cx="37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67" name="Straight Connector 66"/>
          <p:cNvCxnSpPr/>
          <p:nvPr/>
        </p:nvCxnSpPr>
        <p:spPr bwMode="auto">
          <a:xfrm flipH="1">
            <a:off x="4678470" y="2681775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4246422" y="2033703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 flipH="1">
            <a:off x="4246422" y="2681775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2" name="Straight Connector 71"/>
          <p:cNvCxnSpPr/>
          <p:nvPr/>
        </p:nvCxnSpPr>
        <p:spPr bwMode="auto">
          <a:xfrm flipH="1">
            <a:off x="5758590" y="2393743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 flipV="1">
            <a:off x="5902606" y="2393743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 flipV="1">
            <a:off x="4246422" y="2681775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6" name="Straight Connector 75"/>
          <p:cNvCxnSpPr/>
          <p:nvPr/>
        </p:nvCxnSpPr>
        <p:spPr bwMode="auto">
          <a:xfrm flipH="1">
            <a:off x="2983570" y="2033703"/>
            <a:ext cx="1334860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77" name="Oval 76"/>
          <p:cNvSpPr/>
          <p:nvPr/>
        </p:nvSpPr>
        <p:spPr bwMode="auto">
          <a:xfrm>
            <a:off x="2695538" y="2465751"/>
            <a:ext cx="504056" cy="50405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9000" contras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43994" y="2537759"/>
            <a:ext cx="283592" cy="293720"/>
          </a:xfrm>
          <a:prstGeom prst="rect">
            <a:avLst/>
          </a:prstGeom>
        </p:spPr>
      </p:pic>
      <p:cxnSp>
        <p:nvCxnSpPr>
          <p:cNvPr id="80" name="Straight Connector 79"/>
          <p:cNvCxnSpPr/>
          <p:nvPr/>
        </p:nvCxnSpPr>
        <p:spPr bwMode="auto">
          <a:xfrm>
            <a:off x="2983570" y="2033703"/>
            <a:ext cx="0" cy="43204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81" name="Group 80"/>
          <p:cNvGrpSpPr/>
          <p:nvPr/>
        </p:nvGrpSpPr>
        <p:grpSpPr>
          <a:xfrm>
            <a:off x="2839554" y="2969807"/>
            <a:ext cx="279648" cy="288032"/>
            <a:chOff x="3079204" y="2996952"/>
            <a:chExt cx="279648" cy="288032"/>
          </a:xfrm>
        </p:grpSpPr>
        <p:cxnSp>
          <p:nvCxnSpPr>
            <p:cNvPr id="82" name="Straight Connector 81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83" name="Group 82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84" name="Straight Connector 83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6" name="Straight Connector 85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7" name="Straight Connector 8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88" name="Oval 87"/>
          <p:cNvSpPr/>
          <p:nvPr/>
        </p:nvSpPr>
        <p:spPr bwMode="auto">
          <a:xfrm>
            <a:off x="6550678" y="2321735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478670" y="1889687"/>
            <a:ext cx="47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Vo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84689" y="1849036"/>
            <a:ext cx="462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Vs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246422" y="3185831"/>
            <a:ext cx="1656184" cy="595809"/>
            <a:chOff x="3354361" y="3248980"/>
            <a:chExt cx="1656184" cy="595809"/>
          </a:xfrm>
        </p:grpSpPr>
        <p:sp>
          <p:nvSpPr>
            <p:cNvPr id="70" name="Rectangle 69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R3</a:t>
              </a: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5" name="Straight Connector 74"/>
            <p:cNvCxnSpPr>
              <a:stCxn id="70" idx="1"/>
            </p:cNvCxnSpPr>
            <p:nvPr/>
          </p:nvCxnSpPr>
          <p:spPr bwMode="auto">
            <a:xfrm flipH="1">
              <a:off x="3354361" y="3392996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4146449" y="353701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5182526" y="1457639"/>
            <a:ext cx="792087" cy="648071"/>
            <a:chOff x="2575148" y="1844825"/>
            <a:chExt cx="792087" cy="648071"/>
          </a:xfrm>
        </p:grpSpPr>
        <p:grpSp>
          <p:nvGrpSpPr>
            <p:cNvPr id="94" name="Group 93"/>
            <p:cNvGrpSpPr/>
            <p:nvPr/>
          </p:nvGrpSpPr>
          <p:grpSpPr>
            <a:xfrm>
              <a:off x="2575148" y="1844825"/>
              <a:ext cx="792087" cy="504056"/>
              <a:chOff x="3511253" y="2048847"/>
              <a:chExt cx="792087" cy="588065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5" name="Straight Connector 104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03" name="TextBox 102"/>
              <p:cNvSpPr txBox="1"/>
              <p:nvPr/>
            </p:nvSpPr>
            <p:spPr>
              <a:xfrm>
                <a:off x="3772425" y="2048847"/>
                <a:ext cx="530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Verdana"/>
                    <a:cs typeface="Verdana"/>
                  </a:rPr>
                  <a:t>0.1</a:t>
                </a:r>
                <a:r>
                  <a:rPr lang="en-US" sz="1200" dirty="0">
                    <a:latin typeface="Symbol" charset="2"/>
                    <a:cs typeface="Symbol" charset="2"/>
                  </a:rPr>
                  <a:t>m</a:t>
                </a:r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97" name="Straight Connector 96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98" name="Group 97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99" name="Straight Connector 98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0" name="Straight Connector 99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1" name="Straight Connector 100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110" name="TextBox 109"/>
          <p:cNvSpPr txBox="1"/>
          <p:nvPr/>
        </p:nvSpPr>
        <p:spPr>
          <a:xfrm>
            <a:off x="4563453" y="2229982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½ opamp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94494" y="1673663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326542" y="2537759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86582" y="2105711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18430" y="2393743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318430" y="1745671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581808" y="1693408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C1</a:t>
            </a:r>
          </a:p>
        </p:txBody>
      </p:sp>
      <p:grpSp>
        <p:nvGrpSpPr>
          <p:cNvPr id="123" name="Group 122"/>
          <p:cNvGrpSpPr/>
          <p:nvPr/>
        </p:nvGrpSpPr>
        <p:grpSpPr>
          <a:xfrm rot="16200000">
            <a:off x="3169973" y="1153348"/>
            <a:ext cx="1114384" cy="624261"/>
            <a:chOff x="3896161" y="2912751"/>
            <a:chExt cx="1114384" cy="624261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R1</a:t>
              </a:r>
            </a:p>
          </p:txBody>
        </p:sp>
        <p:cxnSp>
          <p:nvCxnSpPr>
            <p:cNvPr id="126" name="Straight Connector 125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6" name="Straight Connector 135"/>
            <p:cNvCxnSpPr>
              <a:stCxn id="124" idx="1"/>
            </p:cNvCxnSpPr>
            <p:nvPr/>
          </p:nvCxnSpPr>
          <p:spPr bwMode="auto">
            <a:xfrm rot="5400000">
              <a:off x="4021305" y="3267852"/>
              <a:ext cx="0" cy="2502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>
              <a:off x="4101153" y="2912751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 rot="16200000">
            <a:off x="3147328" y="2329865"/>
            <a:ext cx="1188131" cy="595808"/>
            <a:chOff x="3822414" y="2941204"/>
            <a:chExt cx="1188131" cy="595808"/>
          </a:xfrm>
        </p:grpSpPr>
        <p:sp>
          <p:nvSpPr>
            <p:cNvPr id="139" name="Rectangle 138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R2</a:t>
              </a:r>
            </a:p>
          </p:txBody>
        </p:sp>
        <p:cxnSp>
          <p:nvCxnSpPr>
            <p:cNvPr id="140" name="Straight Connector 139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1" name="Straight Connector 140"/>
            <p:cNvCxnSpPr>
              <a:stCxn id="139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42" name="TextBox 141"/>
            <p:cNvSpPr txBox="1"/>
            <p:nvPr/>
          </p:nvSpPr>
          <p:spPr>
            <a:xfrm>
              <a:off x="4073400" y="2941204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3751264" y="3221835"/>
            <a:ext cx="279648" cy="288032"/>
            <a:chOff x="3079204" y="2996952"/>
            <a:chExt cx="279648" cy="288032"/>
          </a:xfrm>
        </p:grpSpPr>
        <p:cxnSp>
          <p:nvCxnSpPr>
            <p:cNvPr id="144" name="Straight Connector 143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45" name="Group 144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46" name="Straight Connector 145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8" name="Straight Connector 147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cxnSp>
        <p:nvCxnSpPr>
          <p:cNvPr id="149" name="Straight Connector 148"/>
          <p:cNvCxnSpPr/>
          <p:nvPr/>
        </p:nvCxnSpPr>
        <p:spPr bwMode="auto">
          <a:xfrm flipH="1">
            <a:off x="3895280" y="1080283"/>
            <a:ext cx="1286472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0" name="Oval 149"/>
          <p:cNvSpPr/>
          <p:nvPr/>
        </p:nvSpPr>
        <p:spPr>
          <a:xfrm>
            <a:off x="5142899" y="1492910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Oval 150"/>
          <p:cNvSpPr/>
          <p:nvPr/>
        </p:nvSpPr>
        <p:spPr>
          <a:xfrm>
            <a:off x="3859123" y="200630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Oval 151"/>
          <p:cNvSpPr/>
          <p:nvPr/>
        </p:nvSpPr>
        <p:spPr>
          <a:xfrm>
            <a:off x="5862977" y="2369411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Oval 152"/>
          <p:cNvSpPr/>
          <p:nvPr/>
        </p:nvSpPr>
        <p:spPr>
          <a:xfrm>
            <a:off x="3859123" y="1047737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9" name="Group 88"/>
          <p:cNvGrpSpPr/>
          <p:nvPr/>
        </p:nvGrpSpPr>
        <p:grpSpPr>
          <a:xfrm rot="16200000">
            <a:off x="3505698" y="3477086"/>
            <a:ext cx="1188131" cy="595808"/>
            <a:chOff x="3822414" y="2941204"/>
            <a:chExt cx="1188131" cy="595808"/>
          </a:xfrm>
        </p:grpSpPr>
        <p:sp>
          <p:nvSpPr>
            <p:cNvPr id="95" name="Rectangle 94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R4</a:t>
              </a:r>
            </a:p>
          </p:txBody>
        </p:sp>
        <p:cxnSp>
          <p:nvCxnSpPr>
            <p:cNvPr id="109" name="Straight Connector 108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11" name="Straight Connector 110"/>
            <p:cNvCxnSpPr>
              <a:stCxn id="95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15" name="TextBox 114"/>
            <p:cNvSpPr txBox="1"/>
            <p:nvPr/>
          </p:nvSpPr>
          <p:spPr>
            <a:xfrm>
              <a:off x="4073400" y="2941204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4120586" y="4118070"/>
            <a:ext cx="279648" cy="288032"/>
            <a:chOff x="3079204" y="2996952"/>
            <a:chExt cx="279648" cy="288032"/>
          </a:xfrm>
        </p:grpSpPr>
        <p:cxnSp>
          <p:nvCxnSpPr>
            <p:cNvPr id="118" name="Straight Connector 117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21" name="Group 12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22" name="Straight Connector 121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5" name="Straight Connector 12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7" name="Straight Connector 12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28" name="Oval 127"/>
          <p:cNvSpPr/>
          <p:nvPr/>
        </p:nvSpPr>
        <p:spPr>
          <a:xfrm>
            <a:off x="4200735" y="3293110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80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4606462" y="1673663"/>
            <a:ext cx="1152128" cy="1368152"/>
            <a:chOff x="2503140" y="2852936"/>
            <a:chExt cx="1440160" cy="1368152"/>
          </a:xfrm>
        </p:grpSpPr>
        <p:cxnSp>
          <p:nvCxnSpPr>
            <p:cNvPr id="47" name="Straight Connector 46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52" name="TextBox 51"/>
          <p:cNvSpPr txBox="1"/>
          <p:nvPr/>
        </p:nvSpPr>
        <p:spPr>
          <a:xfrm>
            <a:off x="2890150" y="813434"/>
            <a:ext cx="100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Vcc = 5v</a:t>
            </a:r>
          </a:p>
        </p:txBody>
      </p:sp>
      <p:cxnSp>
        <p:nvCxnSpPr>
          <p:cNvPr id="54" name="Straight Connector 53"/>
          <p:cNvCxnSpPr/>
          <p:nvPr/>
        </p:nvCxnSpPr>
        <p:spPr bwMode="auto">
          <a:xfrm>
            <a:off x="5181752" y="1080283"/>
            <a:ext cx="776" cy="9534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55" name="Group 54"/>
          <p:cNvGrpSpPr/>
          <p:nvPr/>
        </p:nvGrpSpPr>
        <p:grpSpPr>
          <a:xfrm>
            <a:off x="5254534" y="2609767"/>
            <a:ext cx="279648" cy="288032"/>
            <a:chOff x="3079204" y="2996952"/>
            <a:chExt cx="279648" cy="288032"/>
          </a:xfrm>
        </p:grpSpPr>
        <p:cxnSp>
          <p:nvCxnSpPr>
            <p:cNvPr id="59" name="Straight Connector 58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61" name="Group 6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63" name="Straight Connector 62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4" name="Straight Connector 63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5" name="Straight Connector 64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66" name="TextBox 65"/>
          <p:cNvSpPr txBox="1"/>
          <p:nvPr/>
        </p:nvSpPr>
        <p:spPr>
          <a:xfrm>
            <a:off x="4592932" y="1817679"/>
            <a:ext cx="37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67" name="Straight Connector 66"/>
          <p:cNvCxnSpPr/>
          <p:nvPr/>
        </p:nvCxnSpPr>
        <p:spPr bwMode="auto">
          <a:xfrm flipH="1">
            <a:off x="4678470" y="2681775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4246422" y="2033703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 flipH="1">
            <a:off x="4246422" y="2681775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2" name="Straight Connector 71"/>
          <p:cNvCxnSpPr/>
          <p:nvPr/>
        </p:nvCxnSpPr>
        <p:spPr bwMode="auto">
          <a:xfrm flipH="1">
            <a:off x="5758590" y="2393743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 flipV="1">
            <a:off x="5902606" y="2393743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 flipV="1">
            <a:off x="4246422" y="2681775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6" name="Straight Connector 75"/>
          <p:cNvCxnSpPr/>
          <p:nvPr/>
        </p:nvCxnSpPr>
        <p:spPr bwMode="auto">
          <a:xfrm flipH="1">
            <a:off x="2983570" y="2033703"/>
            <a:ext cx="1334860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8" name="Oval 87"/>
          <p:cNvSpPr/>
          <p:nvPr/>
        </p:nvSpPr>
        <p:spPr bwMode="auto">
          <a:xfrm>
            <a:off x="6550678" y="2321735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478670" y="1889687"/>
            <a:ext cx="47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Vo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246422" y="3185831"/>
            <a:ext cx="1656184" cy="595809"/>
            <a:chOff x="3354361" y="3248980"/>
            <a:chExt cx="1656184" cy="595809"/>
          </a:xfrm>
        </p:grpSpPr>
        <p:sp>
          <p:nvSpPr>
            <p:cNvPr id="70" name="Rectangle 69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R3</a:t>
              </a: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5" name="Straight Connector 74"/>
            <p:cNvCxnSpPr>
              <a:stCxn id="70" idx="1"/>
            </p:cNvCxnSpPr>
            <p:nvPr/>
          </p:nvCxnSpPr>
          <p:spPr bwMode="auto">
            <a:xfrm flipH="1">
              <a:off x="3354361" y="3392996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4146449" y="353701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5182526" y="1457639"/>
            <a:ext cx="792087" cy="648071"/>
            <a:chOff x="2575148" y="1844825"/>
            <a:chExt cx="792087" cy="648071"/>
          </a:xfrm>
        </p:grpSpPr>
        <p:grpSp>
          <p:nvGrpSpPr>
            <p:cNvPr id="94" name="Group 93"/>
            <p:cNvGrpSpPr/>
            <p:nvPr/>
          </p:nvGrpSpPr>
          <p:grpSpPr>
            <a:xfrm>
              <a:off x="2575148" y="1844825"/>
              <a:ext cx="792087" cy="504056"/>
              <a:chOff x="3511253" y="2048847"/>
              <a:chExt cx="792087" cy="588065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5" name="Straight Connector 104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03" name="TextBox 102"/>
              <p:cNvSpPr txBox="1"/>
              <p:nvPr/>
            </p:nvSpPr>
            <p:spPr>
              <a:xfrm>
                <a:off x="3772425" y="2048847"/>
                <a:ext cx="530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Verdana"/>
                    <a:cs typeface="Verdana"/>
                  </a:rPr>
                  <a:t>0.1</a:t>
                </a:r>
                <a:r>
                  <a:rPr lang="en-US" sz="1200" dirty="0">
                    <a:latin typeface="Symbol" charset="2"/>
                    <a:cs typeface="Symbol" charset="2"/>
                  </a:rPr>
                  <a:t>m</a:t>
                </a:r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97" name="Straight Connector 96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98" name="Group 97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99" name="Straight Connector 98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0" name="Straight Connector 99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1" name="Straight Connector 100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110" name="TextBox 109"/>
          <p:cNvSpPr txBox="1"/>
          <p:nvPr/>
        </p:nvSpPr>
        <p:spPr>
          <a:xfrm>
            <a:off x="4563453" y="2229982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½ opamp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94494" y="1673663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326542" y="2537759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86582" y="2105711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18430" y="2393743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318430" y="1745671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581808" y="1693408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C1</a:t>
            </a:r>
          </a:p>
        </p:txBody>
      </p:sp>
      <p:grpSp>
        <p:nvGrpSpPr>
          <p:cNvPr id="123" name="Group 122"/>
          <p:cNvGrpSpPr/>
          <p:nvPr/>
        </p:nvGrpSpPr>
        <p:grpSpPr>
          <a:xfrm rot="16200000">
            <a:off x="3169973" y="1153348"/>
            <a:ext cx="1114384" cy="624261"/>
            <a:chOff x="3896161" y="2912751"/>
            <a:chExt cx="1114384" cy="624261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R1</a:t>
              </a:r>
            </a:p>
          </p:txBody>
        </p:sp>
        <p:cxnSp>
          <p:nvCxnSpPr>
            <p:cNvPr id="126" name="Straight Connector 125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6" name="Straight Connector 135"/>
            <p:cNvCxnSpPr>
              <a:stCxn id="124" idx="1"/>
            </p:cNvCxnSpPr>
            <p:nvPr/>
          </p:nvCxnSpPr>
          <p:spPr bwMode="auto">
            <a:xfrm rot="5400000">
              <a:off x="4021305" y="3267852"/>
              <a:ext cx="0" cy="2502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>
              <a:off x="4101153" y="2912751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 rot="16200000">
            <a:off x="3147328" y="2329865"/>
            <a:ext cx="1188131" cy="595808"/>
            <a:chOff x="3822414" y="2941204"/>
            <a:chExt cx="1188131" cy="595808"/>
          </a:xfrm>
        </p:grpSpPr>
        <p:sp>
          <p:nvSpPr>
            <p:cNvPr id="139" name="Rectangle 138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R2</a:t>
              </a:r>
            </a:p>
          </p:txBody>
        </p:sp>
        <p:cxnSp>
          <p:nvCxnSpPr>
            <p:cNvPr id="140" name="Straight Connector 139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1" name="Straight Connector 140"/>
            <p:cNvCxnSpPr>
              <a:stCxn id="139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42" name="TextBox 141"/>
            <p:cNvSpPr txBox="1"/>
            <p:nvPr/>
          </p:nvSpPr>
          <p:spPr>
            <a:xfrm>
              <a:off x="4073400" y="2941204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3751264" y="3221835"/>
            <a:ext cx="279648" cy="288032"/>
            <a:chOff x="3079204" y="2996952"/>
            <a:chExt cx="279648" cy="288032"/>
          </a:xfrm>
        </p:grpSpPr>
        <p:cxnSp>
          <p:nvCxnSpPr>
            <p:cNvPr id="144" name="Straight Connector 143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45" name="Group 144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46" name="Straight Connector 145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8" name="Straight Connector 147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cxnSp>
        <p:nvCxnSpPr>
          <p:cNvPr id="149" name="Straight Connector 148"/>
          <p:cNvCxnSpPr/>
          <p:nvPr/>
        </p:nvCxnSpPr>
        <p:spPr bwMode="auto">
          <a:xfrm flipH="1">
            <a:off x="3895280" y="1080283"/>
            <a:ext cx="1286472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0" name="Oval 149"/>
          <p:cNvSpPr/>
          <p:nvPr/>
        </p:nvSpPr>
        <p:spPr>
          <a:xfrm>
            <a:off x="5142899" y="1492910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Oval 150"/>
          <p:cNvSpPr/>
          <p:nvPr/>
        </p:nvSpPr>
        <p:spPr>
          <a:xfrm>
            <a:off x="3859123" y="200630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Oval 151"/>
          <p:cNvSpPr/>
          <p:nvPr/>
        </p:nvSpPr>
        <p:spPr>
          <a:xfrm>
            <a:off x="5862977" y="2369411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Oval 152"/>
          <p:cNvSpPr/>
          <p:nvPr/>
        </p:nvSpPr>
        <p:spPr>
          <a:xfrm>
            <a:off x="3859123" y="1047737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9" name="Group 88"/>
          <p:cNvGrpSpPr/>
          <p:nvPr/>
        </p:nvGrpSpPr>
        <p:grpSpPr>
          <a:xfrm rot="16200000">
            <a:off x="3505698" y="3477086"/>
            <a:ext cx="1188131" cy="595808"/>
            <a:chOff x="3822414" y="2941204"/>
            <a:chExt cx="1188131" cy="595808"/>
          </a:xfrm>
        </p:grpSpPr>
        <p:sp>
          <p:nvSpPr>
            <p:cNvPr id="95" name="Rectangle 94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R4</a:t>
              </a:r>
            </a:p>
          </p:txBody>
        </p:sp>
        <p:cxnSp>
          <p:nvCxnSpPr>
            <p:cNvPr id="109" name="Straight Connector 108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11" name="Straight Connector 110"/>
            <p:cNvCxnSpPr>
              <a:stCxn id="95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15" name="TextBox 114"/>
            <p:cNvSpPr txBox="1"/>
            <p:nvPr/>
          </p:nvSpPr>
          <p:spPr>
            <a:xfrm>
              <a:off x="4073400" y="2941204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4120586" y="4118070"/>
            <a:ext cx="279648" cy="288032"/>
            <a:chOff x="3079204" y="2996952"/>
            <a:chExt cx="279648" cy="288032"/>
          </a:xfrm>
        </p:grpSpPr>
        <p:cxnSp>
          <p:nvCxnSpPr>
            <p:cNvPr id="118" name="Straight Connector 117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21" name="Group 12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22" name="Straight Connector 121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5" name="Straight Connector 12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7" name="Straight Connector 12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28" name="Oval 127"/>
          <p:cNvSpPr/>
          <p:nvPr/>
        </p:nvSpPr>
        <p:spPr>
          <a:xfrm>
            <a:off x="4200735" y="3293110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9" name="Group 128"/>
          <p:cNvGrpSpPr/>
          <p:nvPr/>
        </p:nvGrpSpPr>
        <p:grpSpPr>
          <a:xfrm>
            <a:off x="545437" y="1934380"/>
            <a:ext cx="2622731" cy="1830978"/>
            <a:chOff x="236079" y="1950662"/>
            <a:chExt cx="2622731" cy="1830978"/>
          </a:xfrm>
        </p:grpSpPr>
        <p:sp>
          <p:nvSpPr>
            <p:cNvPr id="130" name="Rectangle 129"/>
            <p:cNvSpPr/>
            <p:nvPr/>
          </p:nvSpPr>
          <p:spPr>
            <a:xfrm>
              <a:off x="236079" y="1950662"/>
              <a:ext cx="2527169" cy="183097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1" name="Group 130"/>
            <p:cNvGrpSpPr/>
            <p:nvPr/>
          </p:nvGrpSpPr>
          <p:grpSpPr>
            <a:xfrm>
              <a:off x="367947" y="2051238"/>
              <a:ext cx="2490863" cy="1645603"/>
              <a:chOff x="5373422" y="1222676"/>
              <a:chExt cx="2490863" cy="1645603"/>
            </a:xfrm>
          </p:grpSpPr>
          <p:grpSp>
            <p:nvGrpSpPr>
              <p:cNvPr id="132" name="Group 131"/>
              <p:cNvGrpSpPr/>
              <p:nvPr/>
            </p:nvGrpSpPr>
            <p:grpSpPr>
              <a:xfrm>
                <a:off x="7070501" y="1222676"/>
                <a:ext cx="793784" cy="1645603"/>
                <a:chOff x="2780371" y="938671"/>
                <a:chExt cx="793784" cy="1645603"/>
              </a:xfrm>
            </p:grpSpPr>
            <p:sp>
              <p:nvSpPr>
                <p:cNvPr id="154" name="Oval 153"/>
                <p:cNvSpPr/>
                <p:nvPr/>
              </p:nvSpPr>
              <p:spPr bwMode="auto">
                <a:xfrm>
                  <a:off x="2780371" y="1864194"/>
                  <a:ext cx="423664" cy="432048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/>
                    <a:cs typeface="Verdana"/>
                  </a:endParaRPr>
                </a:p>
              </p:txBody>
            </p:sp>
            <p:pic>
              <p:nvPicPr>
                <p:cNvPr id="155" name="Picture 154"/>
                <p:cNvPicPr>
                  <a:picLocks noChangeAspect="1"/>
                </p:cNvPicPr>
                <p:nvPr/>
              </p:nvPicPr>
              <p:blipFill>
                <a:blip r:embed="rId2">
                  <a:biLevel thresh="75000"/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bright="-9000" contrast="-4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79981" y="1956607"/>
                  <a:ext cx="217945" cy="225729"/>
                </a:xfrm>
                <a:prstGeom prst="rect">
                  <a:avLst/>
                </a:prstGeom>
              </p:spPr>
            </p:pic>
            <p:cxnSp>
              <p:nvCxnSpPr>
                <p:cNvPr id="156" name="Straight Connector 155"/>
                <p:cNvCxnSpPr/>
                <p:nvPr/>
              </p:nvCxnSpPr>
              <p:spPr bwMode="auto">
                <a:xfrm>
                  <a:off x="2977648" y="938671"/>
                  <a:ext cx="596507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157" name="Group 156"/>
                <p:cNvGrpSpPr/>
                <p:nvPr/>
              </p:nvGrpSpPr>
              <p:grpSpPr>
                <a:xfrm>
                  <a:off x="2859259" y="2296242"/>
                  <a:ext cx="279648" cy="288032"/>
                  <a:chOff x="3079204" y="2996952"/>
                  <a:chExt cx="279648" cy="288032"/>
                </a:xfrm>
              </p:grpSpPr>
              <p:cxnSp>
                <p:nvCxnSpPr>
                  <p:cNvPr id="166" name="Straight Connector 165"/>
                  <p:cNvCxnSpPr/>
                  <p:nvPr/>
                </p:nvCxnSpPr>
                <p:spPr bwMode="auto">
                  <a:xfrm>
                    <a:off x="3223220" y="2996952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grpSp>
                <p:nvGrpSpPr>
                  <p:cNvPr id="167" name="Group 166"/>
                  <p:cNvGrpSpPr/>
                  <p:nvPr/>
                </p:nvGrpSpPr>
                <p:grpSpPr>
                  <a:xfrm>
                    <a:off x="3079204" y="3212976"/>
                    <a:ext cx="279648" cy="72008"/>
                    <a:chOff x="3447628" y="4437112"/>
                    <a:chExt cx="351656" cy="144016"/>
                  </a:xfrm>
                </p:grpSpPr>
                <p:cxnSp>
                  <p:nvCxnSpPr>
                    <p:cNvPr id="168" name="Straight Connector 167"/>
                    <p:cNvCxnSpPr/>
                    <p:nvPr/>
                  </p:nvCxnSpPr>
                  <p:spPr bwMode="auto">
                    <a:xfrm flipH="1">
                      <a:off x="3447628" y="4437112"/>
                      <a:ext cx="351656" cy="8384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69" name="Straight Connector 168"/>
                    <p:cNvCxnSpPr/>
                    <p:nvPr/>
                  </p:nvCxnSpPr>
                  <p:spPr bwMode="auto">
                    <a:xfrm flipH="1">
                      <a:off x="3511252" y="4509120"/>
                      <a:ext cx="216024" cy="8384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70" name="Straight Connector 169"/>
                    <p:cNvCxnSpPr/>
                    <p:nvPr/>
                  </p:nvCxnSpPr>
                  <p:spPr bwMode="auto">
                    <a:xfrm flipH="1">
                      <a:off x="3583260" y="4581128"/>
                      <a:ext cx="72008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</p:grpSp>
            </p:grpSp>
            <p:grpSp>
              <p:nvGrpSpPr>
                <p:cNvPr id="158" name="Group 157"/>
                <p:cNvGrpSpPr/>
                <p:nvPr/>
              </p:nvGrpSpPr>
              <p:grpSpPr>
                <a:xfrm>
                  <a:off x="2809574" y="938671"/>
                  <a:ext cx="354318" cy="907349"/>
                  <a:chOff x="4214737" y="3980542"/>
                  <a:chExt cx="561769" cy="1200039"/>
                </a:xfrm>
              </p:grpSpPr>
              <p:grpSp>
                <p:nvGrpSpPr>
                  <p:cNvPr id="159" name="Group 158"/>
                  <p:cNvGrpSpPr/>
                  <p:nvPr/>
                </p:nvGrpSpPr>
                <p:grpSpPr>
                  <a:xfrm>
                    <a:off x="4214737" y="4492711"/>
                    <a:ext cx="561769" cy="310216"/>
                    <a:chOff x="4214737" y="4492711"/>
                    <a:chExt cx="561769" cy="310216"/>
                  </a:xfrm>
                </p:grpSpPr>
                <p:cxnSp>
                  <p:nvCxnSpPr>
                    <p:cNvPr id="162" name="Straight Connector 161"/>
                    <p:cNvCxnSpPr/>
                    <p:nvPr/>
                  </p:nvCxnSpPr>
                  <p:spPr bwMode="auto">
                    <a:xfrm>
                      <a:off x="4214737" y="4492711"/>
                      <a:ext cx="532962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63" name="Straight Connector 162"/>
                    <p:cNvCxnSpPr/>
                    <p:nvPr/>
                  </p:nvCxnSpPr>
                  <p:spPr bwMode="auto">
                    <a:xfrm>
                      <a:off x="4340067" y="4591009"/>
                      <a:ext cx="284039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64" name="Straight Connector 163"/>
                    <p:cNvCxnSpPr/>
                    <p:nvPr/>
                  </p:nvCxnSpPr>
                  <p:spPr bwMode="auto">
                    <a:xfrm>
                      <a:off x="4243544" y="4704629"/>
                      <a:ext cx="532962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65" name="Straight Connector 164"/>
                    <p:cNvCxnSpPr/>
                    <p:nvPr/>
                  </p:nvCxnSpPr>
                  <p:spPr bwMode="auto">
                    <a:xfrm>
                      <a:off x="4368874" y="4802927"/>
                      <a:ext cx="284039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</p:grpSp>
              <p:cxnSp>
                <p:nvCxnSpPr>
                  <p:cNvPr id="160" name="Straight Connector 159"/>
                  <p:cNvCxnSpPr/>
                  <p:nvPr/>
                </p:nvCxnSpPr>
                <p:spPr bwMode="auto">
                  <a:xfrm>
                    <a:off x="4481218" y="3980542"/>
                    <a:ext cx="10001" cy="52346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61" name="Straight Connector 160"/>
                  <p:cNvCxnSpPr/>
                  <p:nvPr/>
                </p:nvCxnSpPr>
                <p:spPr bwMode="auto">
                  <a:xfrm>
                    <a:off x="4505808" y="4802927"/>
                    <a:ext cx="1" cy="37765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  <p:sp>
            <p:nvSpPr>
              <p:cNvPr id="133" name="TextBox 132"/>
              <p:cNvSpPr txBox="1"/>
              <p:nvPr/>
            </p:nvSpPr>
            <p:spPr>
              <a:xfrm>
                <a:off x="6196995" y="1609927"/>
                <a:ext cx="792088" cy="26161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Verdana"/>
                    <a:cs typeface="Verdana"/>
                  </a:rPr>
                  <a:t>2.5V DC</a:t>
                </a: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5373422" y="2121793"/>
                <a:ext cx="1640004" cy="4308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Verdana"/>
                    <a:cs typeface="Verdana"/>
                  </a:rPr>
                  <a:t>10kHz sine wave</a:t>
                </a:r>
              </a:p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Verdana"/>
                    <a:cs typeface="Verdana"/>
                  </a:rPr>
                  <a:t>1.65V peak-to-peak</a:t>
                </a: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7037849" y="1329414"/>
                <a:ext cx="3044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+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58608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4606462" y="1673663"/>
            <a:ext cx="1152128" cy="1368152"/>
            <a:chOff x="2503140" y="2852936"/>
            <a:chExt cx="1440160" cy="1368152"/>
          </a:xfrm>
        </p:grpSpPr>
        <p:cxnSp>
          <p:nvCxnSpPr>
            <p:cNvPr id="47" name="Straight Connector 46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52" name="TextBox 51"/>
          <p:cNvSpPr txBox="1"/>
          <p:nvPr/>
        </p:nvSpPr>
        <p:spPr>
          <a:xfrm>
            <a:off x="2890150" y="813434"/>
            <a:ext cx="100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Vcc = 5v</a:t>
            </a:r>
          </a:p>
        </p:txBody>
      </p:sp>
      <p:cxnSp>
        <p:nvCxnSpPr>
          <p:cNvPr id="54" name="Straight Connector 53"/>
          <p:cNvCxnSpPr/>
          <p:nvPr/>
        </p:nvCxnSpPr>
        <p:spPr bwMode="auto">
          <a:xfrm>
            <a:off x="5181752" y="1080283"/>
            <a:ext cx="776" cy="9534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55" name="Group 54"/>
          <p:cNvGrpSpPr/>
          <p:nvPr/>
        </p:nvGrpSpPr>
        <p:grpSpPr>
          <a:xfrm>
            <a:off x="5254534" y="2609767"/>
            <a:ext cx="279648" cy="288032"/>
            <a:chOff x="3079204" y="2996952"/>
            <a:chExt cx="279648" cy="288032"/>
          </a:xfrm>
        </p:grpSpPr>
        <p:cxnSp>
          <p:nvCxnSpPr>
            <p:cNvPr id="59" name="Straight Connector 58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61" name="Group 6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63" name="Straight Connector 62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4" name="Straight Connector 63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5" name="Straight Connector 64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66" name="TextBox 65"/>
          <p:cNvSpPr txBox="1"/>
          <p:nvPr/>
        </p:nvSpPr>
        <p:spPr>
          <a:xfrm>
            <a:off x="4592932" y="1817679"/>
            <a:ext cx="37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67" name="Straight Connector 66"/>
          <p:cNvCxnSpPr/>
          <p:nvPr/>
        </p:nvCxnSpPr>
        <p:spPr bwMode="auto">
          <a:xfrm flipH="1">
            <a:off x="4678470" y="2681775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4246422" y="2033703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 flipH="1">
            <a:off x="4246422" y="2681775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2" name="Straight Connector 71"/>
          <p:cNvCxnSpPr/>
          <p:nvPr/>
        </p:nvCxnSpPr>
        <p:spPr bwMode="auto">
          <a:xfrm flipH="1">
            <a:off x="5758590" y="2393743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 flipV="1">
            <a:off x="5902606" y="2393743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 flipV="1">
            <a:off x="4246422" y="2681775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8" name="Oval 87"/>
          <p:cNvSpPr/>
          <p:nvPr/>
        </p:nvSpPr>
        <p:spPr bwMode="auto">
          <a:xfrm>
            <a:off x="6550678" y="2321735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478670" y="1889687"/>
            <a:ext cx="47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Vo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246422" y="3185831"/>
            <a:ext cx="1656184" cy="595809"/>
            <a:chOff x="3354361" y="3248980"/>
            <a:chExt cx="1656184" cy="595809"/>
          </a:xfrm>
        </p:grpSpPr>
        <p:sp>
          <p:nvSpPr>
            <p:cNvPr id="70" name="Rectangle 69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R3</a:t>
              </a: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5" name="Straight Connector 74"/>
            <p:cNvCxnSpPr>
              <a:stCxn id="70" idx="1"/>
            </p:cNvCxnSpPr>
            <p:nvPr/>
          </p:nvCxnSpPr>
          <p:spPr bwMode="auto">
            <a:xfrm flipH="1">
              <a:off x="3354361" y="3392996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4146449" y="353701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5182526" y="1457639"/>
            <a:ext cx="792087" cy="648071"/>
            <a:chOff x="2575148" y="1844825"/>
            <a:chExt cx="792087" cy="648071"/>
          </a:xfrm>
        </p:grpSpPr>
        <p:grpSp>
          <p:nvGrpSpPr>
            <p:cNvPr id="94" name="Group 93"/>
            <p:cNvGrpSpPr/>
            <p:nvPr/>
          </p:nvGrpSpPr>
          <p:grpSpPr>
            <a:xfrm>
              <a:off x="2575148" y="1844825"/>
              <a:ext cx="792087" cy="504056"/>
              <a:chOff x="3511253" y="2048847"/>
              <a:chExt cx="792087" cy="588065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5" name="Straight Connector 104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03" name="TextBox 102"/>
              <p:cNvSpPr txBox="1"/>
              <p:nvPr/>
            </p:nvSpPr>
            <p:spPr>
              <a:xfrm>
                <a:off x="3772425" y="2048847"/>
                <a:ext cx="530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Verdana"/>
                    <a:cs typeface="Verdana"/>
                  </a:rPr>
                  <a:t>0.1</a:t>
                </a:r>
                <a:r>
                  <a:rPr lang="en-US" sz="1200" dirty="0">
                    <a:latin typeface="Symbol" charset="2"/>
                    <a:cs typeface="Symbol" charset="2"/>
                  </a:rPr>
                  <a:t>m</a:t>
                </a:r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97" name="Straight Connector 96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98" name="Group 97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99" name="Straight Connector 98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0" name="Straight Connector 99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1" name="Straight Connector 100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110" name="TextBox 109"/>
          <p:cNvSpPr txBox="1"/>
          <p:nvPr/>
        </p:nvSpPr>
        <p:spPr>
          <a:xfrm>
            <a:off x="4563453" y="2229982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½ opamp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94494" y="1673663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326542" y="2537759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86582" y="2105711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18430" y="2393743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318430" y="1745671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581808" y="1693408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C1</a:t>
            </a:r>
          </a:p>
        </p:txBody>
      </p:sp>
      <p:grpSp>
        <p:nvGrpSpPr>
          <p:cNvPr id="123" name="Group 122"/>
          <p:cNvGrpSpPr/>
          <p:nvPr/>
        </p:nvGrpSpPr>
        <p:grpSpPr>
          <a:xfrm rot="16200000">
            <a:off x="3169973" y="1153348"/>
            <a:ext cx="1114384" cy="624261"/>
            <a:chOff x="3896161" y="2912751"/>
            <a:chExt cx="1114384" cy="624261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R1</a:t>
              </a:r>
            </a:p>
          </p:txBody>
        </p:sp>
        <p:cxnSp>
          <p:nvCxnSpPr>
            <p:cNvPr id="126" name="Straight Connector 125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6" name="Straight Connector 135"/>
            <p:cNvCxnSpPr>
              <a:stCxn id="124" idx="1"/>
            </p:cNvCxnSpPr>
            <p:nvPr/>
          </p:nvCxnSpPr>
          <p:spPr bwMode="auto">
            <a:xfrm rot="5400000">
              <a:off x="4021305" y="3267852"/>
              <a:ext cx="0" cy="2502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>
              <a:off x="4101153" y="2912751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 rot="16200000">
            <a:off x="3147328" y="2329865"/>
            <a:ext cx="1188131" cy="595808"/>
            <a:chOff x="3822414" y="2941204"/>
            <a:chExt cx="1188131" cy="595808"/>
          </a:xfrm>
        </p:grpSpPr>
        <p:sp>
          <p:nvSpPr>
            <p:cNvPr id="139" name="Rectangle 138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R2</a:t>
              </a:r>
            </a:p>
          </p:txBody>
        </p:sp>
        <p:cxnSp>
          <p:nvCxnSpPr>
            <p:cNvPr id="140" name="Straight Connector 139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1" name="Straight Connector 140"/>
            <p:cNvCxnSpPr>
              <a:stCxn id="139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42" name="TextBox 141"/>
            <p:cNvSpPr txBox="1"/>
            <p:nvPr/>
          </p:nvSpPr>
          <p:spPr>
            <a:xfrm>
              <a:off x="4073400" y="2941204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3751264" y="3221835"/>
            <a:ext cx="279648" cy="288032"/>
            <a:chOff x="3079204" y="2996952"/>
            <a:chExt cx="279648" cy="288032"/>
          </a:xfrm>
        </p:grpSpPr>
        <p:cxnSp>
          <p:nvCxnSpPr>
            <p:cNvPr id="144" name="Straight Connector 143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45" name="Group 144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46" name="Straight Connector 145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8" name="Straight Connector 147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cxnSp>
        <p:nvCxnSpPr>
          <p:cNvPr id="149" name="Straight Connector 148"/>
          <p:cNvCxnSpPr/>
          <p:nvPr/>
        </p:nvCxnSpPr>
        <p:spPr bwMode="auto">
          <a:xfrm flipH="1">
            <a:off x="3895280" y="1080283"/>
            <a:ext cx="1286472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0" name="Oval 149"/>
          <p:cNvSpPr/>
          <p:nvPr/>
        </p:nvSpPr>
        <p:spPr>
          <a:xfrm>
            <a:off x="5142899" y="1492910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Oval 150"/>
          <p:cNvSpPr/>
          <p:nvPr/>
        </p:nvSpPr>
        <p:spPr>
          <a:xfrm>
            <a:off x="3859123" y="200630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Oval 151"/>
          <p:cNvSpPr/>
          <p:nvPr/>
        </p:nvSpPr>
        <p:spPr>
          <a:xfrm>
            <a:off x="5862977" y="2369411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Oval 152"/>
          <p:cNvSpPr/>
          <p:nvPr/>
        </p:nvSpPr>
        <p:spPr>
          <a:xfrm>
            <a:off x="3859123" y="1047737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9" name="Group 88"/>
          <p:cNvGrpSpPr/>
          <p:nvPr/>
        </p:nvGrpSpPr>
        <p:grpSpPr>
          <a:xfrm rot="16200000">
            <a:off x="3505698" y="3477086"/>
            <a:ext cx="1188131" cy="595808"/>
            <a:chOff x="3822414" y="2941204"/>
            <a:chExt cx="1188131" cy="595808"/>
          </a:xfrm>
        </p:grpSpPr>
        <p:sp>
          <p:nvSpPr>
            <p:cNvPr id="95" name="Rectangle 94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R4</a:t>
              </a:r>
            </a:p>
          </p:txBody>
        </p:sp>
        <p:cxnSp>
          <p:nvCxnSpPr>
            <p:cNvPr id="109" name="Straight Connector 108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11" name="Straight Connector 110"/>
            <p:cNvCxnSpPr>
              <a:stCxn id="95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15" name="TextBox 114"/>
            <p:cNvSpPr txBox="1"/>
            <p:nvPr/>
          </p:nvSpPr>
          <p:spPr>
            <a:xfrm>
              <a:off x="4073400" y="2941204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4106598" y="4645654"/>
            <a:ext cx="279648" cy="288032"/>
            <a:chOff x="3079204" y="2996952"/>
            <a:chExt cx="279648" cy="288032"/>
          </a:xfrm>
        </p:grpSpPr>
        <p:cxnSp>
          <p:nvCxnSpPr>
            <p:cNvPr id="118" name="Straight Connector 117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21" name="Group 12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22" name="Straight Connector 121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5" name="Straight Connector 12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7" name="Straight Connector 12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28" name="Oval 127"/>
          <p:cNvSpPr/>
          <p:nvPr/>
        </p:nvSpPr>
        <p:spPr>
          <a:xfrm>
            <a:off x="4200735" y="3293110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9" name="Group 128"/>
          <p:cNvGrpSpPr/>
          <p:nvPr/>
        </p:nvGrpSpPr>
        <p:grpSpPr>
          <a:xfrm>
            <a:off x="2823538" y="1961695"/>
            <a:ext cx="663743" cy="206732"/>
            <a:chOff x="5740858" y="1494076"/>
            <a:chExt cx="663743" cy="206732"/>
          </a:xfrm>
        </p:grpSpPr>
        <p:cxnSp>
          <p:nvCxnSpPr>
            <p:cNvPr id="130" name="Straight Connector 129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1" name="Straight Connector 130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2" name="Straight Connector 131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3" name="Straight Connector 132"/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134" name="Straight Connector 133"/>
          <p:cNvCxnSpPr/>
          <p:nvPr/>
        </p:nvCxnSpPr>
        <p:spPr bwMode="auto">
          <a:xfrm flipH="1">
            <a:off x="3415035" y="2033702"/>
            <a:ext cx="927937" cy="2567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2912875" y="1642885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r>
              <a:rPr lang="en-US" sz="1400" dirty="0">
                <a:solidFill>
                  <a:srgbClr val="FF0000"/>
                </a:solidFill>
                <a:latin typeface="Symbol" charset="2"/>
                <a:cs typeface="Symbol" charset="2"/>
              </a:rPr>
              <a:t>m</a:t>
            </a:r>
          </a:p>
        </p:txBody>
      </p:sp>
      <p:grpSp>
        <p:nvGrpSpPr>
          <p:cNvPr id="157" name="Group 156"/>
          <p:cNvGrpSpPr/>
          <p:nvPr/>
        </p:nvGrpSpPr>
        <p:grpSpPr>
          <a:xfrm rot="16200000">
            <a:off x="3921780" y="4354432"/>
            <a:ext cx="663743" cy="206732"/>
            <a:chOff x="5740858" y="1494076"/>
            <a:chExt cx="663743" cy="206732"/>
          </a:xfrm>
        </p:grpSpPr>
        <p:cxnSp>
          <p:nvCxnSpPr>
            <p:cNvPr id="158" name="Straight Connector 157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9" name="Straight Connector 158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60" name="Straight Connector 159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61" name="Straight Connector 160"/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163" name="TextBox 162"/>
          <p:cNvSpPr txBox="1"/>
          <p:nvPr/>
        </p:nvSpPr>
        <p:spPr>
          <a:xfrm>
            <a:off x="4304011" y="4292109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r>
              <a:rPr lang="en-US" sz="1400" dirty="0">
                <a:solidFill>
                  <a:srgbClr val="FF0000"/>
                </a:solidFill>
                <a:latin typeface="Symbol" charset="2"/>
                <a:cs typeface="Symbol" charset="2"/>
              </a:rPr>
              <a:t>m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763248" y="2182186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Verdana"/>
                <a:cs typeface="Verdana"/>
              </a:rPr>
              <a:t>C2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704303" y="4273098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Verdana"/>
                <a:cs typeface="Verdana"/>
              </a:rPr>
              <a:t>C3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36079" y="1950662"/>
            <a:ext cx="2622731" cy="1830978"/>
            <a:chOff x="236079" y="1950662"/>
            <a:chExt cx="2622731" cy="1830978"/>
          </a:xfrm>
        </p:grpSpPr>
        <p:sp>
          <p:nvSpPr>
            <p:cNvPr id="4" name="Rectangle 3"/>
            <p:cNvSpPr/>
            <p:nvPr/>
          </p:nvSpPr>
          <p:spPr>
            <a:xfrm>
              <a:off x="236079" y="1950662"/>
              <a:ext cx="2527169" cy="183097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367947" y="2051238"/>
              <a:ext cx="2490863" cy="1645603"/>
              <a:chOff x="5373422" y="1222676"/>
              <a:chExt cx="2490863" cy="1645603"/>
            </a:xfrm>
          </p:grpSpPr>
          <p:grpSp>
            <p:nvGrpSpPr>
              <p:cNvPr id="164" name="Group 163"/>
              <p:cNvGrpSpPr/>
              <p:nvPr/>
            </p:nvGrpSpPr>
            <p:grpSpPr>
              <a:xfrm>
                <a:off x="7070501" y="1222676"/>
                <a:ext cx="793784" cy="1645603"/>
                <a:chOff x="2780371" y="938671"/>
                <a:chExt cx="793784" cy="1645603"/>
              </a:xfrm>
            </p:grpSpPr>
            <p:sp>
              <p:nvSpPr>
                <p:cNvPr id="168" name="Oval 167"/>
                <p:cNvSpPr/>
                <p:nvPr/>
              </p:nvSpPr>
              <p:spPr bwMode="auto">
                <a:xfrm>
                  <a:off x="2780371" y="1864194"/>
                  <a:ext cx="423664" cy="432048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/>
                    <a:cs typeface="Verdana"/>
                  </a:endParaRPr>
                </a:p>
              </p:txBody>
            </p:sp>
            <p:pic>
              <p:nvPicPr>
                <p:cNvPr id="169" name="Picture 168"/>
                <p:cNvPicPr>
                  <a:picLocks noChangeAspect="1"/>
                </p:cNvPicPr>
                <p:nvPr/>
              </p:nvPicPr>
              <p:blipFill>
                <a:blip r:embed="rId2">
                  <a:biLevel thresh="75000"/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bright="-9000" contrast="-4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79981" y="1956607"/>
                  <a:ext cx="217945" cy="225729"/>
                </a:xfrm>
                <a:prstGeom prst="rect">
                  <a:avLst/>
                </a:prstGeom>
              </p:spPr>
            </p:pic>
            <p:cxnSp>
              <p:nvCxnSpPr>
                <p:cNvPr id="170" name="Straight Connector 169"/>
                <p:cNvCxnSpPr/>
                <p:nvPr/>
              </p:nvCxnSpPr>
              <p:spPr bwMode="auto">
                <a:xfrm>
                  <a:off x="2977648" y="938671"/>
                  <a:ext cx="596507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171" name="Group 170"/>
                <p:cNvGrpSpPr/>
                <p:nvPr/>
              </p:nvGrpSpPr>
              <p:grpSpPr>
                <a:xfrm>
                  <a:off x="2859259" y="2296242"/>
                  <a:ext cx="279648" cy="288032"/>
                  <a:chOff x="3079204" y="2996952"/>
                  <a:chExt cx="279648" cy="288032"/>
                </a:xfrm>
              </p:grpSpPr>
              <p:cxnSp>
                <p:nvCxnSpPr>
                  <p:cNvPr id="180" name="Straight Connector 179"/>
                  <p:cNvCxnSpPr/>
                  <p:nvPr/>
                </p:nvCxnSpPr>
                <p:spPr bwMode="auto">
                  <a:xfrm>
                    <a:off x="3223220" y="2996952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grpSp>
                <p:nvGrpSpPr>
                  <p:cNvPr id="181" name="Group 180"/>
                  <p:cNvGrpSpPr/>
                  <p:nvPr/>
                </p:nvGrpSpPr>
                <p:grpSpPr>
                  <a:xfrm>
                    <a:off x="3079204" y="3212976"/>
                    <a:ext cx="279648" cy="72008"/>
                    <a:chOff x="3447628" y="4437112"/>
                    <a:chExt cx="351656" cy="144016"/>
                  </a:xfrm>
                </p:grpSpPr>
                <p:cxnSp>
                  <p:nvCxnSpPr>
                    <p:cNvPr id="182" name="Straight Connector 181"/>
                    <p:cNvCxnSpPr/>
                    <p:nvPr/>
                  </p:nvCxnSpPr>
                  <p:spPr bwMode="auto">
                    <a:xfrm flipH="1">
                      <a:off x="3447628" y="4437112"/>
                      <a:ext cx="351656" cy="8384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83" name="Straight Connector 182"/>
                    <p:cNvCxnSpPr/>
                    <p:nvPr/>
                  </p:nvCxnSpPr>
                  <p:spPr bwMode="auto">
                    <a:xfrm flipH="1">
                      <a:off x="3511252" y="4509120"/>
                      <a:ext cx="216024" cy="8384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84" name="Straight Connector 183"/>
                    <p:cNvCxnSpPr/>
                    <p:nvPr/>
                  </p:nvCxnSpPr>
                  <p:spPr bwMode="auto">
                    <a:xfrm flipH="1">
                      <a:off x="3583260" y="4581128"/>
                      <a:ext cx="72008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</p:grpSp>
            </p:grpSp>
            <p:grpSp>
              <p:nvGrpSpPr>
                <p:cNvPr id="172" name="Group 171"/>
                <p:cNvGrpSpPr/>
                <p:nvPr/>
              </p:nvGrpSpPr>
              <p:grpSpPr>
                <a:xfrm>
                  <a:off x="2809574" y="938671"/>
                  <a:ext cx="354318" cy="907349"/>
                  <a:chOff x="4214737" y="3980542"/>
                  <a:chExt cx="561769" cy="1200039"/>
                </a:xfrm>
              </p:grpSpPr>
              <p:grpSp>
                <p:nvGrpSpPr>
                  <p:cNvPr id="173" name="Group 172"/>
                  <p:cNvGrpSpPr/>
                  <p:nvPr/>
                </p:nvGrpSpPr>
                <p:grpSpPr>
                  <a:xfrm>
                    <a:off x="4214737" y="4492711"/>
                    <a:ext cx="561769" cy="310216"/>
                    <a:chOff x="4214737" y="4492711"/>
                    <a:chExt cx="561769" cy="310216"/>
                  </a:xfrm>
                </p:grpSpPr>
                <p:cxnSp>
                  <p:nvCxnSpPr>
                    <p:cNvPr id="176" name="Straight Connector 175"/>
                    <p:cNvCxnSpPr/>
                    <p:nvPr/>
                  </p:nvCxnSpPr>
                  <p:spPr bwMode="auto">
                    <a:xfrm>
                      <a:off x="4214737" y="4492711"/>
                      <a:ext cx="532962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77" name="Straight Connector 176"/>
                    <p:cNvCxnSpPr/>
                    <p:nvPr/>
                  </p:nvCxnSpPr>
                  <p:spPr bwMode="auto">
                    <a:xfrm>
                      <a:off x="4340067" y="4591009"/>
                      <a:ext cx="284039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78" name="Straight Connector 177"/>
                    <p:cNvCxnSpPr/>
                    <p:nvPr/>
                  </p:nvCxnSpPr>
                  <p:spPr bwMode="auto">
                    <a:xfrm>
                      <a:off x="4243544" y="4704629"/>
                      <a:ext cx="532962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79" name="Straight Connector 178"/>
                    <p:cNvCxnSpPr/>
                    <p:nvPr/>
                  </p:nvCxnSpPr>
                  <p:spPr bwMode="auto">
                    <a:xfrm>
                      <a:off x="4368874" y="4802927"/>
                      <a:ext cx="284039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</p:grpSp>
              <p:cxnSp>
                <p:nvCxnSpPr>
                  <p:cNvPr id="174" name="Straight Connector 173"/>
                  <p:cNvCxnSpPr/>
                  <p:nvPr/>
                </p:nvCxnSpPr>
                <p:spPr bwMode="auto">
                  <a:xfrm>
                    <a:off x="4481218" y="3980542"/>
                    <a:ext cx="10001" cy="52346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75" name="Straight Connector 174"/>
                  <p:cNvCxnSpPr/>
                  <p:nvPr/>
                </p:nvCxnSpPr>
                <p:spPr bwMode="auto">
                  <a:xfrm>
                    <a:off x="4505808" y="4802927"/>
                    <a:ext cx="1" cy="37765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  <p:sp>
            <p:nvSpPr>
              <p:cNvPr id="165" name="TextBox 164"/>
              <p:cNvSpPr txBox="1"/>
              <p:nvPr/>
            </p:nvSpPr>
            <p:spPr>
              <a:xfrm>
                <a:off x="6196995" y="1609927"/>
                <a:ext cx="792088" cy="26161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Verdana"/>
                    <a:cs typeface="Verdana"/>
                  </a:rPr>
                  <a:t>2.5V DC</a:t>
                </a:r>
              </a:p>
            </p:txBody>
          </p:sp>
          <p:sp>
            <p:nvSpPr>
              <p:cNvPr id="166" name="TextBox 165"/>
              <p:cNvSpPr txBox="1"/>
              <p:nvPr/>
            </p:nvSpPr>
            <p:spPr>
              <a:xfrm>
                <a:off x="5373422" y="2121793"/>
                <a:ext cx="1640004" cy="4308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Verdana"/>
                    <a:cs typeface="Verdana"/>
                  </a:rPr>
                  <a:t>10kHz sine wave</a:t>
                </a:r>
              </a:p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Verdana"/>
                    <a:cs typeface="Verdana"/>
                  </a:rPr>
                  <a:t>1.65V peak-to-peak</a:t>
                </a:r>
              </a:p>
            </p:txBody>
          </p:sp>
          <p:sp>
            <p:nvSpPr>
              <p:cNvPr id="167" name="TextBox 166"/>
              <p:cNvSpPr txBox="1"/>
              <p:nvPr/>
            </p:nvSpPr>
            <p:spPr>
              <a:xfrm>
                <a:off x="7037849" y="1329414"/>
                <a:ext cx="3044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+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4114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4606462" y="1673663"/>
            <a:ext cx="1152128" cy="1368152"/>
            <a:chOff x="2503140" y="2852936"/>
            <a:chExt cx="1440160" cy="1368152"/>
          </a:xfrm>
        </p:grpSpPr>
        <p:cxnSp>
          <p:nvCxnSpPr>
            <p:cNvPr id="47" name="Straight Connector 46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52" name="TextBox 51"/>
          <p:cNvSpPr txBox="1"/>
          <p:nvPr/>
        </p:nvSpPr>
        <p:spPr>
          <a:xfrm>
            <a:off x="2890150" y="813434"/>
            <a:ext cx="100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Vcc = 5v</a:t>
            </a:r>
          </a:p>
        </p:txBody>
      </p:sp>
      <p:cxnSp>
        <p:nvCxnSpPr>
          <p:cNvPr id="54" name="Straight Connector 53"/>
          <p:cNvCxnSpPr/>
          <p:nvPr/>
        </p:nvCxnSpPr>
        <p:spPr bwMode="auto">
          <a:xfrm>
            <a:off x="5181752" y="1080283"/>
            <a:ext cx="776" cy="9534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55" name="Group 54"/>
          <p:cNvGrpSpPr/>
          <p:nvPr/>
        </p:nvGrpSpPr>
        <p:grpSpPr>
          <a:xfrm>
            <a:off x="5254534" y="2609767"/>
            <a:ext cx="279648" cy="288032"/>
            <a:chOff x="3079204" y="2996952"/>
            <a:chExt cx="279648" cy="288032"/>
          </a:xfrm>
        </p:grpSpPr>
        <p:cxnSp>
          <p:nvCxnSpPr>
            <p:cNvPr id="59" name="Straight Connector 58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61" name="Group 6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63" name="Straight Connector 62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4" name="Straight Connector 63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5" name="Straight Connector 64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66" name="TextBox 65"/>
          <p:cNvSpPr txBox="1"/>
          <p:nvPr/>
        </p:nvSpPr>
        <p:spPr>
          <a:xfrm>
            <a:off x="4592932" y="1817679"/>
            <a:ext cx="37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67" name="Straight Connector 66"/>
          <p:cNvCxnSpPr/>
          <p:nvPr/>
        </p:nvCxnSpPr>
        <p:spPr bwMode="auto">
          <a:xfrm flipH="1">
            <a:off x="4678470" y="2681775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4246422" y="2033703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 flipH="1">
            <a:off x="4246422" y="2681775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2" name="Straight Connector 71"/>
          <p:cNvCxnSpPr/>
          <p:nvPr/>
        </p:nvCxnSpPr>
        <p:spPr bwMode="auto">
          <a:xfrm flipH="1">
            <a:off x="5758590" y="2393743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 flipV="1">
            <a:off x="5902606" y="2393743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 flipV="1">
            <a:off x="4246422" y="2681775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8" name="Oval 87"/>
          <p:cNvSpPr/>
          <p:nvPr/>
        </p:nvSpPr>
        <p:spPr bwMode="auto">
          <a:xfrm>
            <a:off x="6550678" y="2321735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478670" y="1889687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V</a:t>
            </a:r>
            <a:r>
              <a:rPr lang="en-US" sz="1800" baseline="-25000" dirty="0">
                <a:latin typeface="Verdana"/>
                <a:cs typeface="Verdana"/>
              </a:rPr>
              <a:t>1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246422" y="3185831"/>
            <a:ext cx="1656184" cy="595809"/>
            <a:chOff x="3354361" y="3248980"/>
            <a:chExt cx="1656184" cy="595809"/>
          </a:xfrm>
        </p:grpSpPr>
        <p:sp>
          <p:nvSpPr>
            <p:cNvPr id="70" name="Rectangle 69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R2</a:t>
              </a: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5" name="Straight Connector 74"/>
            <p:cNvCxnSpPr>
              <a:stCxn id="70" idx="1"/>
            </p:cNvCxnSpPr>
            <p:nvPr/>
          </p:nvCxnSpPr>
          <p:spPr bwMode="auto">
            <a:xfrm flipH="1">
              <a:off x="3354361" y="3392996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4146449" y="353701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5182526" y="1457639"/>
            <a:ext cx="792087" cy="648071"/>
            <a:chOff x="2575148" y="1844825"/>
            <a:chExt cx="792087" cy="648071"/>
          </a:xfrm>
        </p:grpSpPr>
        <p:grpSp>
          <p:nvGrpSpPr>
            <p:cNvPr id="94" name="Group 93"/>
            <p:cNvGrpSpPr/>
            <p:nvPr/>
          </p:nvGrpSpPr>
          <p:grpSpPr>
            <a:xfrm>
              <a:off x="2575148" y="1844825"/>
              <a:ext cx="792087" cy="504056"/>
              <a:chOff x="3511253" y="2048847"/>
              <a:chExt cx="792087" cy="588065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5" name="Straight Connector 104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03" name="TextBox 102"/>
              <p:cNvSpPr txBox="1"/>
              <p:nvPr/>
            </p:nvSpPr>
            <p:spPr>
              <a:xfrm>
                <a:off x="3772425" y="2048847"/>
                <a:ext cx="530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Verdana"/>
                    <a:cs typeface="Verdana"/>
                  </a:rPr>
                  <a:t>0.1</a:t>
                </a:r>
                <a:r>
                  <a:rPr lang="en-US" sz="1200" dirty="0">
                    <a:latin typeface="Symbol" charset="2"/>
                    <a:cs typeface="Symbol" charset="2"/>
                  </a:rPr>
                  <a:t>m</a:t>
                </a:r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97" name="Straight Connector 96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98" name="Group 97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99" name="Straight Connector 98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0" name="Straight Connector 99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1" name="Straight Connector 100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110" name="TextBox 109"/>
          <p:cNvSpPr txBox="1"/>
          <p:nvPr/>
        </p:nvSpPr>
        <p:spPr>
          <a:xfrm>
            <a:off x="4563453" y="2229982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½ opamp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94494" y="1673663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326542" y="2537759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86582" y="2105711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18430" y="2393743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318430" y="1745671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581808" y="1693408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C1</a:t>
            </a:r>
          </a:p>
        </p:txBody>
      </p:sp>
      <p:grpSp>
        <p:nvGrpSpPr>
          <p:cNvPr id="123" name="Group 122"/>
          <p:cNvGrpSpPr/>
          <p:nvPr/>
        </p:nvGrpSpPr>
        <p:grpSpPr>
          <a:xfrm rot="16200000">
            <a:off x="3169973" y="1153348"/>
            <a:ext cx="1114384" cy="624261"/>
            <a:chOff x="3896161" y="2912751"/>
            <a:chExt cx="1114384" cy="624261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R4</a:t>
              </a:r>
            </a:p>
          </p:txBody>
        </p:sp>
        <p:cxnSp>
          <p:nvCxnSpPr>
            <p:cNvPr id="126" name="Straight Connector 125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6" name="Straight Connector 135"/>
            <p:cNvCxnSpPr>
              <a:stCxn id="124" idx="1"/>
            </p:cNvCxnSpPr>
            <p:nvPr/>
          </p:nvCxnSpPr>
          <p:spPr bwMode="auto">
            <a:xfrm rot="5400000">
              <a:off x="4021305" y="3267852"/>
              <a:ext cx="0" cy="2502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>
              <a:off x="4101153" y="2912751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 rot="16200000">
            <a:off x="3147328" y="2329865"/>
            <a:ext cx="1188131" cy="595808"/>
            <a:chOff x="3822414" y="2941204"/>
            <a:chExt cx="1188131" cy="595808"/>
          </a:xfrm>
        </p:grpSpPr>
        <p:sp>
          <p:nvSpPr>
            <p:cNvPr id="139" name="Rectangle 138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R3</a:t>
              </a:r>
            </a:p>
          </p:txBody>
        </p:sp>
        <p:cxnSp>
          <p:nvCxnSpPr>
            <p:cNvPr id="140" name="Straight Connector 139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1" name="Straight Connector 140"/>
            <p:cNvCxnSpPr>
              <a:stCxn id="139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42" name="TextBox 141"/>
            <p:cNvSpPr txBox="1"/>
            <p:nvPr/>
          </p:nvSpPr>
          <p:spPr>
            <a:xfrm>
              <a:off x="4073400" y="2941204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3751264" y="3221835"/>
            <a:ext cx="279648" cy="288032"/>
            <a:chOff x="3079204" y="2996952"/>
            <a:chExt cx="279648" cy="288032"/>
          </a:xfrm>
        </p:grpSpPr>
        <p:cxnSp>
          <p:nvCxnSpPr>
            <p:cNvPr id="144" name="Straight Connector 143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45" name="Group 144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46" name="Straight Connector 145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8" name="Straight Connector 147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cxnSp>
        <p:nvCxnSpPr>
          <p:cNvPr id="149" name="Straight Connector 148"/>
          <p:cNvCxnSpPr/>
          <p:nvPr/>
        </p:nvCxnSpPr>
        <p:spPr bwMode="auto">
          <a:xfrm flipH="1">
            <a:off x="3895280" y="1080283"/>
            <a:ext cx="1286472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0" name="Oval 149"/>
          <p:cNvSpPr/>
          <p:nvPr/>
        </p:nvSpPr>
        <p:spPr>
          <a:xfrm>
            <a:off x="5142899" y="1492910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Oval 150"/>
          <p:cNvSpPr/>
          <p:nvPr/>
        </p:nvSpPr>
        <p:spPr>
          <a:xfrm>
            <a:off x="3859123" y="200630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Oval 151"/>
          <p:cNvSpPr/>
          <p:nvPr/>
        </p:nvSpPr>
        <p:spPr>
          <a:xfrm>
            <a:off x="5862977" y="2369411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Oval 152"/>
          <p:cNvSpPr/>
          <p:nvPr/>
        </p:nvSpPr>
        <p:spPr>
          <a:xfrm>
            <a:off x="3859123" y="1047737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9" name="Group 88"/>
          <p:cNvGrpSpPr/>
          <p:nvPr/>
        </p:nvGrpSpPr>
        <p:grpSpPr>
          <a:xfrm rot="16200000">
            <a:off x="3505699" y="3477087"/>
            <a:ext cx="1188131" cy="595807"/>
            <a:chOff x="3822414" y="2941205"/>
            <a:chExt cx="1188131" cy="595807"/>
          </a:xfrm>
        </p:grpSpPr>
        <p:sp>
          <p:nvSpPr>
            <p:cNvPr id="95" name="Rectangle 94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R1</a:t>
              </a:r>
            </a:p>
          </p:txBody>
        </p:sp>
        <p:cxnSp>
          <p:nvCxnSpPr>
            <p:cNvPr id="109" name="Straight Connector 108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11" name="Straight Connector 110"/>
            <p:cNvCxnSpPr>
              <a:stCxn id="95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15" name="TextBox 114"/>
            <p:cNvSpPr txBox="1"/>
            <p:nvPr/>
          </p:nvSpPr>
          <p:spPr>
            <a:xfrm>
              <a:off x="4131108" y="2941205"/>
              <a:ext cx="5180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68k</a:t>
              </a: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4106598" y="4645654"/>
            <a:ext cx="279648" cy="288032"/>
            <a:chOff x="3079204" y="2996952"/>
            <a:chExt cx="279648" cy="288032"/>
          </a:xfrm>
        </p:grpSpPr>
        <p:cxnSp>
          <p:nvCxnSpPr>
            <p:cNvPr id="118" name="Straight Connector 117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21" name="Group 12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22" name="Straight Connector 121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5" name="Straight Connector 12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7" name="Straight Connector 12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28" name="Oval 127"/>
          <p:cNvSpPr/>
          <p:nvPr/>
        </p:nvSpPr>
        <p:spPr>
          <a:xfrm>
            <a:off x="4200735" y="3293110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4" name="Straight Connector 133"/>
          <p:cNvCxnSpPr/>
          <p:nvPr/>
        </p:nvCxnSpPr>
        <p:spPr bwMode="auto">
          <a:xfrm flipH="1">
            <a:off x="3415035" y="2033702"/>
            <a:ext cx="927937" cy="2567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2912875" y="1642885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r>
              <a:rPr lang="en-US" sz="1400" dirty="0">
                <a:solidFill>
                  <a:srgbClr val="FF0000"/>
                </a:solidFill>
                <a:latin typeface="Symbol" charset="2"/>
                <a:cs typeface="Symbol" charset="2"/>
              </a:rPr>
              <a:t>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304011" y="4292109"/>
            <a:ext cx="516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Verdana"/>
                <a:cs typeface="Verdana"/>
              </a:rPr>
              <a:t>10</a:t>
            </a:r>
            <a:r>
              <a:rPr lang="en-US" sz="1400" dirty="0">
                <a:solidFill>
                  <a:srgbClr val="FF0000"/>
                </a:solidFill>
                <a:latin typeface="Symbol" charset="2"/>
                <a:cs typeface="Symbol" charset="2"/>
              </a:rPr>
              <a:t>m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763248" y="2182186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Verdana"/>
                <a:cs typeface="Verdana"/>
              </a:rPr>
              <a:t>C2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704303" y="4273098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Verdana"/>
                <a:cs typeface="Verdana"/>
              </a:rPr>
              <a:t>C3</a:t>
            </a:r>
          </a:p>
        </p:txBody>
      </p:sp>
      <p:grpSp>
        <p:nvGrpSpPr>
          <p:cNvPr id="162" name="Group 161"/>
          <p:cNvGrpSpPr/>
          <p:nvPr/>
        </p:nvGrpSpPr>
        <p:grpSpPr>
          <a:xfrm>
            <a:off x="968739" y="1950662"/>
            <a:ext cx="1890071" cy="1830978"/>
            <a:chOff x="968739" y="1950662"/>
            <a:chExt cx="1890071" cy="1830978"/>
          </a:xfrm>
        </p:grpSpPr>
        <p:sp>
          <p:nvSpPr>
            <p:cNvPr id="164" name="Rectangle 163"/>
            <p:cNvSpPr/>
            <p:nvPr/>
          </p:nvSpPr>
          <p:spPr>
            <a:xfrm>
              <a:off x="968739" y="1950662"/>
              <a:ext cx="1794509" cy="183097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5" name="Group 164"/>
            <p:cNvGrpSpPr/>
            <p:nvPr/>
          </p:nvGrpSpPr>
          <p:grpSpPr>
            <a:xfrm>
              <a:off x="1191520" y="2051237"/>
              <a:ext cx="1667290" cy="1645604"/>
              <a:chOff x="6196995" y="1222675"/>
              <a:chExt cx="1667290" cy="1645604"/>
            </a:xfrm>
          </p:grpSpPr>
          <p:grpSp>
            <p:nvGrpSpPr>
              <p:cNvPr id="166" name="Group 165"/>
              <p:cNvGrpSpPr/>
              <p:nvPr/>
            </p:nvGrpSpPr>
            <p:grpSpPr>
              <a:xfrm>
                <a:off x="7099704" y="1222675"/>
                <a:ext cx="764581" cy="1645604"/>
                <a:chOff x="2809574" y="938670"/>
                <a:chExt cx="764581" cy="1645604"/>
              </a:xfrm>
            </p:grpSpPr>
            <p:cxnSp>
              <p:nvCxnSpPr>
                <p:cNvPr id="172" name="Straight Connector 171"/>
                <p:cNvCxnSpPr/>
                <p:nvPr/>
              </p:nvCxnSpPr>
              <p:spPr bwMode="auto">
                <a:xfrm>
                  <a:off x="2977648" y="938671"/>
                  <a:ext cx="596507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173" name="Group 172"/>
                <p:cNvGrpSpPr/>
                <p:nvPr/>
              </p:nvGrpSpPr>
              <p:grpSpPr>
                <a:xfrm>
                  <a:off x="2859259" y="2296242"/>
                  <a:ext cx="279648" cy="288032"/>
                  <a:chOff x="3079204" y="2996952"/>
                  <a:chExt cx="279648" cy="288032"/>
                </a:xfrm>
              </p:grpSpPr>
              <p:cxnSp>
                <p:nvCxnSpPr>
                  <p:cNvPr id="182" name="Straight Connector 181"/>
                  <p:cNvCxnSpPr/>
                  <p:nvPr/>
                </p:nvCxnSpPr>
                <p:spPr bwMode="auto">
                  <a:xfrm>
                    <a:off x="3223220" y="2996952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grpSp>
                <p:nvGrpSpPr>
                  <p:cNvPr id="183" name="Group 182"/>
                  <p:cNvGrpSpPr/>
                  <p:nvPr/>
                </p:nvGrpSpPr>
                <p:grpSpPr>
                  <a:xfrm>
                    <a:off x="3079204" y="3212976"/>
                    <a:ext cx="279648" cy="72008"/>
                    <a:chOff x="3447628" y="4437112"/>
                    <a:chExt cx="351656" cy="144016"/>
                  </a:xfrm>
                </p:grpSpPr>
                <p:cxnSp>
                  <p:nvCxnSpPr>
                    <p:cNvPr id="184" name="Straight Connector 183"/>
                    <p:cNvCxnSpPr/>
                    <p:nvPr/>
                  </p:nvCxnSpPr>
                  <p:spPr bwMode="auto">
                    <a:xfrm flipH="1">
                      <a:off x="3447628" y="4437112"/>
                      <a:ext cx="351656" cy="8384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85" name="Straight Connector 184"/>
                    <p:cNvCxnSpPr/>
                    <p:nvPr/>
                  </p:nvCxnSpPr>
                  <p:spPr bwMode="auto">
                    <a:xfrm flipH="1">
                      <a:off x="3511252" y="4509120"/>
                      <a:ext cx="216024" cy="8384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86" name="Straight Connector 185"/>
                    <p:cNvCxnSpPr/>
                    <p:nvPr/>
                  </p:nvCxnSpPr>
                  <p:spPr bwMode="auto">
                    <a:xfrm flipH="1">
                      <a:off x="3583260" y="4581128"/>
                      <a:ext cx="72008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</p:grpSp>
            </p:grpSp>
            <p:grpSp>
              <p:nvGrpSpPr>
                <p:cNvPr id="174" name="Group 173"/>
                <p:cNvGrpSpPr/>
                <p:nvPr/>
              </p:nvGrpSpPr>
              <p:grpSpPr>
                <a:xfrm>
                  <a:off x="2809574" y="938670"/>
                  <a:ext cx="354318" cy="1386622"/>
                  <a:chOff x="4214737" y="3980542"/>
                  <a:chExt cx="561769" cy="1833915"/>
                </a:xfrm>
              </p:grpSpPr>
              <p:grpSp>
                <p:nvGrpSpPr>
                  <p:cNvPr id="175" name="Group 174"/>
                  <p:cNvGrpSpPr/>
                  <p:nvPr/>
                </p:nvGrpSpPr>
                <p:grpSpPr>
                  <a:xfrm>
                    <a:off x="4214737" y="4492711"/>
                    <a:ext cx="561769" cy="310216"/>
                    <a:chOff x="4214737" y="4492711"/>
                    <a:chExt cx="561769" cy="310216"/>
                  </a:xfrm>
                </p:grpSpPr>
                <p:cxnSp>
                  <p:nvCxnSpPr>
                    <p:cNvPr id="178" name="Straight Connector 177"/>
                    <p:cNvCxnSpPr/>
                    <p:nvPr/>
                  </p:nvCxnSpPr>
                  <p:spPr bwMode="auto">
                    <a:xfrm>
                      <a:off x="4214737" y="4492711"/>
                      <a:ext cx="532962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79" name="Straight Connector 178"/>
                    <p:cNvCxnSpPr/>
                    <p:nvPr/>
                  </p:nvCxnSpPr>
                  <p:spPr bwMode="auto">
                    <a:xfrm>
                      <a:off x="4340067" y="4591009"/>
                      <a:ext cx="284039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80" name="Straight Connector 179"/>
                    <p:cNvCxnSpPr/>
                    <p:nvPr/>
                  </p:nvCxnSpPr>
                  <p:spPr bwMode="auto">
                    <a:xfrm>
                      <a:off x="4243544" y="4704629"/>
                      <a:ext cx="532962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81" name="Straight Connector 180"/>
                    <p:cNvCxnSpPr/>
                    <p:nvPr/>
                  </p:nvCxnSpPr>
                  <p:spPr bwMode="auto">
                    <a:xfrm>
                      <a:off x="4368874" y="4802927"/>
                      <a:ext cx="284039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</p:grpSp>
              <p:cxnSp>
                <p:nvCxnSpPr>
                  <p:cNvPr id="176" name="Straight Connector 175"/>
                  <p:cNvCxnSpPr/>
                  <p:nvPr/>
                </p:nvCxnSpPr>
                <p:spPr bwMode="auto">
                  <a:xfrm>
                    <a:off x="4481218" y="3980542"/>
                    <a:ext cx="10001" cy="52346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77" name="Straight Connector 176"/>
                  <p:cNvCxnSpPr/>
                  <p:nvPr/>
                </p:nvCxnSpPr>
                <p:spPr bwMode="auto">
                  <a:xfrm>
                    <a:off x="4505808" y="4802927"/>
                    <a:ext cx="1" cy="37765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87" name="Straight Connector 186"/>
                  <p:cNvCxnSpPr/>
                  <p:nvPr/>
                </p:nvCxnSpPr>
                <p:spPr bwMode="auto">
                  <a:xfrm>
                    <a:off x="4518112" y="5139383"/>
                    <a:ext cx="3737" cy="67507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38100" cap="flat" cmpd="sng" algn="ctr">
                    <a:solidFill>
                      <a:srgbClr val="B9000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  <p:sp>
            <p:nvSpPr>
              <p:cNvPr id="167" name="TextBox 166"/>
              <p:cNvSpPr txBox="1"/>
              <p:nvPr/>
            </p:nvSpPr>
            <p:spPr>
              <a:xfrm>
                <a:off x="6196995" y="1609927"/>
                <a:ext cx="792088" cy="26161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Verdana"/>
                    <a:cs typeface="Verdana"/>
                  </a:rPr>
                  <a:t>1V DC</a:t>
                </a:r>
              </a:p>
            </p:txBody>
          </p:sp>
          <p:sp>
            <p:nvSpPr>
              <p:cNvPr id="169" name="TextBox 168"/>
              <p:cNvSpPr txBox="1"/>
              <p:nvPr/>
            </p:nvSpPr>
            <p:spPr>
              <a:xfrm>
                <a:off x="7037849" y="1329414"/>
                <a:ext cx="3044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+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7393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4606462" y="1673663"/>
            <a:ext cx="1152128" cy="1368152"/>
            <a:chOff x="2503140" y="2852936"/>
            <a:chExt cx="1440160" cy="1368152"/>
          </a:xfrm>
        </p:grpSpPr>
        <p:cxnSp>
          <p:nvCxnSpPr>
            <p:cNvPr id="47" name="Straight Connector 46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52" name="TextBox 51"/>
          <p:cNvSpPr txBox="1"/>
          <p:nvPr/>
        </p:nvSpPr>
        <p:spPr>
          <a:xfrm>
            <a:off x="2890150" y="813434"/>
            <a:ext cx="100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Vcc = 5v</a:t>
            </a:r>
          </a:p>
        </p:txBody>
      </p:sp>
      <p:cxnSp>
        <p:nvCxnSpPr>
          <p:cNvPr id="54" name="Straight Connector 53"/>
          <p:cNvCxnSpPr/>
          <p:nvPr/>
        </p:nvCxnSpPr>
        <p:spPr bwMode="auto">
          <a:xfrm>
            <a:off x="5181752" y="1080283"/>
            <a:ext cx="776" cy="9534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55" name="Group 54"/>
          <p:cNvGrpSpPr/>
          <p:nvPr/>
        </p:nvGrpSpPr>
        <p:grpSpPr>
          <a:xfrm>
            <a:off x="5254534" y="2609767"/>
            <a:ext cx="279648" cy="288032"/>
            <a:chOff x="3079204" y="2996952"/>
            <a:chExt cx="279648" cy="288032"/>
          </a:xfrm>
        </p:grpSpPr>
        <p:cxnSp>
          <p:nvCxnSpPr>
            <p:cNvPr id="59" name="Straight Connector 58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61" name="Group 6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63" name="Straight Connector 62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4" name="Straight Connector 63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5" name="Straight Connector 64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66" name="TextBox 65"/>
          <p:cNvSpPr txBox="1"/>
          <p:nvPr/>
        </p:nvSpPr>
        <p:spPr>
          <a:xfrm>
            <a:off x="4592932" y="1817679"/>
            <a:ext cx="37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67" name="Straight Connector 66"/>
          <p:cNvCxnSpPr/>
          <p:nvPr/>
        </p:nvCxnSpPr>
        <p:spPr bwMode="auto">
          <a:xfrm flipH="1">
            <a:off x="4678470" y="2681775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4246422" y="2033703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 flipH="1">
            <a:off x="4246422" y="2681775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2" name="Straight Connector 71"/>
          <p:cNvCxnSpPr/>
          <p:nvPr/>
        </p:nvCxnSpPr>
        <p:spPr bwMode="auto">
          <a:xfrm flipH="1">
            <a:off x="5758590" y="2393743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 flipV="1">
            <a:off x="5902606" y="2393743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 flipV="1">
            <a:off x="4246422" y="2681775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8" name="Oval 87"/>
          <p:cNvSpPr/>
          <p:nvPr/>
        </p:nvSpPr>
        <p:spPr bwMode="auto">
          <a:xfrm>
            <a:off x="6550678" y="2321735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478670" y="1889687"/>
            <a:ext cx="47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Vo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246422" y="3185831"/>
            <a:ext cx="1656184" cy="595809"/>
            <a:chOff x="3354361" y="3248980"/>
            <a:chExt cx="1656184" cy="595809"/>
          </a:xfrm>
        </p:grpSpPr>
        <p:sp>
          <p:nvSpPr>
            <p:cNvPr id="70" name="Rectangle 69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R2</a:t>
              </a: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5" name="Straight Connector 74"/>
            <p:cNvCxnSpPr>
              <a:stCxn id="70" idx="1"/>
            </p:cNvCxnSpPr>
            <p:nvPr/>
          </p:nvCxnSpPr>
          <p:spPr bwMode="auto">
            <a:xfrm flipH="1">
              <a:off x="3354361" y="3392996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4146449" y="353701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5182526" y="1457639"/>
            <a:ext cx="792087" cy="648071"/>
            <a:chOff x="2575148" y="1844825"/>
            <a:chExt cx="792087" cy="648071"/>
          </a:xfrm>
        </p:grpSpPr>
        <p:grpSp>
          <p:nvGrpSpPr>
            <p:cNvPr id="94" name="Group 93"/>
            <p:cNvGrpSpPr/>
            <p:nvPr/>
          </p:nvGrpSpPr>
          <p:grpSpPr>
            <a:xfrm>
              <a:off x="2575148" y="1844825"/>
              <a:ext cx="792087" cy="504056"/>
              <a:chOff x="3511253" y="2048847"/>
              <a:chExt cx="792087" cy="588065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5" name="Straight Connector 104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03" name="TextBox 102"/>
              <p:cNvSpPr txBox="1"/>
              <p:nvPr/>
            </p:nvSpPr>
            <p:spPr>
              <a:xfrm>
                <a:off x="3772425" y="2048847"/>
                <a:ext cx="530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Verdana"/>
                    <a:cs typeface="Verdana"/>
                  </a:rPr>
                  <a:t>0.1</a:t>
                </a:r>
                <a:r>
                  <a:rPr lang="en-US" sz="1200" dirty="0">
                    <a:latin typeface="Symbol" charset="2"/>
                    <a:cs typeface="Symbol" charset="2"/>
                  </a:rPr>
                  <a:t>m</a:t>
                </a:r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97" name="Straight Connector 96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98" name="Group 97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99" name="Straight Connector 98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0" name="Straight Connector 99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1" name="Straight Connector 100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110" name="TextBox 109"/>
          <p:cNvSpPr txBox="1"/>
          <p:nvPr/>
        </p:nvSpPr>
        <p:spPr>
          <a:xfrm>
            <a:off x="4563453" y="2229982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½ opamp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94494" y="1673663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326542" y="2537759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86582" y="2105711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18430" y="2393743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318430" y="1745671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581808" y="1693408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C1</a:t>
            </a:r>
          </a:p>
        </p:txBody>
      </p:sp>
      <p:grpSp>
        <p:nvGrpSpPr>
          <p:cNvPr id="123" name="Group 122"/>
          <p:cNvGrpSpPr/>
          <p:nvPr/>
        </p:nvGrpSpPr>
        <p:grpSpPr>
          <a:xfrm rot="16200000">
            <a:off x="3169973" y="1153348"/>
            <a:ext cx="1114384" cy="624261"/>
            <a:chOff x="3896161" y="2912751"/>
            <a:chExt cx="1114384" cy="624261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R4</a:t>
              </a:r>
            </a:p>
          </p:txBody>
        </p:sp>
        <p:cxnSp>
          <p:nvCxnSpPr>
            <p:cNvPr id="126" name="Straight Connector 125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6" name="Straight Connector 135"/>
            <p:cNvCxnSpPr>
              <a:stCxn id="124" idx="1"/>
            </p:cNvCxnSpPr>
            <p:nvPr/>
          </p:nvCxnSpPr>
          <p:spPr bwMode="auto">
            <a:xfrm rot="5400000">
              <a:off x="4021305" y="3267852"/>
              <a:ext cx="0" cy="2502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>
              <a:off x="4101153" y="2912751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 rot="16200000">
            <a:off x="3147328" y="2329865"/>
            <a:ext cx="1188131" cy="595808"/>
            <a:chOff x="3822414" y="2941204"/>
            <a:chExt cx="1188131" cy="595808"/>
          </a:xfrm>
        </p:grpSpPr>
        <p:sp>
          <p:nvSpPr>
            <p:cNvPr id="139" name="Rectangle 138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R3</a:t>
              </a:r>
            </a:p>
          </p:txBody>
        </p:sp>
        <p:cxnSp>
          <p:nvCxnSpPr>
            <p:cNvPr id="140" name="Straight Connector 139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1" name="Straight Connector 140"/>
            <p:cNvCxnSpPr>
              <a:stCxn id="139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42" name="TextBox 141"/>
            <p:cNvSpPr txBox="1"/>
            <p:nvPr/>
          </p:nvSpPr>
          <p:spPr>
            <a:xfrm>
              <a:off x="4073400" y="2941204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3751264" y="3221835"/>
            <a:ext cx="279648" cy="288032"/>
            <a:chOff x="3079204" y="2996952"/>
            <a:chExt cx="279648" cy="288032"/>
          </a:xfrm>
        </p:grpSpPr>
        <p:cxnSp>
          <p:nvCxnSpPr>
            <p:cNvPr id="144" name="Straight Connector 143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45" name="Group 144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46" name="Straight Connector 145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8" name="Straight Connector 147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cxnSp>
        <p:nvCxnSpPr>
          <p:cNvPr id="149" name="Straight Connector 148"/>
          <p:cNvCxnSpPr/>
          <p:nvPr/>
        </p:nvCxnSpPr>
        <p:spPr bwMode="auto">
          <a:xfrm flipH="1">
            <a:off x="3895280" y="1080283"/>
            <a:ext cx="1286472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0" name="Oval 149"/>
          <p:cNvSpPr/>
          <p:nvPr/>
        </p:nvSpPr>
        <p:spPr>
          <a:xfrm>
            <a:off x="5142899" y="1492910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Oval 150"/>
          <p:cNvSpPr/>
          <p:nvPr/>
        </p:nvSpPr>
        <p:spPr>
          <a:xfrm>
            <a:off x="3859123" y="200630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Oval 151"/>
          <p:cNvSpPr/>
          <p:nvPr/>
        </p:nvSpPr>
        <p:spPr>
          <a:xfrm>
            <a:off x="5862977" y="2369411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Oval 152"/>
          <p:cNvSpPr/>
          <p:nvPr/>
        </p:nvSpPr>
        <p:spPr>
          <a:xfrm>
            <a:off x="3859123" y="1047737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9" name="Group 88"/>
          <p:cNvGrpSpPr/>
          <p:nvPr/>
        </p:nvGrpSpPr>
        <p:grpSpPr>
          <a:xfrm rot="16200000">
            <a:off x="3505700" y="3477088"/>
            <a:ext cx="1188131" cy="595806"/>
            <a:chOff x="3822414" y="2941206"/>
            <a:chExt cx="1188131" cy="595806"/>
          </a:xfrm>
        </p:grpSpPr>
        <p:sp>
          <p:nvSpPr>
            <p:cNvPr id="95" name="Rectangle 94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R1</a:t>
              </a:r>
            </a:p>
          </p:txBody>
        </p:sp>
        <p:cxnSp>
          <p:nvCxnSpPr>
            <p:cNvPr id="109" name="Straight Connector 108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11" name="Straight Connector 110"/>
            <p:cNvCxnSpPr>
              <a:stCxn id="95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15" name="TextBox 114"/>
            <p:cNvSpPr txBox="1"/>
            <p:nvPr/>
          </p:nvSpPr>
          <p:spPr>
            <a:xfrm>
              <a:off x="4131108" y="2941206"/>
              <a:ext cx="5180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68k</a:t>
              </a: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4106598" y="4645654"/>
            <a:ext cx="279648" cy="288032"/>
            <a:chOff x="3079204" y="2996952"/>
            <a:chExt cx="279648" cy="288032"/>
          </a:xfrm>
        </p:grpSpPr>
        <p:cxnSp>
          <p:nvCxnSpPr>
            <p:cNvPr id="118" name="Straight Connector 117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21" name="Group 12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22" name="Straight Connector 121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5" name="Straight Connector 12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7" name="Straight Connector 12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28" name="Oval 127"/>
          <p:cNvSpPr/>
          <p:nvPr/>
        </p:nvSpPr>
        <p:spPr>
          <a:xfrm>
            <a:off x="4200735" y="3293110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4" name="Straight Connector 133"/>
          <p:cNvCxnSpPr/>
          <p:nvPr/>
        </p:nvCxnSpPr>
        <p:spPr bwMode="auto">
          <a:xfrm flipH="1">
            <a:off x="3415035" y="2033702"/>
            <a:ext cx="927937" cy="2567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2912875" y="1642885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r>
              <a:rPr lang="en-US" sz="1400" dirty="0">
                <a:solidFill>
                  <a:srgbClr val="FF0000"/>
                </a:solidFill>
                <a:latin typeface="Symbol" charset="2"/>
                <a:cs typeface="Symbol" charset="2"/>
              </a:rPr>
              <a:t>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304011" y="4292109"/>
            <a:ext cx="516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Verdana"/>
                <a:cs typeface="Verdana"/>
              </a:rPr>
              <a:t>10</a:t>
            </a:r>
            <a:r>
              <a:rPr lang="en-US" sz="1400" dirty="0">
                <a:solidFill>
                  <a:srgbClr val="FF0000"/>
                </a:solidFill>
                <a:latin typeface="Symbol" charset="2"/>
                <a:cs typeface="Symbol" charset="2"/>
              </a:rPr>
              <a:t>m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763248" y="2182186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Verdana"/>
                <a:cs typeface="Verdana"/>
              </a:rPr>
              <a:t>C2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704303" y="4273098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Verdana"/>
                <a:cs typeface="Verdana"/>
              </a:rPr>
              <a:t>C3</a:t>
            </a:r>
          </a:p>
        </p:txBody>
      </p:sp>
      <p:cxnSp>
        <p:nvCxnSpPr>
          <p:cNvPr id="162" name="Straight Connector 161"/>
          <p:cNvCxnSpPr/>
          <p:nvPr/>
        </p:nvCxnSpPr>
        <p:spPr bwMode="auto">
          <a:xfrm flipH="1">
            <a:off x="2823328" y="2048750"/>
            <a:ext cx="591707" cy="2567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64" name="Straight Connector 163"/>
          <p:cNvCxnSpPr/>
          <p:nvPr/>
        </p:nvCxnSpPr>
        <p:spPr bwMode="auto">
          <a:xfrm flipV="1">
            <a:off x="4250614" y="4273098"/>
            <a:ext cx="3039" cy="37255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66" name="Rectangle 165"/>
          <p:cNvSpPr/>
          <p:nvPr/>
        </p:nvSpPr>
        <p:spPr>
          <a:xfrm>
            <a:off x="236079" y="1950662"/>
            <a:ext cx="2527169" cy="183097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8" name="Group 167"/>
          <p:cNvGrpSpPr/>
          <p:nvPr/>
        </p:nvGrpSpPr>
        <p:grpSpPr>
          <a:xfrm>
            <a:off x="2065026" y="2067520"/>
            <a:ext cx="793784" cy="1645603"/>
            <a:chOff x="2780371" y="938671"/>
            <a:chExt cx="793784" cy="1645603"/>
          </a:xfrm>
        </p:grpSpPr>
        <p:sp>
          <p:nvSpPr>
            <p:cNvPr id="172" name="Oval 171"/>
            <p:cNvSpPr/>
            <p:nvPr/>
          </p:nvSpPr>
          <p:spPr bwMode="auto">
            <a:xfrm>
              <a:off x="2780371" y="1864194"/>
              <a:ext cx="423664" cy="432048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pic>
          <p:nvPicPr>
            <p:cNvPr id="173" name="Picture 172"/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9000" contrast="-4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79981" y="1956607"/>
              <a:ext cx="217945" cy="225729"/>
            </a:xfrm>
            <a:prstGeom prst="rect">
              <a:avLst/>
            </a:prstGeom>
          </p:spPr>
        </p:pic>
        <p:cxnSp>
          <p:nvCxnSpPr>
            <p:cNvPr id="174" name="Straight Connector 173"/>
            <p:cNvCxnSpPr/>
            <p:nvPr/>
          </p:nvCxnSpPr>
          <p:spPr bwMode="auto">
            <a:xfrm>
              <a:off x="2977648" y="938671"/>
              <a:ext cx="59650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75" name="Group 174"/>
            <p:cNvGrpSpPr/>
            <p:nvPr/>
          </p:nvGrpSpPr>
          <p:grpSpPr>
            <a:xfrm>
              <a:off x="2859259" y="2296242"/>
              <a:ext cx="279648" cy="288032"/>
              <a:chOff x="3079204" y="2996952"/>
              <a:chExt cx="279648" cy="288032"/>
            </a:xfrm>
          </p:grpSpPr>
          <p:cxnSp>
            <p:nvCxnSpPr>
              <p:cNvPr id="184" name="Straight Connector 183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85" name="Group 184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186" name="Straight Connector 185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87" name="Straight Connector 186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88" name="Straight Connector 187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grpSp>
          <p:nvGrpSpPr>
            <p:cNvPr id="176" name="Group 175"/>
            <p:cNvGrpSpPr/>
            <p:nvPr/>
          </p:nvGrpSpPr>
          <p:grpSpPr>
            <a:xfrm>
              <a:off x="2977649" y="938671"/>
              <a:ext cx="15510" cy="907349"/>
              <a:chOff x="4481218" y="3980542"/>
              <a:chExt cx="24591" cy="1200039"/>
            </a:xfrm>
          </p:grpSpPr>
          <p:cxnSp>
            <p:nvCxnSpPr>
              <p:cNvPr id="178" name="Straight Connector 177"/>
              <p:cNvCxnSpPr/>
              <p:nvPr/>
            </p:nvCxnSpPr>
            <p:spPr bwMode="auto">
              <a:xfrm>
                <a:off x="4481218" y="3980542"/>
                <a:ext cx="10001" cy="52346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79" name="Straight Connector 178"/>
              <p:cNvCxnSpPr/>
              <p:nvPr/>
            </p:nvCxnSpPr>
            <p:spPr bwMode="auto">
              <a:xfrm>
                <a:off x="4505808" y="4802927"/>
                <a:ext cx="1" cy="37765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70" name="TextBox 169"/>
          <p:cNvSpPr txBox="1"/>
          <p:nvPr/>
        </p:nvSpPr>
        <p:spPr>
          <a:xfrm>
            <a:off x="367947" y="2966637"/>
            <a:ext cx="1640004" cy="4308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10kHz sine wave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1V peak-to-peak</a:t>
            </a:r>
          </a:p>
        </p:txBody>
      </p:sp>
      <p:cxnSp>
        <p:nvCxnSpPr>
          <p:cNvPr id="189" name="Straight Connector 188"/>
          <p:cNvCxnSpPr/>
          <p:nvPr/>
        </p:nvCxnSpPr>
        <p:spPr bwMode="auto">
          <a:xfrm flipV="1">
            <a:off x="2262303" y="2390825"/>
            <a:ext cx="3039" cy="37255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3067150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6215344" y="1745671"/>
            <a:ext cx="1152128" cy="1368152"/>
            <a:chOff x="2503140" y="2852936"/>
            <a:chExt cx="1440160" cy="1368152"/>
          </a:xfrm>
        </p:grpSpPr>
        <p:cxnSp>
          <p:nvCxnSpPr>
            <p:cNvPr id="47" name="Straight Connector 46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52" name="TextBox 51"/>
          <p:cNvSpPr txBox="1"/>
          <p:nvPr/>
        </p:nvSpPr>
        <p:spPr>
          <a:xfrm>
            <a:off x="4499032" y="885442"/>
            <a:ext cx="100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Vcc = 5v</a:t>
            </a:r>
          </a:p>
        </p:txBody>
      </p:sp>
      <p:cxnSp>
        <p:nvCxnSpPr>
          <p:cNvPr id="54" name="Straight Connector 53"/>
          <p:cNvCxnSpPr/>
          <p:nvPr/>
        </p:nvCxnSpPr>
        <p:spPr bwMode="auto">
          <a:xfrm>
            <a:off x="6790634" y="1152291"/>
            <a:ext cx="776" cy="9534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55" name="Group 54"/>
          <p:cNvGrpSpPr/>
          <p:nvPr/>
        </p:nvGrpSpPr>
        <p:grpSpPr>
          <a:xfrm>
            <a:off x="6863416" y="2681775"/>
            <a:ext cx="279648" cy="288032"/>
            <a:chOff x="3079204" y="2996952"/>
            <a:chExt cx="279648" cy="288032"/>
          </a:xfrm>
        </p:grpSpPr>
        <p:cxnSp>
          <p:nvCxnSpPr>
            <p:cNvPr id="59" name="Straight Connector 58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61" name="Group 6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63" name="Straight Connector 62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4" name="Straight Connector 63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5" name="Straight Connector 64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66" name="TextBox 65"/>
          <p:cNvSpPr txBox="1"/>
          <p:nvPr/>
        </p:nvSpPr>
        <p:spPr>
          <a:xfrm>
            <a:off x="6201814" y="1889687"/>
            <a:ext cx="37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67" name="Straight Connector 66"/>
          <p:cNvCxnSpPr/>
          <p:nvPr/>
        </p:nvCxnSpPr>
        <p:spPr bwMode="auto">
          <a:xfrm flipH="1">
            <a:off x="6287352" y="2753783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5855304" y="2105711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 flipH="1">
            <a:off x="5855304" y="2753783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2" name="Straight Connector 71"/>
          <p:cNvCxnSpPr/>
          <p:nvPr/>
        </p:nvCxnSpPr>
        <p:spPr bwMode="auto">
          <a:xfrm flipH="1">
            <a:off x="7367472" y="2465751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 flipV="1">
            <a:off x="7511488" y="2465751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 flipV="1">
            <a:off x="5855304" y="2753783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8" name="Oval 87"/>
          <p:cNvSpPr/>
          <p:nvPr/>
        </p:nvSpPr>
        <p:spPr bwMode="auto">
          <a:xfrm>
            <a:off x="8159560" y="2393743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087552" y="2073193"/>
            <a:ext cx="420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Vo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855304" y="3257839"/>
            <a:ext cx="1656184" cy="595809"/>
            <a:chOff x="3354361" y="3248980"/>
            <a:chExt cx="1656184" cy="595809"/>
          </a:xfrm>
        </p:grpSpPr>
        <p:sp>
          <p:nvSpPr>
            <p:cNvPr id="70" name="Rectangle 69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R3</a:t>
              </a: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5" name="Straight Connector 74"/>
            <p:cNvCxnSpPr>
              <a:stCxn id="70" idx="1"/>
            </p:cNvCxnSpPr>
            <p:nvPr/>
          </p:nvCxnSpPr>
          <p:spPr bwMode="auto">
            <a:xfrm flipH="1">
              <a:off x="3354361" y="3392996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4146449" y="353701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791408" y="1529647"/>
            <a:ext cx="792087" cy="648071"/>
            <a:chOff x="2575148" y="1844825"/>
            <a:chExt cx="792087" cy="648071"/>
          </a:xfrm>
        </p:grpSpPr>
        <p:grpSp>
          <p:nvGrpSpPr>
            <p:cNvPr id="94" name="Group 93"/>
            <p:cNvGrpSpPr/>
            <p:nvPr/>
          </p:nvGrpSpPr>
          <p:grpSpPr>
            <a:xfrm>
              <a:off x="2575148" y="1844825"/>
              <a:ext cx="792087" cy="504056"/>
              <a:chOff x="3511253" y="2048847"/>
              <a:chExt cx="792087" cy="588065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5" name="Straight Connector 104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03" name="TextBox 102"/>
              <p:cNvSpPr txBox="1"/>
              <p:nvPr/>
            </p:nvSpPr>
            <p:spPr>
              <a:xfrm>
                <a:off x="3772425" y="2048847"/>
                <a:ext cx="530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Verdana"/>
                    <a:cs typeface="Verdana"/>
                  </a:rPr>
                  <a:t>0.1</a:t>
                </a:r>
                <a:r>
                  <a:rPr lang="en-US" sz="1200" dirty="0">
                    <a:latin typeface="Symbol" charset="2"/>
                    <a:cs typeface="Symbol" charset="2"/>
                  </a:rPr>
                  <a:t>m</a:t>
                </a:r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97" name="Straight Connector 96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98" name="Group 97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99" name="Straight Connector 98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0" name="Straight Connector 99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1" name="Straight Connector 100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110" name="TextBox 109"/>
          <p:cNvSpPr txBox="1"/>
          <p:nvPr/>
        </p:nvSpPr>
        <p:spPr>
          <a:xfrm>
            <a:off x="6172335" y="2301990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½ opamp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03376" y="1745671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35424" y="2609767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295464" y="2177719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927312" y="2465751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927312" y="1817679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90690" y="1765416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C1</a:t>
            </a:r>
          </a:p>
        </p:txBody>
      </p:sp>
      <p:grpSp>
        <p:nvGrpSpPr>
          <p:cNvPr id="123" name="Group 122"/>
          <p:cNvGrpSpPr/>
          <p:nvPr/>
        </p:nvGrpSpPr>
        <p:grpSpPr>
          <a:xfrm rot="16200000">
            <a:off x="4778855" y="1225356"/>
            <a:ext cx="1114384" cy="624261"/>
            <a:chOff x="3896161" y="2912751"/>
            <a:chExt cx="1114384" cy="624261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R1</a:t>
              </a:r>
            </a:p>
          </p:txBody>
        </p:sp>
        <p:cxnSp>
          <p:nvCxnSpPr>
            <p:cNvPr id="126" name="Straight Connector 125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6" name="Straight Connector 135"/>
            <p:cNvCxnSpPr>
              <a:stCxn id="124" idx="1"/>
            </p:cNvCxnSpPr>
            <p:nvPr/>
          </p:nvCxnSpPr>
          <p:spPr bwMode="auto">
            <a:xfrm rot="5400000">
              <a:off x="4021305" y="3267852"/>
              <a:ext cx="0" cy="2502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>
              <a:off x="4101153" y="2912751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 rot="16200000">
            <a:off x="4756210" y="2401873"/>
            <a:ext cx="1188131" cy="595808"/>
            <a:chOff x="3822414" y="2941204"/>
            <a:chExt cx="1188131" cy="595808"/>
          </a:xfrm>
        </p:grpSpPr>
        <p:sp>
          <p:nvSpPr>
            <p:cNvPr id="139" name="Rectangle 138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R2</a:t>
              </a:r>
            </a:p>
          </p:txBody>
        </p:sp>
        <p:cxnSp>
          <p:nvCxnSpPr>
            <p:cNvPr id="140" name="Straight Connector 139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1" name="Straight Connector 140"/>
            <p:cNvCxnSpPr>
              <a:stCxn id="139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42" name="TextBox 141"/>
            <p:cNvSpPr txBox="1"/>
            <p:nvPr/>
          </p:nvSpPr>
          <p:spPr>
            <a:xfrm>
              <a:off x="4073400" y="2941204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5360146" y="3293843"/>
            <a:ext cx="279648" cy="288032"/>
            <a:chOff x="3079204" y="2996952"/>
            <a:chExt cx="279648" cy="288032"/>
          </a:xfrm>
        </p:grpSpPr>
        <p:cxnSp>
          <p:nvCxnSpPr>
            <p:cNvPr id="144" name="Straight Connector 143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45" name="Group 144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46" name="Straight Connector 145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8" name="Straight Connector 147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cxnSp>
        <p:nvCxnSpPr>
          <p:cNvPr id="149" name="Straight Connector 148"/>
          <p:cNvCxnSpPr/>
          <p:nvPr/>
        </p:nvCxnSpPr>
        <p:spPr bwMode="auto">
          <a:xfrm flipH="1">
            <a:off x="5504162" y="1152291"/>
            <a:ext cx="1286472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0" name="Oval 149"/>
          <p:cNvSpPr/>
          <p:nvPr/>
        </p:nvSpPr>
        <p:spPr>
          <a:xfrm>
            <a:off x="6751781" y="1564918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Oval 150"/>
          <p:cNvSpPr/>
          <p:nvPr/>
        </p:nvSpPr>
        <p:spPr>
          <a:xfrm>
            <a:off x="5468005" y="2078314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Oval 151"/>
          <p:cNvSpPr/>
          <p:nvPr/>
        </p:nvSpPr>
        <p:spPr>
          <a:xfrm>
            <a:off x="7471859" y="2441419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Oval 152"/>
          <p:cNvSpPr/>
          <p:nvPr/>
        </p:nvSpPr>
        <p:spPr>
          <a:xfrm>
            <a:off x="5468005" y="1119745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9" name="Group 88"/>
          <p:cNvGrpSpPr/>
          <p:nvPr/>
        </p:nvGrpSpPr>
        <p:grpSpPr>
          <a:xfrm rot="16200000">
            <a:off x="5114581" y="3549095"/>
            <a:ext cx="1188131" cy="595807"/>
            <a:chOff x="3822414" y="2941205"/>
            <a:chExt cx="1188131" cy="595807"/>
          </a:xfrm>
        </p:grpSpPr>
        <p:sp>
          <p:nvSpPr>
            <p:cNvPr id="95" name="Rectangle 94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R4</a:t>
              </a:r>
            </a:p>
          </p:txBody>
        </p:sp>
        <p:cxnSp>
          <p:nvCxnSpPr>
            <p:cNvPr id="109" name="Straight Connector 108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11" name="Straight Connector 110"/>
            <p:cNvCxnSpPr>
              <a:stCxn id="95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15" name="TextBox 114"/>
            <p:cNvSpPr txBox="1"/>
            <p:nvPr/>
          </p:nvSpPr>
          <p:spPr>
            <a:xfrm>
              <a:off x="4187626" y="2941205"/>
              <a:ext cx="405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2k</a:t>
              </a: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5715480" y="4717662"/>
            <a:ext cx="279648" cy="288032"/>
            <a:chOff x="3079204" y="2996952"/>
            <a:chExt cx="279648" cy="288032"/>
          </a:xfrm>
        </p:grpSpPr>
        <p:cxnSp>
          <p:nvCxnSpPr>
            <p:cNvPr id="118" name="Straight Connector 117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21" name="Group 12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22" name="Straight Connector 121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5" name="Straight Connector 12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7" name="Straight Connector 12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28" name="Oval 127"/>
          <p:cNvSpPr/>
          <p:nvPr/>
        </p:nvSpPr>
        <p:spPr>
          <a:xfrm>
            <a:off x="5821269" y="3365118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9" name="Group 128"/>
          <p:cNvGrpSpPr/>
          <p:nvPr/>
        </p:nvGrpSpPr>
        <p:grpSpPr>
          <a:xfrm>
            <a:off x="3872783" y="2033703"/>
            <a:ext cx="1223380" cy="206732"/>
            <a:chOff x="5181221" y="1494076"/>
            <a:chExt cx="1223380" cy="206732"/>
          </a:xfrm>
        </p:grpSpPr>
        <p:cxnSp>
          <p:nvCxnSpPr>
            <p:cNvPr id="130" name="Straight Connector 129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1" name="Straight Connector 130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2" name="Straight Connector 131"/>
            <p:cNvCxnSpPr>
              <a:endCxn id="166" idx="6"/>
            </p:cNvCxnSpPr>
            <p:nvPr/>
          </p:nvCxnSpPr>
          <p:spPr bwMode="auto">
            <a:xfrm flipH="1">
              <a:off x="5181221" y="1587317"/>
              <a:ext cx="860699" cy="2691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3" name="Straight Connector 132"/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134" name="Straight Connector 133"/>
          <p:cNvCxnSpPr/>
          <p:nvPr/>
        </p:nvCxnSpPr>
        <p:spPr bwMode="auto">
          <a:xfrm flipH="1">
            <a:off x="5023917" y="2105710"/>
            <a:ext cx="927937" cy="2567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4521757" y="1714893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Verdana"/>
                <a:cs typeface="Verdana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Symbol" charset="2"/>
                <a:cs typeface="Symbol" charset="2"/>
              </a:rPr>
              <a:t>m</a:t>
            </a:r>
          </a:p>
        </p:txBody>
      </p:sp>
      <p:grpSp>
        <p:nvGrpSpPr>
          <p:cNvPr id="157" name="Group 156"/>
          <p:cNvGrpSpPr/>
          <p:nvPr/>
        </p:nvGrpSpPr>
        <p:grpSpPr>
          <a:xfrm rot="16200000">
            <a:off x="5530662" y="4426440"/>
            <a:ext cx="663743" cy="206732"/>
            <a:chOff x="5740858" y="1494076"/>
            <a:chExt cx="663743" cy="206732"/>
          </a:xfrm>
        </p:grpSpPr>
        <p:cxnSp>
          <p:nvCxnSpPr>
            <p:cNvPr id="158" name="Straight Connector 157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9" name="Straight Connector 158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60" name="Straight Connector 159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61" name="Straight Connector 160"/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163" name="TextBox 162"/>
          <p:cNvSpPr txBox="1"/>
          <p:nvPr/>
        </p:nvSpPr>
        <p:spPr>
          <a:xfrm>
            <a:off x="5912893" y="436411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1</a:t>
            </a:r>
            <a:r>
              <a:rPr lang="en-US" sz="1400" dirty="0">
                <a:latin typeface="Symbol" charset="2"/>
                <a:cs typeface="Symbol" charset="2"/>
              </a:rPr>
              <a:t>m</a:t>
            </a:r>
          </a:p>
        </p:txBody>
      </p:sp>
      <p:sp>
        <p:nvSpPr>
          <p:cNvPr id="166" name="Oval 165"/>
          <p:cNvSpPr/>
          <p:nvPr/>
        </p:nvSpPr>
        <p:spPr bwMode="auto">
          <a:xfrm>
            <a:off x="3728767" y="2081855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490270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6215344" y="1745671"/>
            <a:ext cx="1152128" cy="1368152"/>
            <a:chOff x="2503140" y="2852936"/>
            <a:chExt cx="1440160" cy="1368152"/>
          </a:xfrm>
        </p:grpSpPr>
        <p:cxnSp>
          <p:nvCxnSpPr>
            <p:cNvPr id="47" name="Straight Connector 46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52" name="TextBox 51"/>
          <p:cNvSpPr txBox="1"/>
          <p:nvPr/>
        </p:nvSpPr>
        <p:spPr>
          <a:xfrm>
            <a:off x="4499032" y="885442"/>
            <a:ext cx="100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Vcc = 5v</a:t>
            </a:r>
          </a:p>
        </p:txBody>
      </p:sp>
      <p:cxnSp>
        <p:nvCxnSpPr>
          <p:cNvPr id="54" name="Straight Connector 53"/>
          <p:cNvCxnSpPr/>
          <p:nvPr/>
        </p:nvCxnSpPr>
        <p:spPr bwMode="auto">
          <a:xfrm>
            <a:off x="6790634" y="1152291"/>
            <a:ext cx="776" cy="9534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55" name="Group 54"/>
          <p:cNvGrpSpPr/>
          <p:nvPr/>
        </p:nvGrpSpPr>
        <p:grpSpPr>
          <a:xfrm>
            <a:off x="6863416" y="2681775"/>
            <a:ext cx="279648" cy="288032"/>
            <a:chOff x="3079204" y="2996952"/>
            <a:chExt cx="279648" cy="288032"/>
          </a:xfrm>
        </p:grpSpPr>
        <p:cxnSp>
          <p:nvCxnSpPr>
            <p:cNvPr id="59" name="Straight Connector 58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61" name="Group 6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63" name="Straight Connector 62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4" name="Straight Connector 63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5" name="Straight Connector 64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66" name="TextBox 65"/>
          <p:cNvSpPr txBox="1"/>
          <p:nvPr/>
        </p:nvSpPr>
        <p:spPr>
          <a:xfrm>
            <a:off x="6201814" y="1889687"/>
            <a:ext cx="37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67" name="Straight Connector 66"/>
          <p:cNvCxnSpPr/>
          <p:nvPr/>
        </p:nvCxnSpPr>
        <p:spPr bwMode="auto">
          <a:xfrm flipH="1">
            <a:off x="6287352" y="2753783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5855304" y="2105711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 flipH="1">
            <a:off x="5855304" y="2753783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2" name="Straight Connector 71"/>
          <p:cNvCxnSpPr/>
          <p:nvPr/>
        </p:nvCxnSpPr>
        <p:spPr bwMode="auto">
          <a:xfrm flipH="1">
            <a:off x="7367472" y="2465751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 flipV="1">
            <a:off x="7511488" y="2465751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 flipV="1">
            <a:off x="5855304" y="2753783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6" name="Straight Connector 75"/>
          <p:cNvCxnSpPr/>
          <p:nvPr/>
        </p:nvCxnSpPr>
        <p:spPr bwMode="auto">
          <a:xfrm flipH="1">
            <a:off x="2970804" y="2131126"/>
            <a:ext cx="279949" cy="104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0" name="Straight Connector 79"/>
          <p:cNvCxnSpPr/>
          <p:nvPr/>
        </p:nvCxnSpPr>
        <p:spPr bwMode="auto">
          <a:xfrm>
            <a:off x="2970804" y="2127828"/>
            <a:ext cx="0" cy="43204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81" name="Group 80"/>
          <p:cNvGrpSpPr/>
          <p:nvPr/>
        </p:nvGrpSpPr>
        <p:grpSpPr>
          <a:xfrm>
            <a:off x="2826788" y="3063932"/>
            <a:ext cx="279648" cy="288032"/>
            <a:chOff x="3079204" y="2996952"/>
            <a:chExt cx="279648" cy="288032"/>
          </a:xfrm>
        </p:grpSpPr>
        <p:cxnSp>
          <p:nvCxnSpPr>
            <p:cNvPr id="82" name="Straight Connector 81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83" name="Group 82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84" name="Straight Connector 83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6" name="Straight Connector 85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7" name="Straight Connector 8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88" name="Oval 87"/>
          <p:cNvSpPr/>
          <p:nvPr/>
        </p:nvSpPr>
        <p:spPr bwMode="auto">
          <a:xfrm>
            <a:off x="8159560" y="2393743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087552" y="2073193"/>
            <a:ext cx="420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67274" y="2662031"/>
            <a:ext cx="4154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855304" y="3257839"/>
            <a:ext cx="1656184" cy="595809"/>
            <a:chOff x="3354361" y="3248980"/>
            <a:chExt cx="1656184" cy="595809"/>
          </a:xfrm>
        </p:grpSpPr>
        <p:sp>
          <p:nvSpPr>
            <p:cNvPr id="70" name="Rectangle 69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R3</a:t>
              </a: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5" name="Straight Connector 74"/>
            <p:cNvCxnSpPr>
              <a:stCxn id="70" idx="1"/>
            </p:cNvCxnSpPr>
            <p:nvPr/>
          </p:nvCxnSpPr>
          <p:spPr bwMode="auto">
            <a:xfrm flipH="1">
              <a:off x="3354361" y="3392996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4146449" y="353701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791408" y="1529647"/>
            <a:ext cx="792087" cy="648071"/>
            <a:chOff x="2575148" y="1844825"/>
            <a:chExt cx="792087" cy="648071"/>
          </a:xfrm>
        </p:grpSpPr>
        <p:grpSp>
          <p:nvGrpSpPr>
            <p:cNvPr id="94" name="Group 93"/>
            <p:cNvGrpSpPr/>
            <p:nvPr/>
          </p:nvGrpSpPr>
          <p:grpSpPr>
            <a:xfrm>
              <a:off x="2575148" y="1844825"/>
              <a:ext cx="792087" cy="504056"/>
              <a:chOff x="3511253" y="2048847"/>
              <a:chExt cx="792087" cy="588065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5" name="Straight Connector 104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03" name="TextBox 102"/>
              <p:cNvSpPr txBox="1"/>
              <p:nvPr/>
            </p:nvSpPr>
            <p:spPr>
              <a:xfrm>
                <a:off x="3772425" y="2048847"/>
                <a:ext cx="530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Verdana"/>
                    <a:cs typeface="Verdana"/>
                  </a:rPr>
                  <a:t>0.1</a:t>
                </a:r>
                <a:r>
                  <a:rPr lang="en-US" sz="1200" dirty="0">
                    <a:latin typeface="Symbol" charset="2"/>
                    <a:cs typeface="Symbol" charset="2"/>
                  </a:rPr>
                  <a:t>m</a:t>
                </a:r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97" name="Straight Connector 96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98" name="Group 97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99" name="Straight Connector 98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0" name="Straight Connector 99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1" name="Straight Connector 100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110" name="TextBox 109"/>
          <p:cNvSpPr txBox="1"/>
          <p:nvPr/>
        </p:nvSpPr>
        <p:spPr>
          <a:xfrm>
            <a:off x="6172335" y="2301990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½ opamp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03376" y="1745671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35424" y="2609767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295464" y="2177719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927312" y="2465751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927312" y="1817679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90690" y="1765416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C1</a:t>
            </a:r>
          </a:p>
        </p:txBody>
      </p:sp>
      <p:grpSp>
        <p:nvGrpSpPr>
          <p:cNvPr id="123" name="Group 122"/>
          <p:cNvGrpSpPr/>
          <p:nvPr/>
        </p:nvGrpSpPr>
        <p:grpSpPr>
          <a:xfrm rot="16200000">
            <a:off x="4778855" y="1225356"/>
            <a:ext cx="1114384" cy="624261"/>
            <a:chOff x="3896161" y="2912751"/>
            <a:chExt cx="1114384" cy="624261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R1</a:t>
              </a:r>
            </a:p>
          </p:txBody>
        </p:sp>
        <p:cxnSp>
          <p:nvCxnSpPr>
            <p:cNvPr id="126" name="Straight Connector 125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6" name="Straight Connector 135"/>
            <p:cNvCxnSpPr>
              <a:stCxn id="124" idx="1"/>
            </p:cNvCxnSpPr>
            <p:nvPr/>
          </p:nvCxnSpPr>
          <p:spPr bwMode="auto">
            <a:xfrm rot="5400000">
              <a:off x="4021305" y="3267852"/>
              <a:ext cx="0" cy="2502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>
              <a:off x="4101153" y="2912751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 rot="16200000">
            <a:off x="4756210" y="2401873"/>
            <a:ext cx="1188131" cy="595808"/>
            <a:chOff x="3822414" y="2941204"/>
            <a:chExt cx="1188131" cy="595808"/>
          </a:xfrm>
        </p:grpSpPr>
        <p:sp>
          <p:nvSpPr>
            <p:cNvPr id="139" name="Rectangle 138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R2</a:t>
              </a:r>
            </a:p>
          </p:txBody>
        </p:sp>
        <p:cxnSp>
          <p:nvCxnSpPr>
            <p:cNvPr id="140" name="Straight Connector 139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1" name="Straight Connector 140"/>
            <p:cNvCxnSpPr>
              <a:stCxn id="139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42" name="TextBox 141"/>
            <p:cNvSpPr txBox="1"/>
            <p:nvPr/>
          </p:nvSpPr>
          <p:spPr>
            <a:xfrm>
              <a:off x="4073400" y="2941204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5360146" y="3293843"/>
            <a:ext cx="279648" cy="288032"/>
            <a:chOff x="3079204" y="2996952"/>
            <a:chExt cx="279648" cy="288032"/>
          </a:xfrm>
        </p:grpSpPr>
        <p:cxnSp>
          <p:nvCxnSpPr>
            <p:cNvPr id="144" name="Straight Connector 143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45" name="Group 144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46" name="Straight Connector 145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8" name="Straight Connector 147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cxnSp>
        <p:nvCxnSpPr>
          <p:cNvPr id="149" name="Straight Connector 148"/>
          <p:cNvCxnSpPr/>
          <p:nvPr/>
        </p:nvCxnSpPr>
        <p:spPr bwMode="auto">
          <a:xfrm flipH="1">
            <a:off x="5504162" y="1152291"/>
            <a:ext cx="1286472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0" name="Oval 149"/>
          <p:cNvSpPr/>
          <p:nvPr/>
        </p:nvSpPr>
        <p:spPr>
          <a:xfrm>
            <a:off x="6751781" y="1564918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Oval 150"/>
          <p:cNvSpPr/>
          <p:nvPr/>
        </p:nvSpPr>
        <p:spPr>
          <a:xfrm>
            <a:off x="5468005" y="2078314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Oval 151"/>
          <p:cNvSpPr/>
          <p:nvPr/>
        </p:nvSpPr>
        <p:spPr>
          <a:xfrm>
            <a:off x="7471859" y="2441419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Oval 152"/>
          <p:cNvSpPr/>
          <p:nvPr/>
        </p:nvSpPr>
        <p:spPr>
          <a:xfrm>
            <a:off x="5468005" y="1119745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9" name="Group 88"/>
          <p:cNvGrpSpPr/>
          <p:nvPr/>
        </p:nvGrpSpPr>
        <p:grpSpPr>
          <a:xfrm rot="16200000">
            <a:off x="5114581" y="3549095"/>
            <a:ext cx="1188131" cy="595807"/>
            <a:chOff x="3822414" y="2941205"/>
            <a:chExt cx="1188131" cy="595807"/>
          </a:xfrm>
        </p:grpSpPr>
        <p:sp>
          <p:nvSpPr>
            <p:cNvPr id="95" name="Rectangle 94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R4</a:t>
              </a:r>
            </a:p>
          </p:txBody>
        </p:sp>
        <p:cxnSp>
          <p:nvCxnSpPr>
            <p:cNvPr id="109" name="Straight Connector 108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11" name="Straight Connector 110"/>
            <p:cNvCxnSpPr>
              <a:stCxn id="95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15" name="TextBox 114"/>
            <p:cNvSpPr txBox="1"/>
            <p:nvPr/>
          </p:nvSpPr>
          <p:spPr>
            <a:xfrm>
              <a:off x="4187626" y="2941205"/>
              <a:ext cx="405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2k</a:t>
              </a: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5715480" y="4717662"/>
            <a:ext cx="279648" cy="288032"/>
            <a:chOff x="3079204" y="2996952"/>
            <a:chExt cx="279648" cy="288032"/>
          </a:xfrm>
        </p:grpSpPr>
        <p:cxnSp>
          <p:nvCxnSpPr>
            <p:cNvPr id="118" name="Straight Connector 117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21" name="Group 12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22" name="Straight Connector 121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5" name="Straight Connector 12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7" name="Straight Connector 12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28" name="Oval 127"/>
          <p:cNvSpPr/>
          <p:nvPr/>
        </p:nvSpPr>
        <p:spPr>
          <a:xfrm>
            <a:off x="5821269" y="3365118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9" name="Group 128"/>
          <p:cNvGrpSpPr/>
          <p:nvPr/>
        </p:nvGrpSpPr>
        <p:grpSpPr>
          <a:xfrm>
            <a:off x="4432420" y="2033703"/>
            <a:ext cx="663743" cy="206732"/>
            <a:chOff x="5740858" y="1494076"/>
            <a:chExt cx="663743" cy="206732"/>
          </a:xfrm>
        </p:grpSpPr>
        <p:cxnSp>
          <p:nvCxnSpPr>
            <p:cNvPr id="130" name="Straight Connector 129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1" name="Straight Connector 130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2" name="Straight Connector 131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3" name="Straight Connector 132"/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134" name="Straight Connector 133"/>
          <p:cNvCxnSpPr/>
          <p:nvPr/>
        </p:nvCxnSpPr>
        <p:spPr bwMode="auto">
          <a:xfrm flipH="1">
            <a:off x="5023917" y="2105710"/>
            <a:ext cx="927937" cy="2567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4521757" y="1714893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Verdana"/>
                <a:cs typeface="Verdana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Symbol" charset="2"/>
                <a:cs typeface="Symbol" charset="2"/>
              </a:rPr>
              <a:t>m</a:t>
            </a:r>
          </a:p>
        </p:txBody>
      </p:sp>
      <p:grpSp>
        <p:nvGrpSpPr>
          <p:cNvPr id="157" name="Group 156"/>
          <p:cNvGrpSpPr/>
          <p:nvPr/>
        </p:nvGrpSpPr>
        <p:grpSpPr>
          <a:xfrm rot="16200000">
            <a:off x="5530662" y="4426440"/>
            <a:ext cx="663743" cy="206732"/>
            <a:chOff x="5740858" y="1494076"/>
            <a:chExt cx="663743" cy="206732"/>
          </a:xfrm>
        </p:grpSpPr>
        <p:cxnSp>
          <p:nvCxnSpPr>
            <p:cNvPr id="158" name="Straight Connector 157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9" name="Straight Connector 158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60" name="Straight Connector 159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61" name="Straight Connector 160"/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163" name="TextBox 162"/>
          <p:cNvSpPr txBox="1"/>
          <p:nvPr/>
        </p:nvSpPr>
        <p:spPr>
          <a:xfrm>
            <a:off x="5912893" y="436411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1</a:t>
            </a:r>
            <a:r>
              <a:rPr lang="en-US" sz="1400" dirty="0">
                <a:latin typeface="Symbol" charset="2"/>
                <a:cs typeface="Symbol" charset="2"/>
              </a:rPr>
              <a:t>m</a:t>
            </a:r>
          </a:p>
        </p:txBody>
      </p:sp>
      <p:grpSp>
        <p:nvGrpSpPr>
          <p:cNvPr id="154" name="Group 153"/>
          <p:cNvGrpSpPr/>
          <p:nvPr/>
        </p:nvGrpSpPr>
        <p:grpSpPr>
          <a:xfrm>
            <a:off x="2990987" y="1987272"/>
            <a:ext cx="1188975" cy="601634"/>
            <a:chOff x="3821570" y="3243155"/>
            <a:chExt cx="1188975" cy="601634"/>
          </a:xfrm>
        </p:grpSpPr>
        <p:sp>
          <p:nvSpPr>
            <p:cNvPr id="155" name="Rectangle 154"/>
            <p:cNvSpPr/>
            <p:nvPr/>
          </p:nvSpPr>
          <p:spPr bwMode="auto">
            <a:xfrm>
              <a:off x="4146449" y="3243155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R5</a:t>
              </a:r>
            </a:p>
          </p:txBody>
        </p:sp>
        <p:cxnSp>
          <p:nvCxnSpPr>
            <p:cNvPr id="162" name="Straight Connector 161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64" name="Straight Connector 163"/>
            <p:cNvCxnSpPr>
              <a:stCxn id="155" idx="1"/>
            </p:cNvCxnSpPr>
            <p:nvPr/>
          </p:nvCxnSpPr>
          <p:spPr bwMode="auto">
            <a:xfrm flipH="1">
              <a:off x="3821570" y="3387171"/>
              <a:ext cx="324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65" name="TextBox 164"/>
            <p:cNvSpPr txBox="1"/>
            <p:nvPr/>
          </p:nvSpPr>
          <p:spPr>
            <a:xfrm>
              <a:off x="4146449" y="353701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100k</a:t>
              </a:r>
            </a:p>
          </p:txBody>
        </p:sp>
      </p:grpSp>
      <p:grpSp>
        <p:nvGrpSpPr>
          <p:cNvPr id="172" name="Group 171"/>
          <p:cNvGrpSpPr/>
          <p:nvPr/>
        </p:nvGrpSpPr>
        <p:grpSpPr>
          <a:xfrm rot="16200000">
            <a:off x="3745024" y="2420656"/>
            <a:ext cx="1188975" cy="601635"/>
            <a:chOff x="3821570" y="3243155"/>
            <a:chExt cx="1188975" cy="601635"/>
          </a:xfrm>
        </p:grpSpPr>
        <p:sp>
          <p:nvSpPr>
            <p:cNvPr id="173" name="Rectangle 172"/>
            <p:cNvSpPr/>
            <p:nvPr/>
          </p:nvSpPr>
          <p:spPr bwMode="auto">
            <a:xfrm>
              <a:off x="4146449" y="3243155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R6</a:t>
              </a:r>
            </a:p>
          </p:txBody>
        </p:sp>
        <p:cxnSp>
          <p:nvCxnSpPr>
            <p:cNvPr id="174" name="Straight Connector 173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75" name="Straight Connector 174"/>
            <p:cNvCxnSpPr>
              <a:stCxn id="173" idx="1"/>
            </p:cNvCxnSpPr>
            <p:nvPr/>
          </p:nvCxnSpPr>
          <p:spPr bwMode="auto">
            <a:xfrm flipH="1">
              <a:off x="3821570" y="3387171"/>
              <a:ext cx="324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76" name="TextBox 175"/>
            <p:cNvSpPr txBox="1"/>
            <p:nvPr/>
          </p:nvSpPr>
          <p:spPr>
            <a:xfrm>
              <a:off x="4260675" y="3537013"/>
              <a:ext cx="405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1k</a:t>
              </a:r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4035424" y="3087281"/>
            <a:ext cx="279648" cy="288032"/>
            <a:chOff x="3079204" y="2996952"/>
            <a:chExt cx="279648" cy="288032"/>
          </a:xfrm>
        </p:grpSpPr>
        <p:cxnSp>
          <p:nvCxnSpPr>
            <p:cNvPr id="178" name="Straight Connector 177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79" name="Group 178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80" name="Straight Connector 179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81" name="Straight Connector 180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82" name="Straight Connector 181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cxnSp>
        <p:nvCxnSpPr>
          <p:cNvPr id="184" name="Straight Connector 183"/>
          <p:cNvCxnSpPr/>
          <p:nvPr/>
        </p:nvCxnSpPr>
        <p:spPr bwMode="auto">
          <a:xfrm flipH="1">
            <a:off x="4179440" y="2123893"/>
            <a:ext cx="440833" cy="827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85" name="Oval 184"/>
          <p:cNvSpPr/>
          <p:nvPr/>
        </p:nvSpPr>
        <p:spPr>
          <a:xfrm>
            <a:off x="4148905" y="2090248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1" name="TextBox 170"/>
          <p:cNvSpPr txBox="1"/>
          <p:nvPr/>
        </p:nvSpPr>
        <p:spPr>
          <a:xfrm>
            <a:off x="958999" y="1896415"/>
            <a:ext cx="1723773" cy="6001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1kHz sine wave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1.65V peak-to-peak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2.5V DC offset</a:t>
            </a:r>
          </a:p>
        </p:txBody>
      </p:sp>
      <p:grpSp>
        <p:nvGrpSpPr>
          <p:cNvPr id="186" name="Group 185"/>
          <p:cNvGrpSpPr/>
          <p:nvPr/>
        </p:nvGrpSpPr>
        <p:grpSpPr>
          <a:xfrm>
            <a:off x="2738959" y="2559876"/>
            <a:ext cx="504056" cy="504056"/>
            <a:chOff x="2065825" y="2487507"/>
            <a:chExt cx="504056" cy="504056"/>
          </a:xfrm>
        </p:grpSpPr>
        <p:sp>
          <p:nvSpPr>
            <p:cNvPr id="187" name="Oval 186"/>
            <p:cNvSpPr/>
            <p:nvPr/>
          </p:nvSpPr>
          <p:spPr bwMode="auto">
            <a:xfrm>
              <a:off x="2065825" y="2487507"/>
              <a:ext cx="504056" cy="504056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pic>
          <p:nvPicPr>
            <p:cNvPr id="188" name="Picture 187"/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9000" contrast="-4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2301" y="2559515"/>
              <a:ext cx="283592" cy="2937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0279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2175403" y="1190932"/>
            <a:ext cx="2373055" cy="1388041"/>
            <a:chOff x="1281988" y="938651"/>
            <a:chExt cx="2373055" cy="1388041"/>
          </a:xfrm>
        </p:grpSpPr>
        <p:cxnSp>
          <p:nvCxnSpPr>
            <p:cNvPr id="218" name="Straight Connector 217"/>
            <p:cNvCxnSpPr/>
            <p:nvPr/>
          </p:nvCxnSpPr>
          <p:spPr bwMode="auto">
            <a:xfrm flipH="1">
              <a:off x="1985518" y="1082505"/>
              <a:ext cx="279949" cy="10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19" name="Oval 218"/>
            <p:cNvSpPr/>
            <p:nvPr/>
          </p:nvSpPr>
          <p:spPr bwMode="auto">
            <a:xfrm>
              <a:off x="1697486" y="1511255"/>
              <a:ext cx="504056" cy="504056"/>
            </a:xfrm>
            <a:prstGeom prst="ellips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 bwMode="auto">
            <a:xfrm>
              <a:off x="1985518" y="1079207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22" name="Straight Connector 221"/>
            <p:cNvCxnSpPr/>
            <p:nvPr/>
          </p:nvCxnSpPr>
          <p:spPr bwMode="auto">
            <a:xfrm>
              <a:off x="1985518" y="2015311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23" name="Group 222"/>
            <p:cNvGrpSpPr/>
            <p:nvPr/>
          </p:nvGrpSpPr>
          <p:grpSpPr>
            <a:xfrm>
              <a:off x="1841502" y="2231335"/>
              <a:ext cx="279648" cy="72008"/>
              <a:chOff x="3447628" y="4437112"/>
              <a:chExt cx="351656" cy="144016"/>
            </a:xfrm>
          </p:grpSpPr>
          <p:cxnSp>
            <p:nvCxnSpPr>
              <p:cNvPr id="224" name="Straight Connector 223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25" name="Straight Connector 22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26" name="Straight Connector 225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227" name="TextBox 226"/>
            <p:cNvSpPr txBox="1"/>
            <p:nvPr/>
          </p:nvSpPr>
          <p:spPr>
            <a:xfrm>
              <a:off x="1281988" y="1613410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Vs</a:t>
              </a:r>
            </a:p>
          </p:txBody>
        </p:sp>
        <p:sp>
          <p:nvSpPr>
            <p:cNvPr id="230" name="Rectangle 229"/>
            <p:cNvSpPr/>
            <p:nvPr/>
          </p:nvSpPr>
          <p:spPr bwMode="auto">
            <a:xfrm>
              <a:off x="2330580" y="938651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R5</a:t>
              </a:r>
            </a:p>
          </p:txBody>
        </p:sp>
        <p:cxnSp>
          <p:nvCxnSpPr>
            <p:cNvPr id="231" name="Straight Connector 230"/>
            <p:cNvCxnSpPr/>
            <p:nvPr/>
          </p:nvCxnSpPr>
          <p:spPr bwMode="auto">
            <a:xfrm flipH="1">
              <a:off x="2834636" y="1088492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32" name="Straight Connector 231"/>
            <p:cNvCxnSpPr>
              <a:stCxn id="230" idx="1"/>
            </p:cNvCxnSpPr>
            <p:nvPr/>
          </p:nvCxnSpPr>
          <p:spPr bwMode="auto">
            <a:xfrm flipH="1">
              <a:off x="2005701" y="1082667"/>
              <a:ext cx="324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33" name="TextBox 232"/>
            <p:cNvSpPr txBox="1"/>
            <p:nvPr/>
          </p:nvSpPr>
          <p:spPr>
            <a:xfrm>
              <a:off x="2330580" y="1232508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Verdana"/>
                  <a:cs typeface="Verdana"/>
                </a:rPr>
                <a:t>100k</a:t>
              </a:r>
            </a:p>
          </p:txBody>
        </p:sp>
        <p:sp>
          <p:nvSpPr>
            <p:cNvPr id="241" name="Rectangle 240"/>
            <p:cNvSpPr/>
            <p:nvPr/>
          </p:nvSpPr>
          <p:spPr bwMode="auto">
            <a:xfrm rot="16200000">
              <a:off x="2945396" y="1546417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R6</a:t>
              </a:r>
            </a:p>
          </p:txBody>
        </p:sp>
        <p:cxnSp>
          <p:nvCxnSpPr>
            <p:cNvPr id="242" name="Straight Connector 241"/>
            <p:cNvCxnSpPr/>
            <p:nvPr/>
          </p:nvCxnSpPr>
          <p:spPr bwMode="auto">
            <a:xfrm rot="16200000" flipH="1">
              <a:off x="3023229" y="1258385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43" name="Straight Connector 242"/>
            <p:cNvCxnSpPr>
              <a:stCxn id="241" idx="1"/>
            </p:cNvCxnSpPr>
            <p:nvPr/>
          </p:nvCxnSpPr>
          <p:spPr bwMode="auto">
            <a:xfrm rot="16200000" flipH="1">
              <a:off x="3034985" y="2104901"/>
              <a:ext cx="324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44" name="TextBox 243"/>
            <p:cNvSpPr txBox="1"/>
            <p:nvPr/>
          </p:nvSpPr>
          <p:spPr>
            <a:xfrm rot="16200000">
              <a:off x="3298628" y="1471820"/>
              <a:ext cx="405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Verdana"/>
                  <a:cs typeface="Verdana"/>
                </a:rPr>
                <a:t>1k</a:t>
              </a:r>
            </a:p>
          </p:txBody>
        </p:sp>
        <p:cxnSp>
          <p:nvCxnSpPr>
            <p:cNvPr id="246" name="Straight Connector 245"/>
            <p:cNvCxnSpPr/>
            <p:nvPr/>
          </p:nvCxnSpPr>
          <p:spPr bwMode="auto">
            <a:xfrm>
              <a:off x="3194154" y="2038660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47" name="Group 246"/>
            <p:cNvGrpSpPr/>
            <p:nvPr/>
          </p:nvGrpSpPr>
          <p:grpSpPr>
            <a:xfrm>
              <a:off x="3050138" y="2254684"/>
              <a:ext cx="279648" cy="72008"/>
              <a:chOff x="3447628" y="4437112"/>
              <a:chExt cx="351656" cy="144016"/>
            </a:xfrm>
          </p:grpSpPr>
          <p:cxnSp>
            <p:nvCxnSpPr>
              <p:cNvPr id="248" name="Straight Connector 247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49" name="Straight Connector 248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50" name="Straight Connector 249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251" name="Straight Connector 250"/>
            <p:cNvCxnSpPr/>
            <p:nvPr/>
          </p:nvCxnSpPr>
          <p:spPr bwMode="auto">
            <a:xfrm flipH="1">
              <a:off x="3194154" y="1075272"/>
              <a:ext cx="440833" cy="827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52" name="Oval 251"/>
            <p:cNvSpPr/>
            <p:nvPr/>
          </p:nvSpPr>
          <p:spPr>
            <a:xfrm>
              <a:off x="3163619" y="1041627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3" name="Group 252"/>
          <p:cNvGrpSpPr/>
          <p:nvPr/>
        </p:nvGrpSpPr>
        <p:grpSpPr>
          <a:xfrm>
            <a:off x="6598423" y="942389"/>
            <a:ext cx="1152128" cy="1368152"/>
            <a:chOff x="2503140" y="2852936"/>
            <a:chExt cx="1440160" cy="1368152"/>
          </a:xfrm>
        </p:grpSpPr>
        <p:cxnSp>
          <p:nvCxnSpPr>
            <p:cNvPr id="254" name="Straight Connector 253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55" name="Straight Connector 254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56" name="Straight Connector 255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257" name="TextBox 256"/>
          <p:cNvSpPr txBox="1"/>
          <p:nvPr/>
        </p:nvSpPr>
        <p:spPr>
          <a:xfrm>
            <a:off x="4882111" y="82160"/>
            <a:ext cx="100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Vcc = 5v</a:t>
            </a:r>
          </a:p>
        </p:txBody>
      </p:sp>
      <p:cxnSp>
        <p:nvCxnSpPr>
          <p:cNvPr id="258" name="Straight Connector 257"/>
          <p:cNvCxnSpPr/>
          <p:nvPr/>
        </p:nvCxnSpPr>
        <p:spPr bwMode="auto">
          <a:xfrm>
            <a:off x="7173713" y="349009"/>
            <a:ext cx="776" cy="9534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259" name="Group 258"/>
          <p:cNvGrpSpPr/>
          <p:nvPr/>
        </p:nvGrpSpPr>
        <p:grpSpPr>
          <a:xfrm>
            <a:off x="7246495" y="1878493"/>
            <a:ext cx="279648" cy="288032"/>
            <a:chOff x="3079204" y="2996952"/>
            <a:chExt cx="279648" cy="288032"/>
          </a:xfrm>
        </p:grpSpPr>
        <p:cxnSp>
          <p:nvCxnSpPr>
            <p:cNvPr id="260" name="Straight Connector 259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61" name="Group 26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262" name="Straight Connector 261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63" name="Straight Connector 262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64" name="Straight Connector 263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265" name="TextBox 264"/>
          <p:cNvSpPr txBox="1"/>
          <p:nvPr/>
        </p:nvSpPr>
        <p:spPr>
          <a:xfrm>
            <a:off x="6584893" y="1086405"/>
            <a:ext cx="37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266" name="Straight Connector 265"/>
          <p:cNvCxnSpPr/>
          <p:nvPr/>
        </p:nvCxnSpPr>
        <p:spPr bwMode="auto">
          <a:xfrm flipH="1">
            <a:off x="6670431" y="1950501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7" name="Straight Connector 266"/>
          <p:cNvCxnSpPr/>
          <p:nvPr/>
        </p:nvCxnSpPr>
        <p:spPr bwMode="auto">
          <a:xfrm flipH="1">
            <a:off x="6238383" y="1302429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8" name="Straight Connector 267"/>
          <p:cNvCxnSpPr/>
          <p:nvPr/>
        </p:nvCxnSpPr>
        <p:spPr bwMode="auto">
          <a:xfrm flipH="1">
            <a:off x="6238383" y="1950501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9" name="Straight Connector 268"/>
          <p:cNvCxnSpPr/>
          <p:nvPr/>
        </p:nvCxnSpPr>
        <p:spPr bwMode="auto">
          <a:xfrm flipH="1">
            <a:off x="7750551" y="1662469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70" name="Straight Connector 269"/>
          <p:cNvCxnSpPr/>
          <p:nvPr/>
        </p:nvCxnSpPr>
        <p:spPr bwMode="auto">
          <a:xfrm flipV="1">
            <a:off x="7894567" y="1662469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71" name="Straight Connector 270"/>
          <p:cNvCxnSpPr/>
          <p:nvPr/>
        </p:nvCxnSpPr>
        <p:spPr bwMode="auto">
          <a:xfrm flipV="1">
            <a:off x="6238383" y="1950501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72" name="Oval 271"/>
          <p:cNvSpPr/>
          <p:nvPr/>
        </p:nvSpPr>
        <p:spPr bwMode="auto">
          <a:xfrm>
            <a:off x="8542639" y="1590461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sp>
        <p:nvSpPr>
          <p:cNvPr id="273" name="TextBox 272"/>
          <p:cNvSpPr txBox="1"/>
          <p:nvPr/>
        </p:nvSpPr>
        <p:spPr>
          <a:xfrm>
            <a:off x="8470631" y="1269911"/>
            <a:ext cx="534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Vo1</a:t>
            </a:r>
          </a:p>
        </p:txBody>
      </p:sp>
      <p:grpSp>
        <p:nvGrpSpPr>
          <p:cNvPr id="274" name="Group 273"/>
          <p:cNvGrpSpPr/>
          <p:nvPr/>
        </p:nvGrpSpPr>
        <p:grpSpPr>
          <a:xfrm>
            <a:off x="6238383" y="2454557"/>
            <a:ext cx="1656184" cy="595809"/>
            <a:chOff x="3354361" y="3248980"/>
            <a:chExt cx="1656184" cy="595809"/>
          </a:xfrm>
        </p:grpSpPr>
        <p:sp>
          <p:nvSpPr>
            <p:cNvPr id="275" name="Rectangle 274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R3</a:t>
              </a:r>
            </a:p>
          </p:txBody>
        </p:sp>
        <p:cxnSp>
          <p:nvCxnSpPr>
            <p:cNvPr id="276" name="Straight Connector 275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7" name="Straight Connector 276"/>
            <p:cNvCxnSpPr>
              <a:stCxn id="275" idx="1"/>
            </p:cNvCxnSpPr>
            <p:nvPr/>
          </p:nvCxnSpPr>
          <p:spPr bwMode="auto">
            <a:xfrm flipH="1">
              <a:off x="3354361" y="3392996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78" name="TextBox 277"/>
            <p:cNvSpPr txBox="1"/>
            <p:nvPr/>
          </p:nvSpPr>
          <p:spPr>
            <a:xfrm>
              <a:off x="4146449" y="353701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279" name="Group 278"/>
          <p:cNvGrpSpPr/>
          <p:nvPr/>
        </p:nvGrpSpPr>
        <p:grpSpPr>
          <a:xfrm>
            <a:off x="7174487" y="726365"/>
            <a:ext cx="792087" cy="648071"/>
            <a:chOff x="2575148" y="1844825"/>
            <a:chExt cx="792087" cy="648071"/>
          </a:xfrm>
        </p:grpSpPr>
        <p:grpSp>
          <p:nvGrpSpPr>
            <p:cNvPr id="280" name="Group 279"/>
            <p:cNvGrpSpPr/>
            <p:nvPr/>
          </p:nvGrpSpPr>
          <p:grpSpPr>
            <a:xfrm>
              <a:off x="2575148" y="1844825"/>
              <a:ext cx="792087" cy="504056"/>
              <a:chOff x="3511253" y="2048847"/>
              <a:chExt cx="792087" cy="588065"/>
            </a:xfrm>
          </p:grpSpPr>
          <p:grpSp>
            <p:nvGrpSpPr>
              <p:cNvPr id="287" name="Group 286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289" name="Straight Connector 288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90" name="Straight Connector 289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91" name="Straight Connector 290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92" name="Straight Connector 291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93" name="Straight Connector 292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288" name="TextBox 287"/>
              <p:cNvSpPr txBox="1"/>
              <p:nvPr/>
            </p:nvSpPr>
            <p:spPr>
              <a:xfrm>
                <a:off x="3772425" y="2048847"/>
                <a:ext cx="530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Verdana"/>
                    <a:cs typeface="Verdana"/>
                  </a:rPr>
                  <a:t>0.1</a:t>
                </a:r>
                <a:r>
                  <a:rPr lang="en-US" sz="1200" dirty="0">
                    <a:latin typeface="Symbol" charset="2"/>
                    <a:cs typeface="Symbol" charset="2"/>
                  </a:rPr>
                  <a:t>m</a:t>
                </a:r>
              </a:p>
            </p:txBody>
          </p:sp>
        </p:grpSp>
        <p:grpSp>
          <p:nvGrpSpPr>
            <p:cNvPr id="281" name="Group 280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282" name="Straight Connector 281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83" name="Group 282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84" name="Straight Connector 283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85" name="Straight Connector 284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86" name="Straight Connector 285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294" name="TextBox 293"/>
          <p:cNvSpPr txBox="1"/>
          <p:nvPr/>
        </p:nvSpPr>
        <p:spPr>
          <a:xfrm>
            <a:off x="6555414" y="1498708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½ opamp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6886455" y="942389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8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7318503" y="1806485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4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7678543" y="1374437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1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6310391" y="1662469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2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6310391" y="1014397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3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7573769" y="962134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C1</a:t>
            </a:r>
          </a:p>
        </p:txBody>
      </p:sp>
      <p:grpSp>
        <p:nvGrpSpPr>
          <p:cNvPr id="301" name="Group 300"/>
          <p:cNvGrpSpPr/>
          <p:nvPr/>
        </p:nvGrpSpPr>
        <p:grpSpPr>
          <a:xfrm rot="16200000">
            <a:off x="5161934" y="422074"/>
            <a:ext cx="1114384" cy="624261"/>
            <a:chOff x="3896161" y="2912751"/>
            <a:chExt cx="1114384" cy="624261"/>
          </a:xfrm>
        </p:grpSpPr>
        <p:sp>
          <p:nvSpPr>
            <p:cNvPr id="302" name="Rectangle 301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R1</a:t>
              </a:r>
            </a:p>
          </p:txBody>
        </p:sp>
        <p:cxnSp>
          <p:nvCxnSpPr>
            <p:cNvPr id="303" name="Straight Connector 302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04" name="Straight Connector 303"/>
            <p:cNvCxnSpPr>
              <a:stCxn id="302" idx="1"/>
            </p:cNvCxnSpPr>
            <p:nvPr/>
          </p:nvCxnSpPr>
          <p:spPr bwMode="auto">
            <a:xfrm rot="5400000">
              <a:off x="4021305" y="3267852"/>
              <a:ext cx="0" cy="2502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05" name="TextBox 304"/>
            <p:cNvSpPr txBox="1"/>
            <p:nvPr/>
          </p:nvSpPr>
          <p:spPr>
            <a:xfrm>
              <a:off x="4101153" y="2912751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306" name="Group 305"/>
          <p:cNvGrpSpPr/>
          <p:nvPr/>
        </p:nvGrpSpPr>
        <p:grpSpPr>
          <a:xfrm rot="16200000">
            <a:off x="5139289" y="1598591"/>
            <a:ext cx="1188131" cy="595808"/>
            <a:chOff x="3822414" y="2941204"/>
            <a:chExt cx="1188131" cy="595808"/>
          </a:xfrm>
        </p:grpSpPr>
        <p:sp>
          <p:nvSpPr>
            <p:cNvPr id="307" name="Rectangle 306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R2</a:t>
              </a:r>
            </a:p>
          </p:txBody>
        </p:sp>
        <p:cxnSp>
          <p:nvCxnSpPr>
            <p:cNvPr id="308" name="Straight Connector 307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09" name="Straight Connector 308"/>
            <p:cNvCxnSpPr>
              <a:stCxn id="307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10" name="TextBox 309"/>
            <p:cNvSpPr txBox="1"/>
            <p:nvPr/>
          </p:nvSpPr>
          <p:spPr>
            <a:xfrm>
              <a:off x="4073400" y="2941204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311" name="Group 310"/>
          <p:cNvGrpSpPr/>
          <p:nvPr/>
        </p:nvGrpSpPr>
        <p:grpSpPr>
          <a:xfrm>
            <a:off x="5743225" y="2490561"/>
            <a:ext cx="279648" cy="288032"/>
            <a:chOff x="3079204" y="2996952"/>
            <a:chExt cx="279648" cy="288032"/>
          </a:xfrm>
        </p:grpSpPr>
        <p:cxnSp>
          <p:nvCxnSpPr>
            <p:cNvPr id="312" name="Straight Connector 311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13" name="Group 312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314" name="Straight Connector 313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15" name="Straight Connector 31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16" name="Straight Connector 315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cxnSp>
        <p:nvCxnSpPr>
          <p:cNvPr id="317" name="Straight Connector 316"/>
          <p:cNvCxnSpPr/>
          <p:nvPr/>
        </p:nvCxnSpPr>
        <p:spPr bwMode="auto">
          <a:xfrm flipH="1">
            <a:off x="5887241" y="349009"/>
            <a:ext cx="1286472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18" name="Oval 317"/>
          <p:cNvSpPr/>
          <p:nvPr/>
        </p:nvSpPr>
        <p:spPr>
          <a:xfrm>
            <a:off x="7134860" y="76163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9" name="Oval 318"/>
          <p:cNvSpPr/>
          <p:nvPr/>
        </p:nvSpPr>
        <p:spPr>
          <a:xfrm>
            <a:off x="5851084" y="1275032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0" name="Oval 319"/>
          <p:cNvSpPr/>
          <p:nvPr/>
        </p:nvSpPr>
        <p:spPr>
          <a:xfrm>
            <a:off x="7854938" y="1638137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1" name="Oval 320"/>
          <p:cNvSpPr/>
          <p:nvPr/>
        </p:nvSpPr>
        <p:spPr>
          <a:xfrm>
            <a:off x="5851084" y="316463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22" name="Group 321"/>
          <p:cNvGrpSpPr/>
          <p:nvPr/>
        </p:nvGrpSpPr>
        <p:grpSpPr>
          <a:xfrm rot="16200000">
            <a:off x="5497661" y="2745814"/>
            <a:ext cx="1188131" cy="595806"/>
            <a:chOff x="3822414" y="2941206"/>
            <a:chExt cx="1188131" cy="595806"/>
          </a:xfrm>
        </p:grpSpPr>
        <p:sp>
          <p:nvSpPr>
            <p:cNvPr id="323" name="Rectangle 322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R4</a:t>
              </a:r>
            </a:p>
          </p:txBody>
        </p:sp>
        <p:cxnSp>
          <p:nvCxnSpPr>
            <p:cNvPr id="324" name="Straight Connector 323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25" name="Straight Connector 324"/>
            <p:cNvCxnSpPr>
              <a:stCxn id="323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26" name="TextBox 325"/>
            <p:cNvSpPr txBox="1"/>
            <p:nvPr/>
          </p:nvSpPr>
          <p:spPr>
            <a:xfrm>
              <a:off x="4130556" y="2941206"/>
              <a:ext cx="5191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20k</a:t>
              </a:r>
            </a:p>
          </p:txBody>
        </p:sp>
      </p:grpSp>
      <p:grpSp>
        <p:nvGrpSpPr>
          <p:cNvPr id="327" name="Group 326"/>
          <p:cNvGrpSpPr/>
          <p:nvPr/>
        </p:nvGrpSpPr>
        <p:grpSpPr>
          <a:xfrm>
            <a:off x="6098559" y="3914380"/>
            <a:ext cx="279648" cy="288032"/>
            <a:chOff x="3079204" y="2996952"/>
            <a:chExt cx="279648" cy="288032"/>
          </a:xfrm>
        </p:grpSpPr>
        <p:cxnSp>
          <p:nvCxnSpPr>
            <p:cNvPr id="328" name="Straight Connector 327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29" name="Group 328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330" name="Straight Connector 329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31" name="Straight Connector 330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32" name="Straight Connector 331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333" name="Oval 332"/>
          <p:cNvSpPr/>
          <p:nvPr/>
        </p:nvSpPr>
        <p:spPr>
          <a:xfrm>
            <a:off x="6204348" y="256183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34" name="Group 333"/>
          <p:cNvGrpSpPr/>
          <p:nvPr/>
        </p:nvGrpSpPr>
        <p:grpSpPr>
          <a:xfrm>
            <a:off x="4454215" y="1230421"/>
            <a:ext cx="362682" cy="206732"/>
            <a:chOff x="5740858" y="1494076"/>
            <a:chExt cx="362682" cy="206732"/>
          </a:xfrm>
        </p:grpSpPr>
        <p:cxnSp>
          <p:nvCxnSpPr>
            <p:cNvPr id="335" name="Straight Connector 334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36" name="Straight Connector 335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37" name="Straight Connector 336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339" name="Straight Connector 338"/>
          <p:cNvCxnSpPr/>
          <p:nvPr/>
        </p:nvCxnSpPr>
        <p:spPr bwMode="auto">
          <a:xfrm flipH="1">
            <a:off x="4816897" y="1302428"/>
            <a:ext cx="1518037" cy="2123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40" name="TextBox 339"/>
          <p:cNvSpPr txBox="1"/>
          <p:nvPr/>
        </p:nvSpPr>
        <p:spPr>
          <a:xfrm>
            <a:off x="4904836" y="911611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Verdana"/>
                <a:cs typeface="Verdana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Symbol" charset="2"/>
                <a:cs typeface="Symbol" charset="2"/>
              </a:rPr>
              <a:t>m</a:t>
            </a:r>
          </a:p>
        </p:txBody>
      </p:sp>
      <p:grpSp>
        <p:nvGrpSpPr>
          <p:cNvPr id="341" name="Group 340"/>
          <p:cNvGrpSpPr/>
          <p:nvPr/>
        </p:nvGrpSpPr>
        <p:grpSpPr>
          <a:xfrm rot="16200000">
            <a:off x="5913741" y="3623158"/>
            <a:ext cx="663743" cy="206732"/>
            <a:chOff x="5740858" y="1494076"/>
            <a:chExt cx="663743" cy="206732"/>
          </a:xfrm>
        </p:grpSpPr>
        <p:cxnSp>
          <p:nvCxnSpPr>
            <p:cNvPr id="342" name="Straight Connector 341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43" name="Straight Connector 342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44" name="Straight Connector 343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45" name="Straight Connector 344"/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346" name="TextBox 345"/>
          <p:cNvSpPr txBox="1"/>
          <p:nvPr/>
        </p:nvSpPr>
        <p:spPr>
          <a:xfrm>
            <a:off x="6295972" y="3560835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1</a:t>
            </a:r>
            <a:r>
              <a:rPr lang="en-US" sz="1400" dirty="0">
                <a:latin typeface="Symbol" charset="2"/>
                <a:cs typeface="Symbol" charset="2"/>
              </a:rPr>
              <a:t>m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51126" y="1137071"/>
            <a:ext cx="1723773" cy="6001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1kHz sine wave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1.65V peak-to-peak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2.5V DC offset</a:t>
            </a:r>
          </a:p>
        </p:txBody>
      </p:sp>
      <p:pic>
        <p:nvPicPr>
          <p:cNvPr id="190" name="Picture 189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9000" contras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33803" y="1878493"/>
            <a:ext cx="217945" cy="22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240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3590671" y="3249854"/>
            <a:ext cx="4248203" cy="2968206"/>
            <a:chOff x="755149" y="3181562"/>
            <a:chExt cx="4248203" cy="2968206"/>
          </a:xfrm>
        </p:grpSpPr>
        <p:cxnSp>
          <p:nvCxnSpPr>
            <p:cNvPr id="47" name="Straight Connector 46"/>
            <p:cNvCxnSpPr/>
            <p:nvPr/>
          </p:nvCxnSpPr>
          <p:spPr bwMode="auto">
            <a:xfrm>
              <a:off x="2596585" y="4041791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2596585" y="4041791"/>
              <a:ext cx="1152128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 flipV="1">
              <a:off x="2596585" y="4761871"/>
              <a:ext cx="1152128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52" name="TextBox 51"/>
            <p:cNvSpPr txBox="1"/>
            <p:nvPr/>
          </p:nvSpPr>
          <p:spPr>
            <a:xfrm>
              <a:off x="880273" y="3181562"/>
              <a:ext cx="10008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Vcc = 5v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583055" y="4185807"/>
              <a:ext cx="373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67" name="Straight Connector 66"/>
            <p:cNvCxnSpPr/>
            <p:nvPr/>
          </p:nvCxnSpPr>
          <p:spPr bwMode="auto">
            <a:xfrm flipH="1">
              <a:off x="2668593" y="5049903"/>
              <a:ext cx="14401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8" name="Straight Connector 67"/>
            <p:cNvCxnSpPr/>
            <p:nvPr/>
          </p:nvCxnSpPr>
          <p:spPr bwMode="auto">
            <a:xfrm flipH="1">
              <a:off x="2236545" y="4401831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 flipH="1">
              <a:off x="2236545" y="5049903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2" name="Straight Connector 71"/>
            <p:cNvCxnSpPr/>
            <p:nvPr/>
          </p:nvCxnSpPr>
          <p:spPr bwMode="auto">
            <a:xfrm flipH="1">
              <a:off x="3748713" y="4761871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3" name="Straight Connector 72"/>
            <p:cNvCxnSpPr/>
            <p:nvPr/>
          </p:nvCxnSpPr>
          <p:spPr bwMode="auto">
            <a:xfrm flipV="1">
              <a:off x="3892729" y="4761871"/>
              <a:ext cx="0" cy="9361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4" name="Straight Connector 73"/>
            <p:cNvCxnSpPr/>
            <p:nvPr/>
          </p:nvCxnSpPr>
          <p:spPr bwMode="auto">
            <a:xfrm flipV="1">
              <a:off x="2236545" y="5049903"/>
              <a:ext cx="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88" name="Oval 87"/>
            <p:cNvSpPr/>
            <p:nvPr/>
          </p:nvSpPr>
          <p:spPr bwMode="auto">
            <a:xfrm>
              <a:off x="4540801" y="4689863"/>
              <a:ext cx="144016" cy="144016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/>
                <a:cs typeface="Verdana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4468793" y="4369313"/>
              <a:ext cx="5345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Vo2</a:t>
              </a: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3028633" y="5553959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R9</a:t>
              </a: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 flipH="1">
              <a:off x="3532689" y="5697975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5" name="Straight Connector 74"/>
            <p:cNvCxnSpPr>
              <a:stCxn id="70" idx="1"/>
            </p:cNvCxnSpPr>
            <p:nvPr/>
          </p:nvCxnSpPr>
          <p:spPr bwMode="auto">
            <a:xfrm flipH="1">
              <a:off x="2236545" y="5697975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3028633" y="5841991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200k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553576" y="4598110"/>
              <a:ext cx="10422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½ opamp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3676705" y="4473839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  <a:latin typeface="Verdana"/>
                  <a:cs typeface="Verdana"/>
                </a:rPr>
                <a:t>7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308553" y="4761871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  <a:latin typeface="Verdana"/>
                  <a:cs typeface="Verdana"/>
                </a:rPr>
                <a:t>6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308553" y="4113799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  <a:latin typeface="Verdana"/>
                  <a:cs typeface="Verdana"/>
                </a:rPr>
                <a:t>5</a:t>
              </a:r>
            </a:p>
          </p:txBody>
        </p:sp>
        <p:sp>
          <p:nvSpPr>
            <p:cNvPr id="124" name="Rectangle 123"/>
            <p:cNvSpPr/>
            <p:nvPr/>
          </p:nvSpPr>
          <p:spPr bwMode="auto">
            <a:xfrm rot="16200000">
              <a:off x="1633375" y="3744467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R7</a:t>
              </a:r>
            </a:p>
          </p:txBody>
        </p:sp>
        <p:cxnSp>
          <p:nvCxnSpPr>
            <p:cNvPr id="126" name="Straight Connector 125"/>
            <p:cNvCxnSpPr/>
            <p:nvPr/>
          </p:nvCxnSpPr>
          <p:spPr bwMode="auto">
            <a:xfrm rot="16200000" flipH="1">
              <a:off x="1705383" y="3456435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6" name="Straight Connector 135"/>
            <p:cNvCxnSpPr>
              <a:stCxn id="124" idx="1"/>
            </p:cNvCxnSpPr>
            <p:nvPr/>
          </p:nvCxnSpPr>
          <p:spPr bwMode="auto">
            <a:xfrm>
              <a:off x="1885403" y="4140511"/>
              <a:ext cx="0" cy="2502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 rot="16200000">
              <a:off x="1299451" y="3715165"/>
              <a:ext cx="5191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10k</a:t>
              </a:r>
            </a:p>
          </p:txBody>
        </p:sp>
        <p:sp>
          <p:nvSpPr>
            <p:cNvPr id="139" name="Rectangle 138"/>
            <p:cNvSpPr/>
            <p:nvPr/>
          </p:nvSpPr>
          <p:spPr bwMode="auto">
            <a:xfrm rot="16200000">
              <a:off x="1633377" y="4683751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R8</a:t>
              </a:r>
            </a:p>
          </p:txBody>
        </p:sp>
        <p:cxnSp>
          <p:nvCxnSpPr>
            <p:cNvPr id="140" name="Straight Connector 139"/>
            <p:cNvCxnSpPr>
              <a:endCxn id="139" idx="3"/>
            </p:cNvCxnSpPr>
            <p:nvPr/>
          </p:nvCxnSpPr>
          <p:spPr bwMode="auto">
            <a:xfrm>
              <a:off x="1885405" y="4401832"/>
              <a:ext cx="0" cy="17390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1" name="Straight Connector 140"/>
            <p:cNvCxnSpPr/>
            <p:nvPr/>
          </p:nvCxnSpPr>
          <p:spPr bwMode="auto">
            <a:xfrm>
              <a:off x="1885405" y="5079795"/>
              <a:ext cx="0" cy="20740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42" name="TextBox 141"/>
            <p:cNvSpPr txBox="1"/>
            <p:nvPr/>
          </p:nvSpPr>
          <p:spPr>
            <a:xfrm rot="16200000">
              <a:off x="1327906" y="4682202"/>
              <a:ext cx="5191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10k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1749773" y="5275176"/>
              <a:ext cx="279648" cy="72008"/>
              <a:chOff x="3447628" y="4437112"/>
              <a:chExt cx="351656" cy="144016"/>
            </a:xfrm>
          </p:grpSpPr>
          <p:cxnSp>
            <p:nvCxnSpPr>
              <p:cNvPr id="146" name="Straight Connector 145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8" name="Straight Connector 147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151" name="Oval 150"/>
            <p:cNvSpPr/>
            <p:nvPr/>
          </p:nvSpPr>
          <p:spPr>
            <a:xfrm>
              <a:off x="1849246" y="4374434"/>
              <a:ext cx="79257" cy="7347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52" name="Oval 151"/>
            <p:cNvSpPr/>
            <p:nvPr/>
          </p:nvSpPr>
          <p:spPr>
            <a:xfrm>
              <a:off x="3853100" y="4737539"/>
              <a:ext cx="79257" cy="7347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28" name="Oval 127"/>
            <p:cNvSpPr/>
            <p:nvPr/>
          </p:nvSpPr>
          <p:spPr>
            <a:xfrm>
              <a:off x="2202510" y="5661238"/>
              <a:ext cx="79257" cy="7347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34" name="Straight Connector 133"/>
            <p:cNvCxnSpPr>
              <a:endCxn id="151" idx="6"/>
            </p:cNvCxnSpPr>
            <p:nvPr/>
          </p:nvCxnSpPr>
          <p:spPr bwMode="auto">
            <a:xfrm flipH="1">
              <a:off x="1928503" y="4401830"/>
              <a:ext cx="404594" cy="93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71" name="Group 170"/>
            <p:cNvGrpSpPr/>
            <p:nvPr/>
          </p:nvGrpSpPr>
          <p:grpSpPr>
            <a:xfrm>
              <a:off x="755149" y="5246183"/>
              <a:ext cx="1447361" cy="595808"/>
              <a:chOff x="3822414" y="2941204"/>
              <a:chExt cx="1447361" cy="595808"/>
            </a:xfrm>
          </p:grpSpPr>
          <p:sp>
            <p:nvSpPr>
              <p:cNvPr id="183" name="Rectangle 182"/>
              <p:cNvSpPr/>
              <p:nvPr/>
            </p:nvSpPr>
            <p:spPr bwMode="auto">
              <a:xfrm>
                <a:off x="4146449" y="3248980"/>
                <a:ext cx="504056" cy="288032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Verdana"/>
                    <a:cs typeface="Verdana"/>
                  </a:rPr>
                  <a:t>R10</a:t>
                </a:r>
              </a:p>
            </p:txBody>
          </p:sp>
          <p:cxnSp>
            <p:nvCxnSpPr>
              <p:cNvPr id="186" name="Straight Connector 185"/>
              <p:cNvCxnSpPr>
                <a:stCxn id="128" idx="2"/>
              </p:cNvCxnSpPr>
              <p:nvPr/>
            </p:nvCxnSpPr>
            <p:spPr bwMode="auto">
              <a:xfrm flipH="1">
                <a:off x="4650505" y="3392996"/>
                <a:ext cx="61927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87" name="Straight Connector 186"/>
              <p:cNvCxnSpPr>
                <a:stCxn id="183" idx="1"/>
              </p:cNvCxnSpPr>
              <p:nvPr/>
            </p:nvCxnSpPr>
            <p:spPr bwMode="auto">
              <a:xfrm rot="5400000" flipH="1">
                <a:off x="3984431" y="3230978"/>
                <a:ext cx="1" cy="324036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88" name="TextBox 187"/>
              <p:cNvSpPr txBox="1"/>
              <p:nvPr/>
            </p:nvSpPr>
            <p:spPr>
              <a:xfrm>
                <a:off x="4073400" y="2941204"/>
                <a:ext cx="51919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  <a:latin typeface="Verdana"/>
                    <a:cs typeface="Verdana"/>
                  </a:rPr>
                  <a:t>20k</a:t>
                </a:r>
              </a:p>
            </p:txBody>
          </p:sp>
        </p:grpSp>
      </p:grpSp>
      <p:grpSp>
        <p:nvGrpSpPr>
          <p:cNvPr id="17" name="Group 16"/>
          <p:cNvGrpSpPr/>
          <p:nvPr/>
        </p:nvGrpSpPr>
        <p:grpSpPr>
          <a:xfrm>
            <a:off x="2175403" y="1190932"/>
            <a:ext cx="2373055" cy="1388041"/>
            <a:chOff x="1281988" y="938651"/>
            <a:chExt cx="2373055" cy="1388041"/>
          </a:xfrm>
        </p:grpSpPr>
        <p:cxnSp>
          <p:nvCxnSpPr>
            <p:cNvPr id="218" name="Straight Connector 217"/>
            <p:cNvCxnSpPr/>
            <p:nvPr/>
          </p:nvCxnSpPr>
          <p:spPr bwMode="auto">
            <a:xfrm flipH="1">
              <a:off x="1985518" y="1082505"/>
              <a:ext cx="279949" cy="10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19" name="Oval 218"/>
            <p:cNvSpPr/>
            <p:nvPr/>
          </p:nvSpPr>
          <p:spPr bwMode="auto">
            <a:xfrm>
              <a:off x="1697486" y="1511255"/>
              <a:ext cx="504056" cy="504056"/>
            </a:xfrm>
            <a:prstGeom prst="ellips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 bwMode="auto">
            <a:xfrm>
              <a:off x="1985518" y="1079207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22" name="Straight Connector 221"/>
            <p:cNvCxnSpPr/>
            <p:nvPr/>
          </p:nvCxnSpPr>
          <p:spPr bwMode="auto">
            <a:xfrm>
              <a:off x="1985518" y="2015311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23" name="Group 222"/>
            <p:cNvGrpSpPr/>
            <p:nvPr/>
          </p:nvGrpSpPr>
          <p:grpSpPr>
            <a:xfrm>
              <a:off x="1841502" y="2231335"/>
              <a:ext cx="279648" cy="72008"/>
              <a:chOff x="3447628" y="4437112"/>
              <a:chExt cx="351656" cy="144016"/>
            </a:xfrm>
          </p:grpSpPr>
          <p:cxnSp>
            <p:nvCxnSpPr>
              <p:cNvPr id="224" name="Straight Connector 223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25" name="Straight Connector 22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26" name="Straight Connector 225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227" name="TextBox 226"/>
            <p:cNvSpPr txBox="1"/>
            <p:nvPr/>
          </p:nvSpPr>
          <p:spPr>
            <a:xfrm>
              <a:off x="1281988" y="1613410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Vs</a:t>
              </a:r>
            </a:p>
          </p:txBody>
        </p:sp>
        <p:sp>
          <p:nvSpPr>
            <p:cNvPr id="230" name="Rectangle 229"/>
            <p:cNvSpPr/>
            <p:nvPr/>
          </p:nvSpPr>
          <p:spPr bwMode="auto">
            <a:xfrm>
              <a:off x="2330580" y="938651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R5</a:t>
              </a:r>
            </a:p>
          </p:txBody>
        </p:sp>
        <p:cxnSp>
          <p:nvCxnSpPr>
            <p:cNvPr id="231" name="Straight Connector 230"/>
            <p:cNvCxnSpPr/>
            <p:nvPr/>
          </p:nvCxnSpPr>
          <p:spPr bwMode="auto">
            <a:xfrm flipH="1">
              <a:off x="2834636" y="1088492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32" name="Straight Connector 231"/>
            <p:cNvCxnSpPr>
              <a:stCxn id="230" idx="1"/>
            </p:cNvCxnSpPr>
            <p:nvPr/>
          </p:nvCxnSpPr>
          <p:spPr bwMode="auto">
            <a:xfrm flipH="1">
              <a:off x="2005701" y="1082667"/>
              <a:ext cx="324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33" name="TextBox 232"/>
            <p:cNvSpPr txBox="1"/>
            <p:nvPr/>
          </p:nvSpPr>
          <p:spPr>
            <a:xfrm>
              <a:off x="2330580" y="1232508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Verdana"/>
                  <a:cs typeface="Verdana"/>
                </a:rPr>
                <a:t>100k</a:t>
              </a:r>
            </a:p>
          </p:txBody>
        </p:sp>
        <p:sp>
          <p:nvSpPr>
            <p:cNvPr id="241" name="Rectangle 240"/>
            <p:cNvSpPr/>
            <p:nvPr/>
          </p:nvSpPr>
          <p:spPr bwMode="auto">
            <a:xfrm rot="16200000">
              <a:off x="2945396" y="1546417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R6</a:t>
              </a:r>
            </a:p>
          </p:txBody>
        </p:sp>
        <p:cxnSp>
          <p:nvCxnSpPr>
            <p:cNvPr id="242" name="Straight Connector 241"/>
            <p:cNvCxnSpPr/>
            <p:nvPr/>
          </p:nvCxnSpPr>
          <p:spPr bwMode="auto">
            <a:xfrm rot="16200000" flipH="1">
              <a:off x="3023229" y="1258385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43" name="Straight Connector 242"/>
            <p:cNvCxnSpPr>
              <a:stCxn id="241" idx="1"/>
            </p:cNvCxnSpPr>
            <p:nvPr/>
          </p:nvCxnSpPr>
          <p:spPr bwMode="auto">
            <a:xfrm rot="16200000" flipH="1">
              <a:off x="3034985" y="2104901"/>
              <a:ext cx="324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44" name="TextBox 243"/>
            <p:cNvSpPr txBox="1"/>
            <p:nvPr/>
          </p:nvSpPr>
          <p:spPr>
            <a:xfrm rot="16200000">
              <a:off x="3298628" y="1471820"/>
              <a:ext cx="405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Verdana"/>
                  <a:cs typeface="Verdana"/>
                </a:rPr>
                <a:t>1k</a:t>
              </a:r>
            </a:p>
          </p:txBody>
        </p:sp>
        <p:cxnSp>
          <p:nvCxnSpPr>
            <p:cNvPr id="246" name="Straight Connector 245"/>
            <p:cNvCxnSpPr/>
            <p:nvPr/>
          </p:nvCxnSpPr>
          <p:spPr bwMode="auto">
            <a:xfrm>
              <a:off x="3194154" y="2038660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47" name="Group 246"/>
            <p:cNvGrpSpPr/>
            <p:nvPr/>
          </p:nvGrpSpPr>
          <p:grpSpPr>
            <a:xfrm>
              <a:off x="3050138" y="2254684"/>
              <a:ext cx="279648" cy="72008"/>
              <a:chOff x="3447628" y="4437112"/>
              <a:chExt cx="351656" cy="144016"/>
            </a:xfrm>
          </p:grpSpPr>
          <p:cxnSp>
            <p:nvCxnSpPr>
              <p:cNvPr id="248" name="Straight Connector 247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49" name="Straight Connector 248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50" name="Straight Connector 249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251" name="Straight Connector 250"/>
            <p:cNvCxnSpPr/>
            <p:nvPr/>
          </p:nvCxnSpPr>
          <p:spPr bwMode="auto">
            <a:xfrm flipH="1">
              <a:off x="3194154" y="1075272"/>
              <a:ext cx="440833" cy="827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52" name="Oval 251"/>
            <p:cNvSpPr/>
            <p:nvPr/>
          </p:nvSpPr>
          <p:spPr>
            <a:xfrm>
              <a:off x="3163619" y="1041627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3" name="Group 252"/>
          <p:cNvGrpSpPr/>
          <p:nvPr/>
        </p:nvGrpSpPr>
        <p:grpSpPr>
          <a:xfrm>
            <a:off x="6598423" y="942389"/>
            <a:ext cx="1152128" cy="1368152"/>
            <a:chOff x="2503140" y="2852936"/>
            <a:chExt cx="1440160" cy="1368152"/>
          </a:xfrm>
        </p:grpSpPr>
        <p:cxnSp>
          <p:nvCxnSpPr>
            <p:cNvPr id="254" name="Straight Connector 253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55" name="Straight Connector 254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56" name="Straight Connector 255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257" name="TextBox 256"/>
          <p:cNvSpPr txBox="1"/>
          <p:nvPr/>
        </p:nvSpPr>
        <p:spPr>
          <a:xfrm>
            <a:off x="4882111" y="82160"/>
            <a:ext cx="100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Vcc = 5v</a:t>
            </a:r>
          </a:p>
        </p:txBody>
      </p:sp>
      <p:cxnSp>
        <p:nvCxnSpPr>
          <p:cNvPr id="258" name="Straight Connector 257"/>
          <p:cNvCxnSpPr/>
          <p:nvPr/>
        </p:nvCxnSpPr>
        <p:spPr bwMode="auto">
          <a:xfrm>
            <a:off x="7173713" y="349009"/>
            <a:ext cx="776" cy="9534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259" name="Group 258"/>
          <p:cNvGrpSpPr/>
          <p:nvPr/>
        </p:nvGrpSpPr>
        <p:grpSpPr>
          <a:xfrm>
            <a:off x="7246495" y="1878493"/>
            <a:ext cx="279648" cy="288032"/>
            <a:chOff x="3079204" y="2996952"/>
            <a:chExt cx="279648" cy="288032"/>
          </a:xfrm>
        </p:grpSpPr>
        <p:cxnSp>
          <p:nvCxnSpPr>
            <p:cNvPr id="260" name="Straight Connector 259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61" name="Group 26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262" name="Straight Connector 261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63" name="Straight Connector 262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64" name="Straight Connector 263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265" name="TextBox 264"/>
          <p:cNvSpPr txBox="1"/>
          <p:nvPr/>
        </p:nvSpPr>
        <p:spPr>
          <a:xfrm>
            <a:off x="6584893" y="1086405"/>
            <a:ext cx="37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266" name="Straight Connector 265"/>
          <p:cNvCxnSpPr/>
          <p:nvPr/>
        </p:nvCxnSpPr>
        <p:spPr bwMode="auto">
          <a:xfrm flipH="1">
            <a:off x="6670431" y="1950501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7" name="Straight Connector 266"/>
          <p:cNvCxnSpPr/>
          <p:nvPr/>
        </p:nvCxnSpPr>
        <p:spPr bwMode="auto">
          <a:xfrm flipH="1">
            <a:off x="6238383" y="1302429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8" name="Straight Connector 267"/>
          <p:cNvCxnSpPr/>
          <p:nvPr/>
        </p:nvCxnSpPr>
        <p:spPr bwMode="auto">
          <a:xfrm flipH="1">
            <a:off x="6238383" y="1950501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9" name="Straight Connector 268"/>
          <p:cNvCxnSpPr/>
          <p:nvPr/>
        </p:nvCxnSpPr>
        <p:spPr bwMode="auto">
          <a:xfrm flipH="1">
            <a:off x="7750551" y="1662469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70" name="Straight Connector 269"/>
          <p:cNvCxnSpPr/>
          <p:nvPr/>
        </p:nvCxnSpPr>
        <p:spPr bwMode="auto">
          <a:xfrm flipV="1">
            <a:off x="7894567" y="1662469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71" name="Straight Connector 270"/>
          <p:cNvCxnSpPr/>
          <p:nvPr/>
        </p:nvCxnSpPr>
        <p:spPr bwMode="auto">
          <a:xfrm flipV="1">
            <a:off x="6238383" y="1950501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72" name="Oval 271"/>
          <p:cNvSpPr/>
          <p:nvPr/>
        </p:nvSpPr>
        <p:spPr bwMode="auto">
          <a:xfrm>
            <a:off x="8542639" y="1590461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sp>
        <p:nvSpPr>
          <p:cNvPr id="273" name="TextBox 272"/>
          <p:cNvSpPr txBox="1"/>
          <p:nvPr/>
        </p:nvSpPr>
        <p:spPr>
          <a:xfrm>
            <a:off x="8470631" y="1269911"/>
            <a:ext cx="534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Vo1</a:t>
            </a:r>
          </a:p>
        </p:txBody>
      </p:sp>
      <p:grpSp>
        <p:nvGrpSpPr>
          <p:cNvPr id="274" name="Group 273"/>
          <p:cNvGrpSpPr/>
          <p:nvPr/>
        </p:nvGrpSpPr>
        <p:grpSpPr>
          <a:xfrm>
            <a:off x="6238383" y="2454557"/>
            <a:ext cx="1656184" cy="595809"/>
            <a:chOff x="3354361" y="3248980"/>
            <a:chExt cx="1656184" cy="595809"/>
          </a:xfrm>
        </p:grpSpPr>
        <p:sp>
          <p:nvSpPr>
            <p:cNvPr id="275" name="Rectangle 274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R3</a:t>
              </a:r>
            </a:p>
          </p:txBody>
        </p:sp>
        <p:cxnSp>
          <p:nvCxnSpPr>
            <p:cNvPr id="276" name="Straight Connector 275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7" name="Straight Connector 276"/>
            <p:cNvCxnSpPr>
              <a:stCxn id="275" idx="1"/>
            </p:cNvCxnSpPr>
            <p:nvPr/>
          </p:nvCxnSpPr>
          <p:spPr bwMode="auto">
            <a:xfrm flipH="1">
              <a:off x="3354361" y="3392996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78" name="TextBox 277"/>
            <p:cNvSpPr txBox="1"/>
            <p:nvPr/>
          </p:nvSpPr>
          <p:spPr>
            <a:xfrm>
              <a:off x="4146449" y="353701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279" name="Group 278"/>
          <p:cNvGrpSpPr/>
          <p:nvPr/>
        </p:nvGrpSpPr>
        <p:grpSpPr>
          <a:xfrm>
            <a:off x="7174487" y="726365"/>
            <a:ext cx="792087" cy="648071"/>
            <a:chOff x="2575148" y="1844825"/>
            <a:chExt cx="792087" cy="648071"/>
          </a:xfrm>
        </p:grpSpPr>
        <p:grpSp>
          <p:nvGrpSpPr>
            <p:cNvPr id="280" name="Group 279"/>
            <p:cNvGrpSpPr/>
            <p:nvPr/>
          </p:nvGrpSpPr>
          <p:grpSpPr>
            <a:xfrm>
              <a:off x="2575148" y="1844825"/>
              <a:ext cx="792087" cy="504056"/>
              <a:chOff x="3511253" y="2048847"/>
              <a:chExt cx="792087" cy="588065"/>
            </a:xfrm>
          </p:grpSpPr>
          <p:grpSp>
            <p:nvGrpSpPr>
              <p:cNvPr id="287" name="Group 286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289" name="Straight Connector 288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90" name="Straight Connector 289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91" name="Straight Connector 290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92" name="Straight Connector 291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93" name="Straight Connector 292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288" name="TextBox 287"/>
              <p:cNvSpPr txBox="1"/>
              <p:nvPr/>
            </p:nvSpPr>
            <p:spPr>
              <a:xfrm>
                <a:off x="3772425" y="2048847"/>
                <a:ext cx="530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Verdana"/>
                    <a:cs typeface="Verdana"/>
                  </a:rPr>
                  <a:t>0.1</a:t>
                </a:r>
                <a:r>
                  <a:rPr lang="en-US" sz="1200" dirty="0">
                    <a:latin typeface="Symbol" charset="2"/>
                    <a:cs typeface="Symbol" charset="2"/>
                  </a:rPr>
                  <a:t>m</a:t>
                </a:r>
              </a:p>
            </p:txBody>
          </p:sp>
        </p:grpSp>
        <p:grpSp>
          <p:nvGrpSpPr>
            <p:cNvPr id="281" name="Group 280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282" name="Straight Connector 281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83" name="Group 282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84" name="Straight Connector 283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85" name="Straight Connector 284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86" name="Straight Connector 285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294" name="TextBox 293"/>
          <p:cNvSpPr txBox="1"/>
          <p:nvPr/>
        </p:nvSpPr>
        <p:spPr>
          <a:xfrm>
            <a:off x="6555414" y="1498708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½ opamp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6886455" y="942389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8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7318503" y="1806485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4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7678543" y="1374437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1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6310391" y="1662469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2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6310391" y="1014397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3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7573769" y="962134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C1</a:t>
            </a:r>
          </a:p>
        </p:txBody>
      </p:sp>
      <p:grpSp>
        <p:nvGrpSpPr>
          <p:cNvPr id="301" name="Group 300"/>
          <p:cNvGrpSpPr/>
          <p:nvPr/>
        </p:nvGrpSpPr>
        <p:grpSpPr>
          <a:xfrm rot="16200000">
            <a:off x="5161934" y="422074"/>
            <a:ext cx="1114384" cy="624261"/>
            <a:chOff x="3896161" y="2912751"/>
            <a:chExt cx="1114384" cy="624261"/>
          </a:xfrm>
        </p:grpSpPr>
        <p:sp>
          <p:nvSpPr>
            <p:cNvPr id="302" name="Rectangle 301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R1</a:t>
              </a:r>
            </a:p>
          </p:txBody>
        </p:sp>
        <p:cxnSp>
          <p:nvCxnSpPr>
            <p:cNvPr id="303" name="Straight Connector 302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04" name="Straight Connector 303"/>
            <p:cNvCxnSpPr>
              <a:stCxn id="302" idx="1"/>
            </p:cNvCxnSpPr>
            <p:nvPr/>
          </p:nvCxnSpPr>
          <p:spPr bwMode="auto">
            <a:xfrm rot="5400000">
              <a:off x="4021305" y="3267852"/>
              <a:ext cx="0" cy="2502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05" name="TextBox 304"/>
            <p:cNvSpPr txBox="1"/>
            <p:nvPr/>
          </p:nvSpPr>
          <p:spPr>
            <a:xfrm>
              <a:off x="4101153" y="2912751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306" name="Group 305"/>
          <p:cNvGrpSpPr/>
          <p:nvPr/>
        </p:nvGrpSpPr>
        <p:grpSpPr>
          <a:xfrm rot="16200000">
            <a:off x="5139289" y="1598591"/>
            <a:ext cx="1188131" cy="595808"/>
            <a:chOff x="3822414" y="2941204"/>
            <a:chExt cx="1188131" cy="595808"/>
          </a:xfrm>
        </p:grpSpPr>
        <p:sp>
          <p:nvSpPr>
            <p:cNvPr id="307" name="Rectangle 306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R2</a:t>
              </a:r>
            </a:p>
          </p:txBody>
        </p:sp>
        <p:cxnSp>
          <p:nvCxnSpPr>
            <p:cNvPr id="308" name="Straight Connector 307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09" name="Straight Connector 308"/>
            <p:cNvCxnSpPr>
              <a:stCxn id="307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10" name="TextBox 309"/>
            <p:cNvSpPr txBox="1"/>
            <p:nvPr/>
          </p:nvSpPr>
          <p:spPr>
            <a:xfrm>
              <a:off x="4073400" y="2941204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311" name="Group 310"/>
          <p:cNvGrpSpPr/>
          <p:nvPr/>
        </p:nvGrpSpPr>
        <p:grpSpPr>
          <a:xfrm>
            <a:off x="5743225" y="2490561"/>
            <a:ext cx="279648" cy="288032"/>
            <a:chOff x="3079204" y="2996952"/>
            <a:chExt cx="279648" cy="288032"/>
          </a:xfrm>
        </p:grpSpPr>
        <p:cxnSp>
          <p:nvCxnSpPr>
            <p:cNvPr id="312" name="Straight Connector 311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13" name="Group 312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314" name="Straight Connector 313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15" name="Straight Connector 31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16" name="Straight Connector 315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cxnSp>
        <p:nvCxnSpPr>
          <p:cNvPr id="317" name="Straight Connector 316"/>
          <p:cNvCxnSpPr/>
          <p:nvPr/>
        </p:nvCxnSpPr>
        <p:spPr bwMode="auto">
          <a:xfrm flipH="1">
            <a:off x="5887241" y="349009"/>
            <a:ext cx="1286472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18" name="Oval 317"/>
          <p:cNvSpPr/>
          <p:nvPr/>
        </p:nvSpPr>
        <p:spPr>
          <a:xfrm>
            <a:off x="7134860" y="76163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9" name="Oval 318"/>
          <p:cNvSpPr/>
          <p:nvPr/>
        </p:nvSpPr>
        <p:spPr>
          <a:xfrm>
            <a:off x="5851084" y="1275032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0" name="Oval 319"/>
          <p:cNvSpPr/>
          <p:nvPr/>
        </p:nvSpPr>
        <p:spPr>
          <a:xfrm>
            <a:off x="7854938" y="1638137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1" name="Oval 320"/>
          <p:cNvSpPr/>
          <p:nvPr/>
        </p:nvSpPr>
        <p:spPr>
          <a:xfrm>
            <a:off x="5851084" y="316463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22" name="Group 321"/>
          <p:cNvGrpSpPr/>
          <p:nvPr/>
        </p:nvGrpSpPr>
        <p:grpSpPr>
          <a:xfrm rot="16200000">
            <a:off x="5497661" y="2745814"/>
            <a:ext cx="1188131" cy="595806"/>
            <a:chOff x="3822414" y="2941206"/>
            <a:chExt cx="1188131" cy="595806"/>
          </a:xfrm>
        </p:grpSpPr>
        <p:sp>
          <p:nvSpPr>
            <p:cNvPr id="323" name="Rectangle 322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R4</a:t>
              </a:r>
            </a:p>
          </p:txBody>
        </p:sp>
        <p:cxnSp>
          <p:nvCxnSpPr>
            <p:cNvPr id="324" name="Straight Connector 323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25" name="Straight Connector 324"/>
            <p:cNvCxnSpPr>
              <a:stCxn id="323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26" name="TextBox 325"/>
            <p:cNvSpPr txBox="1"/>
            <p:nvPr/>
          </p:nvSpPr>
          <p:spPr>
            <a:xfrm>
              <a:off x="4130556" y="2941206"/>
              <a:ext cx="5191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20k</a:t>
              </a:r>
            </a:p>
          </p:txBody>
        </p:sp>
      </p:grpSp>
      <p:grpSp>
        <p:nvGrpSpPr>
          <p:cNvPr id="327" name="Group 326"/>
          <p:cNvGrpSpPr/>
          <p:nvPr/>
        </p:nvGrpSpPr>
        <p:grpSpPr>
          <a:xfrm>
            <a:off x="6098559" y="3914380"/>
            <a:ext cx="279648" cy="288032"/>
            <a:chOff x="3079204" y="2996952"/>
            <a:chExt cx="279648" cy="288032"/>
          </a:xfrm>
        </p:grpSpPr>
        <p:cxnSp>
          <p:nvCxnSpPr>
            <p:cNvPr id="328" name="Straight Connector 327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29" name="Group 328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330" name="Straight Connector 329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31" name="Straight Connector 330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32" name="Straight Connector 331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333" name="Oval 332"/>
          <p:cNvSpPr/>
          <p:nvPr/>
        </p:nvSpPr>
        <p:spPr>
          <a:xfrm>
            <a:off x="6204348" y="256183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34" name="Group 333"/>
          <p:cNvGrpSpPr/>
          <p:nvPr/>
        </p:nvGrpSpPr>
        <p:grpSpPr>
          <a:xfrm>
            <a:off x="4454215" y="1230421"/>
            <a:ext cx="362682" cy="206732"/>
            <a:chOff x="5740858" y="1494076"/>
            <a:chExt cx="362682" cy="206732"/>
          </a:xfrm>
        </p:grpSpPr>
        <p:cxnSp>
          <p:nvCxnSpPr>
            <p:cNvPr id="335" name="Straight Connector 334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36" name="Straight Connector 335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37" name="Straight Connector 336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339" name="Straight Connector 338"/>
          <p:cNvCxnSpPr/>
          <p:nvPr/>
        </p:nvCxnSpPr>
        <p:spPr bwMode="auto">
          <a:xfrm flipH="1">
            <a:off x="4816897" y="1302428"/>
            <a:ext cx="1518037" cy="2123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40" name="TextBox 339"/>
          <p:cNvSpPr txBox="1"/>
          <p:nvPr/>
        </p:nvSpPr>
        <p:spPr>
          <a:xfrm>
            <a:off x="4904836" y="911611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Verdana"/>
                <a:cs typeface="Verdana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Symbol" charset="2"/>
                <a:cs typeface="Symbol" charset="2"/>
              </a:rPr>
              <a:t>m</a:t>
            </a:r>
          </a:p>
        </p:txBody>
      </p:sp>
      <p:grpSp>
        <p:nvGrpSpPr>
          <p:cNvPr id="341" name="Group 340"/>
          <p:cNvGrpSpPr/>
          <p:nvPr/>
        </p:nvGrpSpPr>
        <p:grpSpPr>
          <a:xfrm rot="16200000">
            <a:off x="5913741" y="3623158"/>
            <a:ext cx="663743" cy="206732"/>
            <a:chOff x="5740858" y="1494076"/>
            <a:chExt cx="663743" cy="206732"/>
          </a:xfrm>
        </p:grpSpPr>
        <p:cxnSp>
          <p:nvCxnSpPr>
            <p:cNvPr id="342" name="Straight Connector 341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43" name="Straight Connector 342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44" name="Straight Connector 343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45" name="Straight Connector 344"/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346" name="TextBox 345"/>
          <p:cNvSpPr txBox="1"/>
          <p:nvPr/>
        </p:nvSpPr>
        <p:spPr>
          <a:xfrm>
            <a:off x="6295972" y="3560835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1</a:t>
            </a:r>
            <a:r>
              <a:rPr lang="en-US" sz="1400" dirty="0">
                <a:latin typeface="Symbol" charset="2"/>
                <a:cs typeface="Symbol" charset="2"/>
              </a:rPr>
              <a:t>m</a:t>
            </a:r>
          </a:p>
        </p:txBody>
      </p:sp>
      <p:cxnSp>
        <p:nvCxnSpPr>
          <p:cNvPr id="349" name="Straight Connector 348"/>
          <p:cNvCxnSpPr/>
          <p:nvPr/>
        </p:nvCxnSpPr>
        <p:spPr bwMode="auto">
          <a:xfrm flipV="1">
            <a:off x="5307510" y="1320611"/>
            <a:ext cx="0" cy="154690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50" name="Straight Connector 349"/>
          <p:cNvCxnSpPr/>
          <p:nvPr/>
        </p:nvCxnSpPr>
        <p:spPr bwMode="auto">
          <a:xfrm flipV="1">
            <a:off x="3590670" y="2864331"/>
            <a:ext cx="1716840" cy="318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51" name="Straight Connector 350"/>
          <p:cNvCxnSpPr/>
          <p:nvPr/>
        </p:nvCxnSpPr>
        <p:spPr bwMode="auto">
          <a:xfrm flipV="1">
            <a:off x="3590670" y="2864331"/>
            <a:ext cx="0" cy="290193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352" name="Group 351"/>
          <p:cNvGrpSpPr/>
          <p:nvPr/>
        </p:nvGrpSpPr>
        <p:grpSpPr>
          <a:xfrm>
            <a:off x="1125665" y="2979169"/>
            <a:ext cx="2033217" cy="2916872"/>
            <a:chOff x="894141" y="1079875"/>
            <a:chExt cx="2449956" cy="3531416"/>
          </a:xfrm>
        </p:grpSpPr>
        <p:pic>
          <p:nvPicPr>
            <p:cNvPr id="353" name="Picture 35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64843" y="2044481"/>
              <a:ext cx="3333421" cy="1800200"/>
            </a:xfrm>
            <a:prstGeom prst="rect">
              <a:avLst/>
            </a:prstGeom>
          </p:spPr>
        </p:pic>
        <p:cxnSp>
          <p:nvCxnSpPr>
            <p:cNvPr id="354" name="Straight Connector 353"/>
            <p:cNvCxnSpPr/>
            <p:nvPr/>
          </p:nvCxnSpPr>
          <p:spPr>
            <a:xfrm>
              <a:off x="1110456" y="1436232"/>
              <a:ext cx="0" cy="803649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/>
            <p:cNvCxnSpPr/>
            <p:nvPr/>
          </p:nvCxnSpPr>
          <p:spPr>
            <a:xfrm>
              <a:off x="1110456" y="2213178"/>
              <a:ext cx="312735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6" name="TextBox 355"/>
            <p:cNvSpPr txBox="1"/>
            <p:nvPr/>
          </p:nvSpPr>
          <p:spPr>
            <a:xfrm>
              <a:off x="894141" y="1079875"/>
              <a:ext cx="432630" cy="369332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5V</a:t>
              </a:r>
            </a:p>
          </p:txBody>
        </p:sp>
        <p:cxnSp>
          <p:nvCxnSpPr>
            <p:cNvPr id="357" name="Straight Connector 356"/>
            <p:cNvCxnSpPr/>
            <p:nvPr/>
          </p:nvCxnSpPr>
          <p:spPr>
            <a:xfrm>
              <a:off x="3189637" y="3652070"/>
              <a:ext cx="0" cy="803649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/>
            <p:cNvCxnSpPr/>
            <p:nvPr/>
          </p:nvCxnSpPr>
          <p:spPr>
            <a:xfrm>
              <a:off x="2871320" y="3663019"/>
              <a:ext cx="312735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9" name="Group 358"/>
            <p:cNvGrpSpPr/>
            <p:nvPr/>
          </p:nvGrpSpPr>
          <p:grpSpPr>
            <a:xfrm>
              <a:off x="2980220" y="4467883"/>
              <a:ext cx="363877" cy="136466"/>
              <a:chOff x="8119490" y="1641231"/>
              <a:chExt cx="363877" cy="136466"/>
            </a:xfrm>
          </p:grpSpPr>
          <p:cxnSp>
            <p:nvCxnSpPr>
              <p:cNvPr id="360" name="Straight Connector 359"/>
              <p:cNvCxnSpPr/>
              <p:nvPr/>
            </p:nvCxnSpPr>
            <p:spPr>
              <a:xfrm flipV="1">
                <a:off x="8119490" y="1641231"/>
                <a:ext cx="363877" cy="1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360"/>
              <p:cNvCxnSpPr/>
              <p:nvPr/>
            </p:nvCxnSpPr>
            <p:spPr>
              <a:xfrm flipV="1">
                <a:off x="8207647" y="1709463"/>
                <a:ext cx="187799" cy="2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/>
              <p:cNvCxnSpPr/>
              <p:nvPr/>
            </p:nvCxnSpPr>
            <p:spPr>
              <a:xfrm>
                <a:off x="8246959" y="1777697"/>
                <a:ext cx="128949" cy="0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4" name="Oval 363"/>
          <p:cNvSpPr/>
          <p:nvPr/>
        </p:nvSpPr>
        <p:spPr>
          <a:xfrm>
            <a:off x="5267881" y="128055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4" name="TextBox 183"/>
          <p:cNvSpPr txBox="1"/>
          <p:nvPr/>
        </p:nvSpPr>
        <p:spPr>
          <a:xfrm>
            <a:off x="951126" y="1137071"/>
            <a:ext cx="1723773" cy="6001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1kHz sine wave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1.65V peak-to-peak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2.5V DC offset</a:t>
            </a:r>
          </a:p>
        </p:txBody>
      </p:sp>
      <p:sp>
        <p:nvSpPr>
          <p:cNvPr id="2" name="Rectangle 1"/>
          <p:cNvSpPr/>
          <p:nvPr/>
        </p:nvSpPr>
        <p:spPr>
          <a:xfrm>
            <a:off x="1794690" y="4058396"/>
            <a:ext cx="940227" cy="483735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solidFill>
              <a:srgbClr val="B90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/>
          <p:cNvSpPr/>
          <p:nvPr/>
        </p:nvSpPr>
        <p:spPr>
          <a:xfrm>
            <a:off x="1564724" y="4516201"/>
            <a:ext cx="796711" cy="531498"/>
          </a:xfrm>
          <a:prstGeom prst="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683234" y="4182091"/>
            <a:ext cx="2743340" cy="462694"/>
          </a:xfrm>
          <a:prstGeom prst="straightConnector1">
            <a:avLst/>
          </a:prstGeom>
          <a:ln>
            <a:solidFill>
              <a:srgbClr val="B9000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0" name="Picture 189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9000" contras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33803" y="1878493"/>
            <a:ext cx="217945" cy="22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74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3590671" y="3249854"/>
            <a:ext cx="4248203" cy="2968206"/>
            <a:chOff x="755149" y="3181562"/>
            <a:chExt cx="4248203" cy="2968206"/>
          </a:xfrm>
        </p:grpSpPr>
        <p:cxnSp>
          <p:nvCxnSpPr>
            <p:cNvPr id="47" name="Straight Connector 46"/>
            <p:cNvCxnSpPr/>
            <p:nvPr/>
          </p:nvCxnSpPr>
          <p:spPr bwMode="auto">
            <a:xfrm>
              <a:off x="2596585" y="4041791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2596585" y="4041791"/>
              <a:ext cx="1152128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 flipV="1">
              <a:off x="2596585" y="4761871"/>
              <a:ext cx="1152128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52" name="TextBox 51"/>
            <p:cNvSpPr txBox="1"/>
            <p:nvPr/>
          </p:nvSpPr>
          <p:spPr>
            <a:xfrm>
              <a:off x="880273" y="3181562"/>
              <a:ext cx="10008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Vcc = 5v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583055" y="4185807"/>
              <a:ext cx="373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67" name="Straight Connector 66"/>
            <p:cNvCxnSpPr/>
            <p:nvPr/>
          </p:nvCxnSpPr>
          <p:spPr bwMode="auto">
            <a:xfrm flipH="1">
              <a:off x="2668593" y="5049903"/>
              <a:ext cx="14401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8" name="Straight Connector 67"/>
            <p:cNvCxnSpPr/>
            <p:nvPr/>
          </p:nvCxnSpPr>
          <p:spPr bwMode="auto">
            <a:xfrm flipH="1">
              <a:off x="2236545" y="4401831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 flipH="1">
              <a:off x="2236545" y="5049903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2" name="Straight Connector 71"/>
            <p:cNvCxnSpPr/>
            <p:nvPr/>
          </p:nvCxnSpPr>
          <p:spPr bwMode="auto">
            <a:xfrm flipH="1">
              <a:off x="3748713" y="4761871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3" name="Straight Connector 72"/>
            <p:cNvCxnSpPr/>
            <p:nvPr/>
          </p:nvCxnSpPr>
          <p:spPr bwMode="auto">
            <a:xfrm flipV="1">
              <a:off x="3892729" y="4761871"/>
              <a:ext cx="0" cy="9361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4" name="Straight Connector 73"/>
            <p:cNvCxnSpPr/>
            <p:nvPr/>
          </p:nvCxnSpPr>
          <p:spPr bwMode="auto">
            <a:xfrm flipV="1">
              <a:off x="2236545" y="5049903"/>
              <a:ext cx="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88" name="Oval 87"/>
            <p:cNvSpPr/>
            <p:nvPr/>
          </p:nvSpPr>
          <p:spPr bwMode="auto">
            <a:xfrm>
              <a:off x="4540801" y="4689863"/>
              <a:ext cx="144016" cy="144016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Verdana"/>
                <a:cs typeface="Verdana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4468793" y="4369313"/>
              <a:ext cx="5345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Vo2</a:t>
              </a: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3028633" y="5553959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R9</a:t>
              </a: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 flipH="1">
              <a:off x="3532689" y="5697975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5" name="Straight Connector 74"/>
            <p:cNvCxnSpPr>
              <a:stCxn id="70" idx="1"/>
            </p:cNvCxnSpPr>
            <p:nvPr/>
          </p:nvCxnSpPr>
          <p:spPr bwMode="auto">
            <a:xfrm flipH="1">
              <a:off x="2236545" y="5697975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3028633" y="5841991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200k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553576" y="4598110"/>
              <a:ext cx="10422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½ opamp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3676705" y="4473839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  <a:latin typeface="Verdana"/>
                  <a:cs typeface="Verdana"/>
                </a:rPr>
                <a:t>7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308553" y="4761871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  <a:latin typeface="Verdana"/>
                  <a:cs typeface="Verdana"/>
                </a:rPr>
                <a:t>6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308553" y="4113799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  <a:latin typeface="Verdana"/>
                  <a:cs typeface="Verdana"/>
                </a:rPr>
                <a:t>5</a:t>
              </a:r>
            </a:p>
          </p:txBody>
        </p:sp>
        <p:sp>
          <p:nvSpPr>
            <p:cNvPr id="124" name="Rectangle 123"/>
            <p:cNvSpPr/>
            <p:nvPr/>
          </p:nvSpPr>
          <p:spPr bwMode="auto">
            <a:xfrm rot="16200000">
              <a:off x="1633375" y="3744467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R7</a:t>
              </a:r>
            </a:p>
          </p:txBody>
        </p:sp>
        <p:cxnSp>
          <p:nvCxnSpPr>
            <p:cNvPr id="126" name="Straight Connector 125"/>
            <p:cNvCxnSpPr/>
            <p:nvPr/>
          </p:nvCxnSpPr>
          <p:spPr bwMode="auto">
            <a:xfrm rot="16200000" flipH="1">
              <a:off x="1705383" y="3456435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6" name="Straight Connector 135"/>
            <p:cNvCxnSpPr>
              <a:stCxn id="124" idx="1"/>
            </p:cNvCxnSpPr>
            <p:nvPr/>
          </p:nvCxnSpPr>
          <p:spPr bwMode="auto">
            <a:xfrm>
              <a:off x="1885403" y="4140511"/>
              <a:ext cx="0" cy="2502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 rot="16200000">
              <a:off x="1299451" y="3715165"/>
              <a:ext cx="5191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10k</a:t>
              </a:r>
            </a:p>
          </p:txBody>
        </p:sp>
        <p:sp>
          <p:nvSpPr>
            <p:cNvPr id="139" name="Rectangle 138"/>
            <p:cNvSpPr/>
            <p:nvPr/>
          </p:nvSpPr>
          <p:spPr bwMode="auto">
            <a:xfrm rot="16200000">
              <a:off x="1633377" y="4683751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R8</a:t>
              </a:r>
            </a:p>
          </p:txBody>
        </p:sp>
        <p:cxnSp>
          <p:nvCxnSpPr>
            <p:cNvPr id="140" name="Straight Connector 139"/>
            <p:cNvCxnSpPr>
              <a:endCxn id="139" idx="3"/>
            </p:cNvCxnSpPr>
            <p:nvPr/>
          </p:nvCxnSpPr>
          <p:spPr bwMode="auto">
            <a:xfrm>
              <a:off x="1885405" y="4401832"/>
              <a:ext cx="0" cy="17390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1" name="Straight Connector 140"/>
            <p:cNvCxnSpPr/>
            <p:nvPr/>
          </p:nvCxnSpPr>
          <p:spPr bwMode="auto">
            <a:xfrm>
              <a:off x="1885405" y="5079795"/>
              <a:ext cx="0" cy="20740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42" name="TextBox 141"/>
            <p:cNvSpPr txBox="1"/>
            <p:nvPr/>
          </p:nvSpPr>
          <p:spPr>
            <a:xfrm rot="16200000">
              <a:off x="1327906" y="4682202"/>
              <a:ext cx="5191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10k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1749773" y="5275176"/>
              <a:ext cx="279648" cy="72008"/>
              <a:chOff x="3447628" y="4437112"/>
              <a:chExt cx="351656" cy="144016"/>
            </a:xfrm>
          </p:grpSpPr>
          <p:cxnSp>
            <p:nvCxnSpPr>
              <p:cNvPr id="146" name="Straight Connector 145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8" name="Straight Connector 147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151" name="Oval 150"/>
            <p:cNvSpPr/>
            <p:nvPr/>
          </p:nvSpPr>
          <p:spPr>
            <a:xfrm>
              <a:off x="1849246" y="4374434"/>
              <a:ext cx="79257" cy="7347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52" name="Oval 151"/>
            <p:cNvSpPr/>
            <p:nvPr/>
          </p:nvSpPr>
          <p:spPr>
            <a:xfrm>
              <a:off x="3853100" y="4737539"/>
              <a:ext cx="79257" cy="7347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28" name="Oval 127"/>
            <p:cNvSpPr/>
            <p:nvPr/>
          </p:nvSpPr>
          <p:spPr>
            <a:xfrm>
              <a:off x="2202510" y="5661238"/>
              <a:ext cx="79257" cy="7347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34" name="Straight Connector 133"/>
            <p:cNvCxnSpPr>
              <a:endCxn id="151" idx="6"/>
            </p:cNvCxnSpPr>
            <p:nvPr/>
          </p:nvCxnSpPr>
          <p:spPr bwMode="auto">
            <a:xfrm flipH="1">
              <a:off x="1928503" y="4401830"/>
              <a:ext cx="404594" cy="93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71" name="Group 170"/>
            <p:cNvGrpSpPr/>
            <p:nvPr/>
          </p:nvGrpSpPr>
          <p:grpSpPr>
            <a:xfrm>
              <a:off x="755149" y="5246183"/>
              <a:ext cx="1447361" cy="595808"/>
              <a:chOff x="3822414" y="2941204"/>
              <a:chExt cx="1447361" cy="595808"/>
            </a:xfrm>
          </p:grpSpPr>
          <p:sp>
            <p:nvSpPr>
              <p:cNvPr id="183" name="Rectangle 182"/>
              <p:cNvSpPr/>
              <p:nvPr/>
            </p:nvSpPr>
            <p:spPr bwMode="auto">
              <a:xfrm>
                <a:off x="4146449" y="3248980"/>
                <a:ext cx="504056" cy="288032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Verdana"/>
                    <a:cs typeface="Verdana"/>
                  </a:rPr>
                  <a:t>R10</a:t>
                </a:r>
              </a:p>
            </p:txBody>
          </p:sp>
          <p:cxnSp>
            <p:nvCxnSpPr>
              <p:cNvPr id="186" name="Straight Connector 185"/>
              <p:cNvCxnSpPr>
                <a:stCxn id="128" idx="2"/>
              </p:cNvCxnSpPr>
              <p:nvPr/>
            </p:nvCxnSpPr>
            <p:spPr bwMode="auto">
              <a:xfrm flipH="1">
                <a:off x="4650505" y="3392996"/>
                <a:ext cx="61927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87" name="Straight Connector 186"/>
              <p:cNvCxnSpPr>
                <a:stCxn id="183" idx="1"/>
              </p:cNvCxnSpPr>
              <p:nvPr/>
            </p:nvCxnSpPr>
            <p:spPr bwMode="auto">
              <a:xfrm rot="5400000" flipH="1">
                <a:off x="3984431" y="3230978"/>
                <a:ext cx="1" cy="324036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88" name="TextBox 187"/>
              <p:cNvSpPr txBox="1"/>
              <p:nvPr/>
            </p:nvSpPr>
            <p:spPr>
              <a:xfrm>
                <a:off x="4073400" y="2941204"/>
                <a:ext cx="51919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  <a:latin typeface="Verdana"/>
                    <a:cs typeface="Verdana"/>
                  </a:rPr>
                  <a:t>20k</a:t>
                </a:r>
              </a:p>
            </p:txBody>
          </p:sp>
        </p:grpSp>
      </p:grpSp>
      <p:grpSp>
        <p:nvGrpSpPr>
          <p:cNvPr id="17" name="Group 16"/>
          <p:cNvGrpSpPr/>
          <p:nvPr/>
        </p:nvGrpSpPr>
        <p:grpSpPr>
          <a:xfrm>
            <a:off x="2175403" y="1190932"/>
            <a:ext cx="2373055" cy="1388041"/>
            <a:chOff x="1281988" y="938651"/>
            <a:chExt cx="2373055" cy="1388041"/>
          </a:xfrm>
        </p:grpSpPr>
        <p:cxnSp>
          <p:nvCxnSpPr>
            <p:cNvPr id="218" name="Straight Connector 217"/>
            <p:cNvCxnSpPr/>
            <p:nvPr/>
          </p:nvCxnSpPr>
          <p:spPr bwMode="auto">
            <a:xfrm flipH="1">
              <a:off x="1985518" y="1082505"/>
              <a:ext cx="279949" cy="10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19" name="Oval 218"/>
            <p:cNvSpPr/>
            <p:nvPr/>
          </p:nvSpPr>
          <p:spPr bwMode="auto">
            <a:xfrm>
              <a:off x="1697486" y="1511255"/>
              <a:ext cx="504056" cy="504056"/>
            </a:xfrm>
            <a:prstGeom prst="ellips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 bwMode="auto">
            <a:xfrm>
              <a:off x="1985518" y="1079207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22" name="Straight Connector 221"/>
            <p:cNvCxnSpPr/>
            <p:nvPr/>
          </p:nvCxnSpPr>
          <p:spPr bwMode="auto">
            <a:xfrm>
              <a:off x="1985518" y="2015311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23" name="Group 222"/>
            <p:cNvGrpSpPr/>
            <p:nvPr/>
          </p:nvGrpSpPr>
          <p:grpSpPr>
            <a:xfrm>
              <a:off x="1841502" y="2231335"/>
              <a:ext cx="279648" cy="72008"/>
              <a:chOff x="3447628" y="4437112"/>
              <a:chExt cx="351656" cy="144016"/>
            </a:xfrm>
          </p:grpSpPr>
          <p:cxnSp>
            <p:nvCxnSpPr>
              <p:cNvPr id="224" name="Straight Connector 223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25" name="Straight Connector 22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26" name="Straight Connector 225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227" name="TextBox 226"/>
            <p:cNvSpPr txBox="1"/>
            <p:nvPr/>
          </p:nvSpPr>
          <p:spPr>
            <a:xfrm>
              <a:off x="1281988" y="1613410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Vs</a:t>
              </a:r>
            </a:p>
          </p:txBody>
        </p:sp>
        <p:sp>
          <p:nvSpPr>
            <p:cNvPr id="230" name="Rectangle 229"/>
            <p:cNvSpPr/>
            <p:nvPr/>
          </p:nvSpPr>
          <p:spPr bwMode="auto">
            <a:xfrm>
              <a:off x="2330580" y="938651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R5</a:t>
              </a:r>
            </a:p>
          </p:txBody>
        </p:sp>
        <p:cxnSp>
          <p:nvCxnSpPr>
            <p:cNvPr id="231" name="Straight Connector 230"/>
            <p:cNvCxnSpPr/>
            <p:nvPr/>
          </p:nvCxnSpPr>
          <p:spPr bwMode="auto">
            <a:xfrm flipH="1">
              <a:off x="2834636" y="1088492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32" name="Straight Connector 231"/>
            <p:cNvCxnSpPr>
              <a:stCxn id="230" idx="1"/>
            </p:cNvCxnSpPr>
            <p:nvPr/>
          </p:nvCxnSpPr>
          <p:spPr bwMode="auto">
            <a:xfrm flipH="1">
              <a:off x="2005701" y="1082667"/>
              <a:ext cx="324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33" name="TextBox 232"/>
            <p:cNvSpPr txBox="1"/>
            <p:nvPr/>
          </p:nvSpPr>
          <p:spPr>
            <a:xfrm>
              <a:off x="2330580" y="1232508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Verdana"/>
                  <a:cs typeface="Verdana"/>
                </a:rPr>
                <a:t>100k</a:t>
              </a:r>
            </a:p>
          </p:txBody>
        </p:sp>
        <p:cxnSp>
          <p:nvCxnSpPr>
            <p:cNvPr id="235" name="Straight Connector 234"/>
            <p:cNvCxnSpPr/>
            <p:nvPr/>
          </p:nvCxnSpPr>
          <p:spPr bwMode="auto">
            <a:xfrm flipV="1">
              <a:off x="1789819" y="1704057"/>
              <a:ext cx="0" cy="1297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36" name="Straight Connector 235"/>
            <p:cNvCxnSpPr/>
            <p:nvPr/>
          </p:nvCxnSpPr>
          <p:spPr bwMode="auto">
            <a:xfrm flipV="1">
              <a:off x="1942218" y="1700263"/>
              <a:ext cx="0" cy="1297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37" name="Straight Connector 236"/>
            <p:cNvCxnSpPr/>
            <p:nvPr/>
          </p:nvCxnSpPr>
          <p:spPr bwMode="auto">
            <a:xfrm flipV="1">
              <a:off x="2094618" y="1696468"/>
              <a:ext cx="0" cy="1297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38" name="Straight Connector 237"/>
            <p:cNvCxnSpPr/>
            <p:nvPr/>
          </p:nvCxnSpPr>
          <p:spPr bwMode="auto">
            <a:xfrm flipH="1">
              <a:off x="1781484" y="1695434"/>
              <a:ext cx="154910" cy="1023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39" name="Straight Connector 238"/>
            <p:cNvCxnSpPr/>
            <p:nvPr/>
          </p:nvCxnSpPr>
          <p:spPr bwMode="auto">
            <a:xfrm flipH="1">
              <a:off x="1939709" y="1825954"/>
              <a:ext cx="154910" cy="1023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41" name="Rectangle 240"/>
            <p:cNvSpPr/>
            <p:nvPr/>
          </p:nvSpPr>
          <p:spPr bwMode="auto">
            <a:xfrm rot="16200000">
              <a:off x="2945396" y="1546417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R6</a:t>
              </a:r>
            </a:p>
          </p:txBody>
        </p:sp>
        <p:cxnSp>
          <p:nvCxnSpPr>
            <p:cNvPr id="242" name="Straight Connector 241"/>
            <p:cNvCxnSpPr/>
            <p:nvPr/>
          </p:nvCxnSpPr>
          <p:spPr bwMode="auto">
            <a:xfrm rot="16200000" flipH="1">
              <a:off x="3023229" y="1258385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43" name="Straight Connector 242"/>
            <p:cNvCxnSpPr>
              <a:stCxn id="241" idx="1"/>
            </p:cNvCxnSpPr>
            <p:nvPr/>
          </p:nvCxnSpPr>
          <p:spPr bwMode="auto">
            <a:xfrm rot="16200000" flipH="1">
              <a:off x="3034985" y="2104901"/>
              <a:ext cx="324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44" name="TextBox 243"/>
            <p:cNvSpPr txBox="1"/>
            <p:nvPr/>
          </p:nvSpPr>
          <p:spPr>
            <a:xfrm rot="16200000">
              <a:off x="3298628" y="1471820"/>
              <a:ext cx="405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Verdana"/>
                  <a:cs typeface="Verdana"/>
                </a:rPr>
                <a:t>1k</a:t>
              </a:r>
            </a:p>
          </p:txBody>
        </p:sp>
        <p:cxnSp>
          <p:nvCxnSpPr>
            <p:cNvPr id="246" name="Straight Connector 245"/>
            <p:cNvCxnSpPr/>
            <p:nvPr/>
          </p:nvCxnSpPr>
          <p:spPr bwMode="auto">
            <a:xfrm>
              <a:off x="3194154" y="2038660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47" name="Group 246"/>
            <p:cNvGrpSpPr/>
            <p:nvPr/>
          </p:nvGrpSpPr>
          <p:grpSpPr>
            <a:xfrm>
              <a:off x="3050138" y="2254684"/>
              <a:ext cx="279648" cy="72008"/>
              <a:chOff x="3447628" y="4437112"/>
              <a:chExt cx="351656" cy="144016"/>
            </a:xfrm>
          </p:grpSpPr>
          <p:cxnSp>
            <p:nvCxnSpPr>
              <p:cNvPr id="248" name="Straight Connector 247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49" name="Straight Connector 248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50" name="Straight Connector 249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251" name="Straight Connector 250"/>
            <p:cNvCxnSpPr/>
            <p:nvPr/>
          </p:nvCxnSpPr>
          <p:spPr bwMode="auto">
            <a:xfrm flipH="1">
              <a:off x="3194154" y="1075272"/>
              <a:ext cx="440833" cy="827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52" name="Oval 251"/>
            <p:cNvSpPr/>
            <p:nvPr/>
          </p:nvSpPr>
          <p:spPr>
            <a:xfrm>
              <a:off x="3163619" y="1041627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3" name="Group 252"/>
          <p:cNvGrpSpPr/>
          <p:nvPr/>
        </p:nvGrpSpPr>
        <p:grpSpPr>
          <a:xfrm>
            <a:off x="6598423" y="942389"/>
            <a:ext cx="1152128" cy="1368152"/>
            <a:chOff x="2503140" y="2852936"/>
            <a:chExt cx="1440160" cy="1368152"/>
          </a:xfrm>
        </p:grpSpPr>
        <p:cxnSp>
          <p:nvCxnSpPr>
            <p:cNvPr id="254" name="Straight Connector 253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55" name="Straight Connector 254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56" name="Straight Connector 255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257" name="TextBox 256"/>
          <p:cNvSpPr txBox="1"/>
          <p:nvPr/>
        </p:nvSpPr>
        <p:spPr>
          <a:xfrm>
            <a:off x="4882111" y="82160"/>
            <a:ext cx="100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Vcc = 5v</a:t>
            </a:r>
          </a:p>
        </p:txBody>
      </p:sp>
      <p:cxnSp>
        <p:nvCxnSpPr>
          <p:cNvPr id="258" name="Straight Connector 257"/>
          <p:cNvCxnSpPr/>
          <p:nvPr/>
        </p:nvCxnSpPr>
        <p:spPr bwMode="auto">
          <a:xfrm>
            <a:off x="7173713" y="349009"/>
            <a:ext cx="776" cy="9534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259" name="Group 258"/>
          <p:cNvGrpSpPr/>
          <p:nvPr/>
        </p:nvGrpSpPr>
        <p:grpSpPr>
          <a:xfrm>
            <a:off x="7246495" y="1878493"/>
            <a:ext cx="279648" cy="288032"/>
            <a:chOff x="3079204" y="2996952"/>
            <a:chExt cx="279648" cy="288032"/>
          </a:xfrm>
        </p:grpSpPr>
        <p:cxnSp>
          <p:nvCxnSpPr>
            <p:cNvPr id="260" name="Straight Connector 259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61" name="Group 26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262" name="Straight Connector 261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63" name="Straight Connector 262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64" name="Straight Connector 263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265" name="TextBox 264"/>
          <p:cNvSpPr txBox="1"/>
          <p:nvPr/>
        </p:nvSpPr>
        <p:spPr>
          <a:xfrm>
            <a:off x="6584893" y="1086405"/>
            <a:ext cx="37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266" name="Straight Connector 265"/>
          <p:cNvCxnSpPr/>
          <p:nvPr/>
        </p:nvCxnSpPr>
        <p:spPr bwMode="auto">
          <a:xfrm flipH="1">
            <a:off x="6670431" y="1950501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7" name="Straight Connector 266"/>
          <p:cNvCxnSpPr/>
          <p:nvPr/>
        </p:nvCxnSpPr>
        <p:spPr bwMode="auto">
          <a:xfrm flipH="1">
            <a:off x="6238383" y="1302429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8" name="Straight Connector 267"/>
          <p:cNvCxnSpPr/>
          <p:nvPr/>
        </p:nvCxnSpPr>
        <p:spPr bwMode="auto">
          <a:xfrm flipH="1">
            <a:off x="6238383" y="1950501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9" name="Straight Connector 268"/>
          <p:cNvCxnSpPr/>
          <p:nvPr/>
        </p:nvCxnSpPr>
        <p:spPr bwMode="auto">
          <a:xfrm flipH="1">
            <a:off x="7750551" y="1662469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70" name="Straight Connector 269"/>
          <p:cNvCxnSpPr/>
          <p:nvPr/>
        </p:nvCxnSpPr>
        <p:spPr bwMode="auto">
          <a:xfrm flipV="1">
            <a:off x="7894567" y="1662469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71" name="Straight Connector 270"/>
          <p:cNvCxnSpPr/>
          <p:nvPr/>
        </p:nvCxnSpPr>
        <p:spPr bwMode="auto">
          <a:xfrm flipV="1">
            <a:off x="6238383" y="1950501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72" name="Oval 271"/>
          <p:cNvSpPr/>
          <p:nvPr/>
        </p:nvSpPr>
        <p:spPr bwMode="auto">
          <a:xfrm>
            <a:off x="8542639" y="1590461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sp>
        <p:nvSpPr>
          <p:cNvPr id="273" name="TextBox 272"/>
          <p:cNvSpPr txBox="1"/>
          <p:nvPr/>
        </p:nvSpPr>
        <p:spPr>
          <a:xfrm>
            <a:off x="8470631" y="1269911"/>
            <a:ext cx="534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Vo1</a:t>
            </a:r>
          </a:p>
        </p:txBody>
      </p:sp>
      <p:grpSp>
        <p:nvGrpSpPr>
          <p:cNvPr id="274" name="Group 273"/>
          <p:cNvGrpSpPr/>
          <p:nvPr/>
        </p:nvGrpSpPr>
        <p:grpSpPr>
          <a:xfrm>
            <a:off x="6238383" y="2454557"/>
            <a:ext cx="1656184" cy="595809"/>
            <a:chOff x="3354361" y="3248980"/>
            <a:chExt cx="1656184" cy="595809"/>
          </a:xfrm>
        </p:grpSpPr>
        <p:sp>
          <p:nvSpPr>
            <p:cNvPr id="275" name="Rectangle 274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R3</a:t>
              </a:r>
            </a:p>
          </p:txBody>
        </p:sp>
        <p:cxnSp>
          <p:nvCxnSpPr>
            <p:cNvPr id="276" name="Straight Connector 275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7" name="Straight Connector 276"/>
            <p:cNvCxnSpPr>
              <a:stCxn id="275" idx="1"/>
            </p:cNvCxnSpPr>
            <p:nvPr/>
          </p:nvCxnSpPr>
          <p:spPr bwMode="auto">
            <a:xfrm flipH="1">
              <a:off x="3354361" y="3392996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78" name="TextBox 277"/>
            <p:cNvSpPr txBox="1"/>
            <p:nvPr/>
          </p:nvSpPr>
          <p:spPr>
            <a:xfrm>
              <a:off x="4146449" y="353701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279" name="Group 278"/>
          <p:cNvGrpSpPr/>
          <p:nvPr/>
        </p:nvGrpSpPr>
        <p:grpSpPr>
          <a:xfrm>
            <a:off x="7174487" y="726365"/>
            <a:ext cx="792087" cy="648071"/>
            <a:chOff x="2575148" y="1844825"/>
            <a:chExt cx="792087" cy="648071"/>
          </a:xfrm>
        </p:grpSpPr>
        <p:grpSp>
          <p:nvGrpSpPr>
            <p:cNvPr id="280" name="Group 279"/>
            <p:cNvGrpSpPr/>
            <p:nvPr/>
          </p:nvGrpSpPr>
          <p:grpSpPr>
            <a:xfrm>
              <a:off x="2575148" y="1844825"/>
              <a:ext cx="792087" cy="504056"/>
              <a:chOff x="3511253" y="2048847"/>
              <a:chExt cx="792087" cy="588065"/>
            </a:xfrm>
          </p:grpSpPr>
          <p:grpSp>
            <p:nvGrpSpPr>
              <p:cNvPr id="287" name="Group 286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289" name="Straight Connector 288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90" name="Straight Connector 289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91" name="Straight Connector 290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92" name="Straight Connector 291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93" name="Straight Connector 292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288" name="TextBox 287"/>
              <p:cNvSpPr txBox="1"/>
              <p:nvPr/>
            </p:nvSpPr>
            <p:spPr>
              <a:xfrm>
                <a:off x="3772425" y="2048847"/>
                <a:ext cx="530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Verdana"/>
                    <a:cs typeface="Verdana"/>
                  </a:rPr>
                  <a:t>0.1</a:t>
                </a:r>
                <a:r>
                  <a:rPr lang="en-US" sz="1200" dirty="0">
                    <a:latin typeface="Symbol" charset="2"/>
                    <a:cs typeface="Symbol" charset="2"/>
                  </a:rPr>
                  <a:t>m</a:t>
                </a:r>
              </a:p>
            </p:txBody>
          </p:sp>
        </p:grpSp>
        <p:grpSp>
          <p:nvGrpSpPr>
            <p:cNvPr id="281" name="Group 280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282" name="Straight Connector 281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83" name="Group 282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84" name="Straight Connector 283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85" name="Straight Connector 284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86" name="Straight Connector 285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294" name="TextBox 293"/>
          <p:cNvSpPr txBox="1"/>
          <p:nvPr/>
        </p:nvSpPr>
        <p:spPr>
          <a:xfrm>
            <a:off x="6555414" y="1498708"/>
            <a:ext cx="1042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½ opamp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6886455" y="942389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8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7318503" y="1806485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4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7678543" y="1374437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1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6310391" y="1662469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2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6310391" y="1014397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3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7573769" y="962134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C1</a:t>
            </a:r>
          </a:p>
        </p:txBody>
      </p:sp>
      <p:grpSp>
        <p:nvGrpSpPr>
          <p:cNvPr id="301" name="Group 300"/>
          <p:cNvGrpSpPr/>
          <p:nvPr/>
        </p:nvGrpSpPr>
        <p:grpSpPr>
          <a:xfrm rot="16200000">
            <a:off x="5161934" y="422074"/>
            <a:ext cx="1114384" cy="624261"/>
            <a:chOff x="3896161" y="2912751"/>
            <a:chExt cx="1114384" cy="624261"/>
          </a:xfrm>
        </p:grpSpPr>
        <p:sp>
          <p:nvSpPr>
            <p:cNvPr id="302" name="Rectangle 301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R1</a:t>
              </a:r>
            </a:p>
          </p:txBody>
        </p:sp>
        <p:cxnSp>
          <p:nvCxnSpPr>
            <p:cNvPr id="303" name="Straight Connector 302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04" name="Straight Connector 303"/>
            <p:cNvCxnSpPr>
              <a:stCxn id="302" idx="1"/>
            </p:cNvCxnSpPr>
            <p:nvPr/>
          </p:nvCxnSpPr>
          <p:spPr bwMode="auto">
            <a:xfrm rot="5400000">
              <a:off x="4021305" y="3267852"/>
              <a:ext cx="0" cy="2502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05" name="TextBox 304"/>
            <p:cNvSpPr txBox="1"/>
            <p:nvPr/>
          </p:nvSpPr>
          <p:spPr>
            <a:xfrm>
              <a:off x="4101153" y="2912751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306" name="Group 305"/>
          <p:cNvGrpSpPr/>
          <p:nvPr/>
        </p:nvGrpSpPr>
        <p:grpSpPr>
          <a:xfrm rot="16200000">
            <a:off x="5139289" y="1598591"/>
            <a:ext cx="1188131" cy="595808"/>
            <a:chOff x="3822414" y="2941204"/>
            <a:chExt cx="1188131" cy="595808"/>
          </a:xfrm>
        </p:grpSpPr>
        <p:sp>
          <p:nvSpPr>
            <p:cNvPr id="307" name="Rectangle 306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R2</a:t>
              </a:r>
            </a:p>
          </p:txBody>
        </p:sp>
        <p:cxnSp>
          <p:nvCxnSpPr>
            <p:cNvPr id="308" name="Straight Connector 307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09" name="Straight Connector 308"/>
            <p:cNvCxnSpPr>
              <a:stCxn id="307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10" name="TextBox 309"/>
            <p:cNvSpPr txBox="1"/>
            <p:nvPr/>
          </p:nvSpPr>
          <p:spPr>
            <a:xfrm>
              <a:off x="4073400" y="2941204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311" name="Group 310"/>
          <p:cNvGrpSpPr/>
          <p:nvPr/>
        </p:nvGrpSpPr>
        <p:grpSpPr>
          <a:xfrm>
            <a:off x="5743225" y="2490561"/>
            <a:ext cx="279648" cy="288032"/>
            <a:chOff x="3079204" y="2996952"/>
            <a:chExt cx="279648" cy="288032"/>
          </a:xfrm>
        </p:grpSpPr>
        <p:cxnSp>
          <p:nvCxnSpPr>
            <p:cNvPr id="312" name="Straight Connector 311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13" name="Group 312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314" name="Straight Connector 313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15" name="Straight Connector 31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16" name="Straight Connector 315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cxnSp>
        <p:nvCxnSpPr>
          <p:cNvPr id="317" name="Straight Connector 316"/>
          <p:cNvCxnSpPr/>
          <p:nvPr/>
        </p:nvCxnSpPr>
        <p:spPr bwMode="auto">
          <a:xfrm flipH="1">
            <a:off x="5887241" y="349009"/>
            <a:ext cx="1286472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18" name="Oval 317"/>
          <p:cNvSpPr/>
          <p:nvPr/>
        </p:nvSpPr>
        <p:spPr>
          <a:xfrm>
            <a:off x="7134860" y="76163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9" name="Oval 318"/>
          <p:cNvSpPr/>
          <p:nvPr/>
        </p:nvSpPr>
        <p:spPr>
          <a:xfrm>
            <a:off x="5851084" y="1275032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0" name="Oval 319"/>
          <p:cNvSpPr/>
          <p:nvPr/>
        </p:nvSpPr>
        <p:spPr>
          <a:xfrm>
            <a:off x="7854938" y="1638137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1" name="Oval 320"/>
          <p:cNvSpPr/>
          <p:nvPr/>
        </p:nvSpPr>
        <p:spPr>
          <a:xfrm>
            <a:off x="5851084" y="316463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22" name="Group 321"/>
          <p:cNvGrpSpPr/>
          <p:nvPr/>
        </p:nvGrpSpPr>
        <p:grpSpPr>
          <a:xfrm rot="16200000">
            <a:off x="5497661" y="2745814"/>
            <a:ext cx="1188131" cy="595806"/>
            <a:chOff x="3822414" y="2941206"/>
            <a:chExt cx="1188131" cy="595806"/>
          </a:xfrm>
        </p:grpSpPr>
        <p:sp>
          <p:nvSpPr>
            <p:cNvPr id="323" name="Rectangle 322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R4</a:t>
              </a:r>
            </a:p>
          </p:txBody>
        </p:sp>
        <p:cxnSp>
          <p:nvCxnSpPr>
            <p:cNvPr id="324" name="Straight Connector 323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25" name="Straight Connector 324"/>
            <p:cNvCxnSpPr>
              <a:stCxn id="323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26" name="TextBox 325"/>
            <p:cNvSpPr txBox="1"/>
            <p:nvPr/>
          </p:nvSpPr>
          <p:spPr>
            <a:xfrm>
              <a:off x="4130556" y="2941206"/>
              <a:ext cx="5191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20k</a:t>
              </a:r>
            </a:p>
          </p:txBody>
        </p:sp>
      </p:grpSp>
      <p:grpSp>
        <p:nvGrpSpPr>
          <p:cNvPr id="327" name="Group 326"/>
          <p:cNvGrpSpPr/>
          <p:nvPr/>
        </p:nvGrpSpPr>
        <p:grpSpPr>
          <a:xfrm>
            <a:off x="6098559" y="3914380"/>
            <a:ext cx="279648" cy="288032"/>
            <a:chOff x="3079204" y="2996952"/>
            <a:chExt cx="279648" cy="288032"/>
          </a:xfrm>
        </p:grpSpPr>
        <p:cxnSp>
          <p:nvCxnSpPr>
            <p:cNvPr id="328" name="Straight Connector 327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29" name="Group 328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330" name="Straight Connector 329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31" name="Straight Connector 330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32" name="Straight Connector 331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333" name="Oval 332"/>
          <p:cNvSpPr/>
          <p:nvPr/>
        </p:nvSpPr>
        <p:spPr>
          <a:xfrm>
            <a:off x="6204348" y="256183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34" name="Group 333"/>
          <p:cNvGrpSpPr/>
          <p:nvPr/>
        </p:nvGrpSpPr>
        <p:grpSpPr>
          <a:xfrm>
            <a:off x="4454215" y="1230421"/>
            <a:ext cx="362682" cy="206732"/>
            <a:chOff x="5740858" y="1494076"/>
            <a:chExt cx="362682" cy="206732"/>
          </a:xfrm>
        </p:grpSpPr>
        <p:cxnSp>
          <p:nvCxnSpPr>
            <p:cNvPr id="335" name="Straight Connector 334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36" name="Straight Connector 335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37" name="Straight Connector 336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339" name="Straight Connector 338"/>
          <p:cNvCxnSpPr/>
          <p:nvPr/>
        </p:nvCxnSpPr>
        <p:spPr bwMode="auto">
          <a:xfrm flipH="1">
            <a:off x="4816897" y="1302428"/>
            <a:ext cx="1518037" cy="2123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40" name="TextBox 339"/>
          <p:cNvSpPr txBox="1"/>
          <p:nvPr/>
        </p:nvSpPr>
        <p:spPr>
          <a:xfrm>
            <a:off x="4904836" y="911611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Verdana"/>
                <a:cs typeface="Verdana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Symbol" charset="2"/>
                <a:cs typeface="Symbol" charset="2"/>
              </a:rPr>
              <a:t>m</a:t>
            </a:r>
          </a:p>
        </p:txBody>
      </p:sp>
      <p:grpSp>
        <p:nvGrpSpPr>
          <p:cNvPr id="341" name="Group 340"/>
          <p:cNvGrpSpPr/>
          <p:nvPr/>
        </p:nvGrpSpPr>
        <p:grpSpPr>
          <a:xfrm rot="16200000">
            <a:off x="5913741" y="3623158"/>
            <a:ext cx="663743" cy="206732"/>
            <a:chOff x="5740858" y="1494076"/>
            <a:chExt cx="663743" cy="206732"/>
          </a:xfrm>
        </p:grpSpPr>
        <p:cxnSp>
          <p:nvCxnSpPr>
            <p:cNvPr id="342" name="Straight Connector 341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43" name="Straight Connector 342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44" name="Straight Connector 343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45" name="Straight Connector 344"/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346" name="TextBox 345"/>
          <p:cNvSpPr txBox="1"/>
          <p:nvPr/>
        </p:nvSpPr>
        <p:spPr>
          <a:xfrm>
            <a:off x="6295972" y="3560835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1</a:t>
            </a:r>
            <a:r>
              <a:rPr lang="en-US" sz="1400" dirty="0">
                <a:latin typeface="Symbol" charset="2"/>
                <a:cs typeface="Symbol" charset="2"/>
              </a:rPr>
              <a:t>m</a:t>
            </a:r>
          </a:p>
        </p:txBody>
      </p:sp>
      <p:cxnSp>
        <p:nvCxnSpPr>
          <p:cNvPr id="349" name="Straight Connector 348"/>
          <p:cNvCxnSpPr/>
          <p:nvPr/>
        </p:nvCxnSpPr>
        <p:spPr bwMode="auto">
          <a:xfrm flipV="1">
            <a:off x="5307510" y="1320611"/>
            <a:ext cx="0" cy="154690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50" name="Straight Connector 349"/>
          <p:cNvCxnSpPr/>
          <p:nvPr/>
        </p:nvCxnSpPr>
        <p:spPr bwMode="auto">
          <a:xfrm flipV="1">
            <a:off x="3590670" y="2864331"/>
            <a:ext cx="1716840" cy="318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51" name="Straight Connector 350"/>
          <p:cNvCxnSpPr/>
          <p:nvPr/>
        </p:nvCxnSpPr>
        <p:spPr bwMode="auto">
          <a:xfrm flipV="1">
            <a:off x="3590670" y="2864331"/>
            <a:ext cx="0" cy="290193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352" name="Group 351"/>
          <p:cNvGrpSpPr/>
          <p:nvPr/>
        </p:nvGrpSpPr>
        <p:grpSpPr>
          <a:xfrm>
            <a:off x="1125665" y="2979169"/>
            <a:ext cx="2033217" cy="2916872"/>
            <a:chOff x="894141" y="1079875"/>
            <a:chExt cx="2449956" cy="3531416"/>
          </a:xfrm>
        </p:grpSpPr>
        <p:pic>
          <p:nvPicPr>
            <p:cNvPr id="353" name="Picture 35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64843" y="2044481"/>
              <a:ext cx="3333421" cy="1800200"/>
            </a:xfrm>
            <a:prstGeom prst="rect">
              <a:avLst/>
            </a:prstGeom>
          </p:spPr>
        </p:pic>
        <p:cxnSp>
          <p:nvCxnSpPr>
            <p:cNvPr id="354" name="Straight Connector 353"/>
            <p:cNvCxnSpPr/>
            <p:nvPr/>
          </p:nvCxnSpPr>
          <p:spPr>
            <a:xfrm>
              <a:off x="1110456" y="1436232"/>
              <a:ext cx="0" cy="803649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/>
            <p:cNvCxnSpPr/>
            <p:nvPr/>
          </p:nvCxnSpPr>
          <p:spPr>
            <a:xfrm>
              <a:off x="1110456" y="2213178"/>
              <a:ext cx="312735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6" name="TextBox 355"/>
            <p:cNvSpPr txBox="1"/>
            <p:nvPr/>
          </p:nvSpPr>
          <p:spPr>
            <a:xfrm>
              <a:off x="894141" y="1079875"/>
              <a:ext cx="432630" cy="369332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5V</a:t>
              </a:r>
            </a:p>
          </p:txBody>
        </p:sp>
        <p:cxnSp>
          <p:nvCxnSpPr>
            <p:cNvPr id="357" name="Straight Connector 356"/>
            <p:cNvCxnSpPr/>
            <p:nvPr/>
          </p:nvCxnSpPr>
          <p:spPr>
            <a:xfrm>
              <a:off x="3189637" y="3652070"/>
              <a:ext cx="0" cy="803649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/>
            <p:cNvCxnSpPr/>
            <p:nvPr/>
          </p:nvCxnSpPr>
          <p:spPr>
            <a:xfrm>
              <a:off x="2871320" y="3663019"/>
              <a:ext cx="312735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9" name="Group 358"/>
            <p:cNvGrpSpPr/>
            <p:nvPr/>
          </p:nvGrpSpPr>
          <p:grpSpPr>
            <a:xfrm>
              <a:off x="2980220" y="4467883"/>
              <a:ext cx="363877" cy="136466"/>
              <a:chOff x="8119490" y="1641231"/>
              <a:chExt cx="363877" cy="136466"/>
            </a:xfrm>
          </p:grpSpPr>
          <p:cxnSp>
            <p:nvCxnSpPr>
              <p:cNvPr id="360" name="Straight Connector 359"/>
              <p:cNvCxnSpPr/>
              <p:nvPr/>
            </p:nvCxnSpPr>
            <p:spPr>
              <a:xfrm flipV="1">
                <a:off x="8119490" y="1641231"/>
                <a:ext cx="363877" cy="1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360"/>
              <p:cNvCxnSpPr/>
              <p:nvPr/>
            </p:nvCxnSpPr>
            <p:spPr>
              <a:xfrm flipV="1">
                <a:off x="8207647" y="1709463"/>
                <a:ext cx="187799" cy="2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/>
              <p:cNvCxnSpPr/>
              <p:nvPr/>
            </p:nvCxnSpPr>
            <p:spPr>
              <a:xfrm>
                <a:off x="8246959" y="1777697"/>
                <a:ext cx="128949" cy="0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4" name="Oval 363"/>
          <p:cNvSpPr/>
          <p:nvPr/>
        </p:nvSpPr>
        <p:spPr>
          <a:xfrm>
            <a:off x="5267881" y="128055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4" name="TextBox 183"/>
          <p:cNvSpPr txBox="1"/>
          <p:nvPr/>
        </p:nvSpPr>
        <p:spPr>
          <a:xfrm>
            <a:off x="951126" y="1137071"/>
            <a:ext cx="1723773" cy="4308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1kHz PWM signal duty cycle 25%</a:t>
            </a:r>
          </a:p>
        </p:txBody>
      </p:sp>
      <p:sp>
        <p:nvSpPr>
          <p:cNvPr id="2" name="Rectangle 1"/>
          <p:cNvSpPr/>
          <p:nvPr/>
        </p:nvSpPr>
        <p:spPr>
          <a:xfrm>
            <a:off x="1794690" y="4058396"/>
            <a:ext cx="940227" cy="483735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solidFill>
              <a:srgbClr val="B90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/>
          <p:cNvSpPr/>
          <p:nvPr/>
        </p:nvSpPr>
        <p:spPr>
          <a:xfrm>
            <a:off x="1564724" y="4516201"/>
            <a:ext cx="796711" cy="531498"/>
          </a:xfrm>
          <a:prstGeom prst="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683234" y="4182091"/>
            <a:ext cx="2743340" cy="462694"/>
          </a:xfrm>
          <a:prstGeom prst="straightConnector1">
            <a:avLst/>
          </a:prstGeom>
          <a:ln>
            <a:solidFill>
              <a:srgbClr val="B9000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039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5320095" y="1556580"/>
            <a:ext cx="3706768" cy="2968206"/>
            <a:chOff x="4094069" y="3058028"/>
            <a:chExt cx="3706768" cy="2968206"/>
          </a:xfrm>
        </p:grpSpPr>
        <p:cxnSp>
          <p:nvCxnSpPr>
            <p:cNvPr id="350" name="Straight Connector 349"/>
            <p:cNvCxnSpPr/>
            <p:nvPr/>
          </p:nvCxnSpPr>
          <p:spPr bwMode="auto">
            <a:xfrm>
              <a:off x="4094069" y="5533665"/>
              <a:ext cx="1648045" cy="3918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>
              <a:off x="6114150" y="3918257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6114150" y="3918257"/>
              <a:ext cx="1152128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 flipV="1">
              <a:off x="6114150" y="4638337"/>
              <a:ext cx="1152128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52" name="TextBox 51"/>
            <p:cNvSpPr txBox="1"/>
            <p:nvPr/>
          </p:nvSpPr>
          <p:spPr>
            <a:xfrm>
              <a:off x="4397838" y="3058028"/>
              <a:ext cx="10008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Vcc = 5v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100620" y="4062273"/>
              <a:ext cx="37357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67" name="Straight Connector 66"/>
            <p:cNvCxnSpPr/>
            <p:nvPr/>
          </p:nvCxnSpPr>
          <p:spPr bwMode="auto">
            <a:xfrm flipH="1">
              <a:off x="6186158" y="4926369"/>
              <a:ext cx="14401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8" name="Straight Connector 67"/>
            <p:cNvCxnSpPr/>
            <p:nvPr/>
          </p:nvCxnSpPr>
          <p:spPr bwMode="auto">
            <a:xfrm flipH="1">
              <a:off x="5754110" y="4278297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 flipH="1">
              <a:off x="5754110" y="4926369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2" name="Straight Connector 71"/>
            <p:cNvCxnSpPr/>
            <p:nvPr/>
          </p:nvCxnSpPr>
          <p:spPr bwMode="auto">
            <a:xfrm flipH="1">
              <a:off x="7266278" y="4627304"/>
              <a:ext cx="397179" cy="1103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3" name="Straight Connector 72"/>
            <p:cNvCxnSpPr/>
            <p:nvPr/>
          </p:nvCxnSpPr>
          <p:spPr bwMode="auto">
            <a:xfrm flipV="1">
              <a:off x="7410294" y="4638337"/>
              <a:ext cx="0" cy="9361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4" name="Straight Connector 73"/>
            <p:cNvCxnSpPr/>
            <p:nvPr/>
          </p:nvCxnSpPr>
          <p:spPr bwMode="auto">
            <a:xfrm flipV="1">
              <a:off x="5754110" y="4926369"/>
              <a:ext cx="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88" name="Oval 87"/>
            <p:cNvSpPr/>
            <p:nvPr/>
          </p:nvSpPr>
          <p:spPr bwMode="auto">
            <a:xfrm>
              <a:off x="7591449" y="4555296"/>
              <a:ext cx="144016" cy="144016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effectLst/>
                <a:latin typeface="Verdana"/>
                <a:cs typeface="Verdana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7266278" y="3993825"/>
              <a:ext cx="5345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Vo2</a:t>
              </a: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6546198" y="5430425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/>
                  <a:cs typeface="Verdana"/>
                </a:rPr>
                <a:t>R9</a:t>
              </a: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 flipH="1">
              <a:off x="7050254" y="5574441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5" name="Straight Connector 74"/>
            <p:cNvCxnSpPr>
              <a:stCxn id="70" idx="1"/>
            </p:cNvCxnSpPr>
            <p:nvPr/>
          </p:nvCxnSpPr>
          <p:spPr bwMode="auto">
            <a:xfrm flipH="1">
              <a:off x="5754110" y="5574441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6546198" y="5718457"/>
              <a:ext cx="6335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6071141" y="4474576"/>
              <a:ext cx="10422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½ opamp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194270" y="4350305"/>
              <a:ext cx="28249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7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826118" y="4638337"/>
              <a:ext cx="28249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6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826118" y="3990265"/>
              <a:ext cx="28249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5</a:t>
              </a:r>
            </a:p>
          </p:txBody>
        </p:sp>
        <p:sp>
          <p:nvSpPr>
            <p:cNvPr id="124" name="Rectangle 123"/>
            <p:cNvSpPr/>
            <p:nvPr/>
          </p:nvSpPr>
          <p:spPr bwMode="auto">
            <a:xfrm rot="16200000">
              <a:off x="5150940" y="3620933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/>
                  <a:cs typeface="Verdana"/>
                </a:rPr>
                <a:t>R7</a:t>
              </a:r>
            </a:p>
          </p:txBody>
        </p:sp>
        <p:cxnSp>
          <p:nvCxnSpPr>
            <p:cNvPr id="126" name="Straight Connector 125"/>
            <p:cNvCxnSpPr/>
            <p:nvPr/>
          </p:nvCxnSpPr>
          <p:spPr bwMode="auto">
            <a:xfrm rot="16200000" flipH="1">
              <a:off x="5222948" y="3332901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6" name="Straight Connector 135"/>
            <p:cNvCxnSpPr>
              <a:stCxn id="124" idx="1"/>
            </p:cNvCxnSpPr>
            <p:nvPr/>
          </p:nvCxnSpPr>
          <p:spPr bwMode="auto">
            <a:xfrm>
              <a:off x="5402968" y="4016977"/>
              <a:ext cx="0" cy="2502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 rot="16200000">
              <a:off x="4817016" y="3591631"/>
              <a:ext cx="5191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10k</a:t>
              </a:r>
            </a:p>
          </p:txBody>
        </p:sp>
        <p:sp>
          <p:nvSpPr>
            <p:cNvPr id="139" name="Rectangle 138"/>
            <p:cNvSpPr/>
            <p:nvPr/>
          </p:nvSpPr>
          <p:spPr bwMode="auto">
            <a:xfrm rot="16200000">
              <a:off x="5150942" y="4560217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/>
                  <a:cs typeface="Verdana"/>
                </a:rPr>
                <a:t>R8</a:t>
              </a:r>
            </a:p>
          </p:txBody>
        </p:sp>
        <p:cxnSp>
          <p:nvCxnSpPr>
            <p:cNvPr id="140" name="Straight Connector 139"/>
            <p:cNvCxnSpPr>
              <a:endCxn id="139" idx="3"/>
            </p:cNvCxnSpPr>
            <p:nvPr/>
          </p:nvCxnSpPr>
          <p:spPr bwMode="auto">
            <a:xfrm>
              <a:off x="5402970" y="4278298"/>
              <a:ext cx="0" cy="17390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1" name="Straight Connector 140"/>
            <p:cNvCxnSpPr/>
            <p:nvPr/>
          </p:nvCxnSpPr>
          <p:spPr bwMode="auto">
            <a:xfrm>
              <a:off x="5402970" y="4956261"/>
              <a:ext cx="0" cy="20740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42" name="TextBox 141"/>
            <p:cNvSpPr txBox="1"/>
            <p:nvPr/>
          </p:nvSpPr>
          <p:spPr>
            <a:xfrm rot="16200000">
              <a:off x="4845471" y="4558668"/>
              <a:ext cx="5191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10k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5267338" y="5151642"/>
              <a:ext cx="279648" cy="72008"/>
              <a:chOff x="3447628" y="4437112"/>
              <a:chExt cx="351656" cy="144016"/>
            </a:xfrm>
          </p:grpSpPr>
          <p:cxnSp>
            <p:nvCxnSpPr>
              <p:cNvPr id="146" name="Straight Connector 145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8" name="Straight Connector 147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151" name="Oval 150"/>
            <p:cNvSpPr/>
            <p:nvPr/>
          </p:nvSpPr>
          <p:spPr>
            <a:xfrm>
              <a:off x="5366811" y="4250900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2" name="Oval 151"/>
            <p:cNvSpPr/>
            <p:nvPr/>
          </p:nvSpPr>
          <p:spPr>
            <a:xfrm>
              <a:off x="7370665" y="4614005"/>
              <a:ext cx="79257" cy="73474"/>
            </a:xfrm>
            <a:prstGeom prst="ellipse">
              <a:avLst/>
            </a:prstGeom>
            <a:solidFill>
              <a:srgbClr val="0000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8" name="Oval 127"/>
            <p:cNvSpPr/>
            <p:nvPr/>
          </p:nvSpPr>
          <p:spPr>
            <a:xfrm>
              <a:off x="5720075" y="5537704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34" name="Straight Connector 133"/>
            <p:cNvCxnSpPr>
              <a:endCxn id="151" idx="6"/>
            </p:cNvCxnSpPr>
            <p:nvPr/>
          </p:nvCxnSpPr>
          <p:spPr bwMode="auto">
            <a:xfrm flipH="1">
              <a:off x="5446068" y="4278296"/>
              <a:ext cx="404594" cy="93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71" name="Group 170"/>
            <p:cNvGrpSpPr/>
            <p:nvPr/>
          </p:nvGrpSpPr>
          <p:grpSpPr>
            <a:xfrm>
              <a:off x="4272714" y="5122649"/>
              <a:ext cx="1447361" cy="595808"/>
              <a:chOff x="3822414" y="2941204"/>
              <a:chExt cx="1447361" cy="595808"/>
            </a:xfrm>
          </p:grpSpPr>
          <p:sp>
            <p:nvSpPr>
              <p:cNvPr id="183" name="Rectangle 182"/>
              <p:cNvSpPr/>
              <p:nvPr/>
            </p:nvSpPr>
            <p:spPr bwMode="auto">
              <a:xfrm>
                <a:off x="4146449" y="3248980"/>
                <a:ext cx="504056" cy="288032"/>
              </a:xfrm>
              <a:prstGeom prst="rect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effectLst/>
                    <a:latin typeface="Verdana"/>
                    <a:cs typeface="Verdana"/>
                  </a:rPr>
                  <a:t>R10</a:t>
                </a:r>
              </a:p>
            </p:txBody>
          </p:sp>
          <p:cxnSp>
            <p:nvCxnSpPr>
              <p:cNvPr id="186" name="Straight Connector 185"/>
              <p:cNvCxnSpPr>
                <a:stCxn id="128" idx="2"/>
              </p:cNvCxnSpPr>
              <p:nvPr/>
            </p:nvCxnSpPr>
            <p:spPr bwMode="auto">
              <a:xfrm flipH="1">
                <a:off x="4650505" y="3392996"/>
                <a:ext cx="61927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87" name="Straight Connector 186"/>
              <p:cNvCxnSpPr>
                <a:stCxn id="183" idx="1"/>
              </p:cNvCxnSpPr>
              <p:nvPr/>
            </p:nvCxnSpPr>
            <p:spPr bwMode="auto">
              <a:xfrm rot="5400000" flipH="1">
                <a:off x="3984431" y="3230978"/>
                <a:ext cx="1" cy="324036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88" name="TextBox 187"/>
              <p:cNvSpPr txBox="1"/>
              <p:nvPr/>
            </p:nvSpPr>
            <p:spPr>
              <a:xfrm>
                <a:off x="4073400" y="2941204"/>
                <a:ext cx="51919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Verdana"/>
                    <a:cs typeface="Verdana"/>
                  </a:rPr>
                  <a:t>20k</a:t>
                </a:r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171625" y="1371788"/>
            <a:ext cx="5430399" cy="4120252"/>
            <a:chOff x="3065202" y="82160"/>
            <a:chExt cx="5430399" cy="4120252"/>
          </a:xfrm>
        </p:grpSpPr>
        <p:cxnSp>
          <p:nvCxnSpPr>
            <p:cNvPr id="200" name="Straight Connector 199"/>
            <p:cNvCxnSpPr>
              <a:stCxn id="192" idx="2"/>
            </p:cNvCxnSpPr>
            <p:nvPr/>
          </p:nvCxnSpPr>
          <p:spPr bwMode="auto">
            <a:xfrm flipH="1">
              <a:off x="3196935" y="1317293"/>
              <a:ext cx="1211500" cy="1694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53" name="Group 252"/>
            <p:cNvGrpSpPr/>
            <p:nvPr/>
          </p:nvGrpSpPr>
          <p:grpSpPr>
            <a:xfrm>
              <a:off x="6598423" y="942389"/>
              <a:ext cx="1152128" cy="1368152"/>
              <a:chOff x="2503140" y="2852936"/>
              <a:chExt cx="1440160" cy="1368152"/>
            </a:xfrm>
          </p:grpSpPr>
          <p:cxnSp>
            <p:nvCxnSpPr>
              <p:cNvPr id="254" name="Straight Connector 253"/>
              <p:cNvCxnSpPr/>
              <p:nvPr/>
            </p:nvCxnSpPr>
            <p:spPr bwMode="auto">
              <a:xfrm>
                <a:off x="2503140" y="2852936"/>
                <a:ext cx="0" cy="136815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55" name="Straight Connector 254"/>
              <p:cNvCxnSpPr/>
              <p:nvPr/>
            </p:nvCxnSpPr>
            <p:spPr bwMode="auto">
              <a:xfrm>
                <a:off x="2503140" y="2852936"/>
                <a:ext cx="1440160" cy="72008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56" name="Straight Connector 255"/>
              <p:cNvCxnSpPr/>
              <p:nvPr/>
            </p:nvCxnSpPr>
            <p:spPr bwMode="auto">
              <a:xfrm flipV="1">
                <a:off x="2503140" y="3573016"/>
                <a:ext cx="1440160" cy="64807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257" name="TextBox 256"/>
            <p:cNvSpPr txBox="1"/>
            <p:nvPr/>
          </p:nvSpPr>
          <p:spPr>
            <a:xfrm>
              <a:off x="4882111" y="82160"/>
              <a:ext cx="10008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Vcc = 5v</a:t>
              </a:r>
            </a:p>
          </p:txBody>
        </p:sp>
        <p:cxnSp>
          <p:nvCxnSpPr>
            <p:cNvPr id="258" name="Straight Connector 257"/>
            <p:cNvCxnSpPr/>
            <p:nvPr/>
          </p:nvCxnSpPr>
          <p:spPr bwMode="auto">
            <a:xfrm>
              <a:off x="7173713" y="349009"/>
              <a:ext cx="776" cy="95342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59" name="Group 258"/>
            <p:cNvGrpSpPr/>
            <p:nvPr/>
          </p:nvGrpSpPr>
          <p:grpSpPr>
            <a:xfrm>
              <a:off x="7246495" y="1878493"/>
              <a:ext cx="279648" cy="288032"/>
              <a:chOff x="3079204" y="2996952"/>
              <a:chExt cx="279648" cy="288032"/>
            </a:xfrm>
          </p:grpSpPr>
          <p:cxnSp>
            <p:nvCxnSpPr>
              <p:cNvPr id="260" name="Straight Connector 259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61" name="Group 260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62" name="Straight Connector 261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63" name="Straight Connector 262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64" name="Straight Connector 263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265" name="TextBox 264"/>
            <p:cNvSpPr txBox="1"/>
            <p:nvPr/>
          </p:nvSpPr>
          <p:spPr>
            <a:xfrm>
              <a:off x="6584893" y="1086405"/>
              <a:ext cx="373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266" name="Straight Connector 265"/>
            <p:cNvCxnSpPr/>
            <p:nvPr/>
          </p:nvCxnSpPr>
          <p:spPr bwMode="auto">
            <a:xfrm flipH="1">
              <a:off x="6670431" y="1950501"/>
              <a:ext cx="14401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7" name="Straight Connector 266"/>
            <p:cNvCxnSpPr/>
            <p:nvPr/>
          </p:nvCxnSpPr>
          <p:spPr bwMode="auto">
            <a:xfrm flipH="1">
              <a:off x="6238383" y="1302429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8" name="Straight Connector 267"/>
            <p:cNvCxnSpPr/>
            <p:nvPr/>
          </p:nvCxnSpPr>
          <p:spPr bwMode="auto">
            <a:xfrm flipH="1">
              <a:off x="6238383" y="1950501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9" name="Straight Connector 268"/>
            <p:cNvCxnSpPr/>
            <p:nvPr/>
          </p:nvCxnSpPr>
          <p:spPr bwMode="auto">
            <a:xfrm flipH="1">
              <a:off x="7750551" y="1659666"/>
              <a:ext cx="465340" cy="280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0" name="Straight Connector 269"/>
            <p:cNvCxnSpPr/>
            <p:nvPr/>
          </p:nvCxnSpPr>
          <p:spPr bwMode="auto">
            <a:xfrm flipV="1">
              <a:off x="7894567" y="1662469"/>
              <a:ext cx="0" cy="9361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1" name="Straight Connector 270"/>
            <p:cNvCxnSpPr/>
            <p:nvPr/>
          </p:nvCxnSpPr>
          <p:spPr bwMode="auto">
            <a:xfrm flipV="1">
              <a:off x="6238383" y="1950501"/>
              <a:ext cx="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72" name="Oval 271"/>
            <p:cNvSpPr/>
            <p:nvPr/>
          </p:nvSpPr>
          <p:spPr bwMode="auto">
            <a:xfrm>
              <a:off x="8114357" y="1567595"/>
              <a:ext cx="144016" cy="144016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7961042" y="1269911"/>
              <a:ext cx="5345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Vo1</a:t>
              </a:r>
            </a:p>
          </p:txBody>
        </p:sp>
        <p:grpSp>
          <p:nvGrpSpPr>
            <p:cNvPr id="274" name="Group 273"/>
            <p:cNvGrpSpPr/>
            <p:nvPr/>
          </p:nvGrpSpPr>
          <p:grpSpPr>
            <a:xfrm>
              <a:off x="6238383" y="2454557"/>
              <a:ext cx="1656184" cy="595809"/>
              <a:chOff x="3354361" y="3248980"/>
              <a:chExt cx="1656184" cy="595809"/>
            </a:xfrm>
          </p:grpSpPr>
          <p:sp>
            <p:nvSpPr>
              <p:cNvPr id="275" name="Rectangle 274"/>
              <p:cNvSpPr/>
              <p:nvPr/>
            </p:nvSpPr>
            <p:spPr bwMode="auto">
              <a:xfrm>
                <a:off x="4146449" y="3248980"/>
                <a:ext cx="504056" cy="288032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/>
                    <a:cs typeface="Verdana"/>
                  </a:rPr>
                  <a:t>R3</a:t>
                </a:r>
              </a:p>
            </p:txBody>
          </p:sp>
          <p:cxnSp>
            <p:nvCxnSpPr>
              <p:cNvPr id="276" name="Straight Connector 275"/>
              <p:cNvCxnSpPr/>
              <p:nvPr/>
            </p:nvCxnSpPr>
            <p:spPr bwMode="auto">
              <a:xfrm flipH="1">
                <a:off x="4650505" y="3392996"/>
                <a:ext cx="36004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77" name="Straight Connector 276"/>
              <p:cNvCxnSpPr>
                <a:stCxn id="275" idx="1"/>
              </p:cNvCxnSpPr>
              <p:nvPr/>
            </p:nvCxnSpPr>
            <p:spPr bwMode="auto">
              <a:xfrm flipH="1">
                <a:off x="3354361" y="3392996"/>
                <a:ext cx="79208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278" name="TextBox 277"/>
              <p:cNvSpPr txBox="1"/>
              <p:nvPr/>
            </p:nvSpPr>
            <p:spPr>
              <a:xfrm>
                <a:off x="4146449" y="3537012"/>
                <a:ext cx="6335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Verdana"/>
                    <a:cs typeface="Verdana"/>
                  </a:rPr>
                  <a:t>200k</a:t>
                </a:r>
              </a:p>
            </p:txBody>
          </p:sp>
        </p:grpSp>
        <p:grpSp>
          <p:nvGrpSpPr>
            <p:cNvPr id="279" name="Group 278"/>
            <p:cNvGrpSpPr/>
            <p:nvPr/>
          </p:nvGrpSpPr>
          <p:grpSpPr>
            <a:xfrm>
              <a:off x="7174487" y="726365"/>
              <a:ext cx="792087" cy="648071"/>
              <a:chOff x="2575148" y="1844825"/>
              <a:chExt cx="792087" cy="648071"/>
            </a:xfrm>
          </p:grpSpPr>
          <p:grpSp>
            <p:nvGrpSpPr>
              <p:cNvPr id="280" name="Group 279"/>
              <p:cNvGrpSpPr/>
              <p:nvPr/>
            </p:nvGrpSpPr>
            <p:grpSpPr>
              <a:xfrm>
                <a:off x="2575148" y="1844825"/>
                <a:ext cx="792087" cy="504056"/>
                <a:chOff x="3511253" y="2048847"/>
                <a:chExt cx="792087" cy="588065"/>
              </a:xfrm>
            </p:grpSpPr>
            <p:grpSp>
              <p:nvGrpSpPr>
                <p:cNvPr id="287" name="Group 286"/>
                <p:cNvGrpSpPr/>
                <p:nvPr/>
              </p:nvGrpSpPr>
              <p:grpSpPr>
                <a:xfrm>
                  <a:off x="3511253" y="2132856"/>
                  <a:ext cx="360040" cy="504056"/>
                  <a:chOff x="3511252" y="2132856"/>
                  <a:chExt cx="505147" cy="504056"/>
                </a:xfrm>
              </p:grpSpPr>
              <p:cxnSp>
                <p:nvCxnSpPr>
                  <p:cNvPr id="289" name="Straight Connector 288"/>
                  <p:cNvCxnSpPr/>
                  <p:nvPr/>
                </p:nvCxnSpPr>
                <p:spPr bwMode="auto">
                  <a:xfrm>
                    <a:off x="3871292" y="2132856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90" name="Straight Connector 289"/>
                  <p:cNvCxnSpPr/>
                  <p:nvPr/>
                </p:nvCxnSpPr>
                <p:spPr bwMode="auto">
                  <a:xfrm flipH="1">
                    <a:off x="3726185" y="2348880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91" name="Straight Connector 290"/>
                  <p:cNvCxnSpPr/>
                  <p:nvPr/>
                </p:nvCxnSpPr>
                <p:spPr bwMode="auto">
                  <a:xfrm flipH="1">
                    <a:off x="3727276" y="2420888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92" name="Straight Connector 291"/>
                  <p:cNvCxnSpPr/>
                  <p:nvPr/>
                </p:nvCxnSpPr>
                <p:spPr bwMode="auto">
                  <a:xfrm>
                    <a:off x="3871292" y="2420888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93" name="Straight Connector 292"/>
                  <p:cNvCxnSpPr/>
                  <p:nvPr/>
                </p:nvCxnSpPr>
                <p:spPr bwMode="auto">
                  <a:xfrm flipH="1">
                    <a:off x="3511252" y="2132856"/>
                    <a:ext cx="36004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288" name="TextBox 287"/>
                <p:cNvSpPr txBox="1"/>
                <p:nvPr/>
              </p:nvSpPr>
              <p:spPr>
                <a:xfrm>
                  <a:off x="3772425" y="2048847"/>
                  <a:ext cx="5309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Verdana"/>
                      <a:cs typeface="Verdana"/>
                    </a:rPr>
                    <a:t>0.1</a:t>
                  </a:r>
                  <a:r>
                    <a:rPr lang="en-US" sz="1200" dirty="0">
                      <a:latin typeface="Symbol" charset="2"/>
                      <a:cs typeface="Symbol" charset="2"/>
                    </a:rPr>
                    <a:t>m</a:t>
                  </a:r>
                </a:p>
              </p:txBody>
            </p:sp>
          </p:grpSp>
          <p:grpSp>
            <p:nvGrpSpPr>
              <p:cNvPr id="281" name="Group 280"/>
              <p:cNvGrpSpPr/>
              <p:nvPr/>
            </p:nvGrpSpPr>
            <p:grpSpPr>
              <a:xfrm>
                <a:off x="2719164" y="2204864"/>
                <a:ext cx="216024" cy="288032"/>
                <a:chOff x="3079204" y="2996952"/>
                <a:chExt cx="279648" cy="288032"/>
              </a:xfrm>
            </p:grpSpPr>
            <p:cxnSp>
              <p:nvCxnSpPr>
                <p:cNvPr id="282" name="Straight Connector 281"/>
                <p:cNvCxnSpPr/>
                <p:nvPr/>
              </p:nvCxnSpPr>
              <p:spPr bwMode="auto">
                <a:xfrm>
                  <a:off x="3223220" y="2996952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283" name="Group 282"/>
                <p:cNvGrpSpPr/>
                <p:nvPr/>
              </p:nvGrpSpPr>
              <p:grpSpPr>
                <a:xfrm>
                  <a:off x="3079204" y="3212976"/>
                  <a:ext cx="279648" cy="72008"/>
                  <a:chOff x="3447628" y="4437112"/>
                  <a:chExt cx="351656" cy="144016"/>
                </a:xfrm>
              </p:grpSpPr>
              <p:cxnSp>
                <p:nvCxnSpPr>
                  <p:cNvPr id="284" name="Straight Connector 283"/>
                  <p:cNvCxnSpPr/>
                  <p:nvPr/>
                </p:nvCxnSpPr>
                <p:spPr bwMode="auto">
                  <a:xfrm flipH="1">
                    <a:off x="3447628" y="4437112"/>
                    <a:ext cx="351656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85" name="Straight Connector 284"/>
                  <p:cNvCxnSpPr/>
                  <p:nvPr/>
                </p:nvCxnSpPr>
                <p:spPr bwMode="auto">
                  <a:xfrm flipH="1">
                    <a:off x="3511252" y="4509120"/>
                    <a:ext cx="216024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86" name="Straight Connector 285"/>
                  <p:cNvCxnSpPr/>
                  <p:nvPr/>
                </p:nvCxnSpPr>
                <p:spPr bwMode="auto">
                  <a:xfrm flipH="1">
                    <a:off x="3583260" y="4581128"/>
                    <a:ext cx="72008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</p:grpSp>
        <p:sp>
          <p:nvSpPr>
            <p:cNvPr id="294" name="TextBox 293"/>
            <p:cNvSpPr txBox="1"/>
            <p:nvPr/>
          </p:nvSpPr>
          <p:spPr>
            <a:xfrm>
              <a:off x="6555414" y="1498708"/>
              <a:ext cx="10422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½ opamp</a:t>
              </a:r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6886455" y="94238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8</a:t>
              </a:r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7318503" y="1806485"/>
              <a:ext cx="2824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4</a:t>
              </a:r>
            </a:p>
          </p:txBody>
        </p:sp>
        <p:sp>
          <p:nvSpPr>
            <p:cNvPr id="297" name="TextBox 296"/>
            <p:cNvSpPr txBox="1"/>
            <p:nvPr/>
          </p:nvSpPr>
          <p:spPr>
            <a:xfrm>
              <a:off x="7678543" y="1374437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1</a:t>
              </a: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6310391" y="1662469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2</a:t>
              </a:r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6310391" y="1014397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3</a:t>
              </a:r>
            </a:p>
          </p:txBody>
        </p:sp>
        <p:sp>
          <p:nvSpPr>
            <p:cNvPr id="300" name="TextBox 299"/>
            <p:cNvSpPr txBox="1"/>
            <p:nvPr/>
          </p:nvSpPr>
          <p:spPr>
            <a:xfrm>
              <a:off x="7573769" y="962134"/>
              <a:ext cx="4241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C1</a:t>
              </a:r>
            </a:p>
          </p:txBody>
        </p:sp>
        <p:grpSp>
          <p:nvGrpSpPr>
            <p:cNvPr id="301" name="Group 300"/>
            <p:cNvGrpSpPr/>
            <p:nvPr/>
          </p:nvGrpSpPr>
          <p:grpSpPr>
            <a:xfrm rot="16200000">
              <a:off x="5161934" y="422074"/>
              <a:ext cx="1114384" cy="624261"/>
              <a:chOff x="3896161" y="2912751"/>
              <a:chExt cx="1114384" cy="624261"/>
            </a:xfrm>
          </p:grpSpPr>
          <p:sp>
            <p:nvSpPr>
              <p:cNvPr id="302" name="Rectangle 301"/>
              <p:cNvSpPr/>
              <p:nvPr/>
            </p:nvSpPr>
            <p:spPr bwMode="auto">
              <a:xfrm>
                <a:off x="4146449" y="3248980"/>
                <a:ext cx="504056" cy="288032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/>
                    <a:cs typeface="Verdana"/>
                  </a:rPr>
                  <a:t>R1</a:t>
                </a:r>
              </a:p>
            </p:txBody>
          </p:sp>
          <p:cxnSp>
            <p:nvCxnSpPr>
              <p:cNvPr id="303" name="Straight Connector 302"/>
              <p:cNvCxnSpPr/>
              <p:nvPr/>
            </p:nvCxnSpPr>
            <p:spPr bwMode="auto">
              <a:xfrm flipH="1">
                <a:off x="4650505" y="3392996"/>
                <a:ext cx="36004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04" name="Straight Connector 303"/>
              <p:cNvCxnSpPr>
                <a:stCxn id="302" idx="1"/>
              </p:cNvCxnSpPr>
              <p:nvPr/>
            </p:nvCxnSpPr>
            <p:spPr bwMode="auto">
              <a:xfrm rot="5400000">
                <a:off x="4021305" y="3267852"/>
                <a:ext cx="0" cy="250288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305" name="TextBox 304"/>
              <p:cNvSpPr txBox="1"/>
              <p:nvPr/>
            </p:nvSpPr>
            <p:spPr>
              <a:xfrm>
                <a:off x="4101153" y="2912751"/>
                <a:ext cx="6335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Verdana"/>
                    <a:cs typeface="Verdana"/>
                  </a:rPr>
                  <a:t>200k</a:t>
                </a:r>
              </a:p>
            </p:txBody>
          </p:sp>
        </p:grpSp>
        <p:grpSp>
          <p:nvGrpSpPr>
            <p:cNvPr id="306" name="Group 305"/>
            <p:cNvGrpSpPr/>
            <p:nvPr/>
          </p:nvGrpSpPr>
          <p:grpSpPr>
            <a:xfrm rot="16200000">
              <a:off x="5139289" y="1598591"/>
              <a:ext cx="1188131" cy="595808"/>
              <a:chOff x="3822414" y="2941204"/>
              <a:chExt cx="1188131" cy="595808"/>
            </a:xfrm>
          </p:grpSpPr>
          <p:sp>
            <p:nvSpPr>
              <p:cNvPr id="307" name="Rectangle 306"/>
              <p:cNvSpPr/>
              <p:nvPr/>
            </p:nvSpPr>
            <p:spPr bwMode="auto">
              <a:xfrm>
                <a:off x="4146449" y="3248980"/>
                <a:ext cx="504056" cy="288032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/>
                    <a:cs typeface="Verdana"/>
                  </a:rPr>
                  <a:t>R2</a:t>
                </a:r>
              </a:p>
            </p:txBody>
          </p:sp>
          <p:cxnSp>
            <p:nvCxnSpPr>
              <p:cNvPr id="308" name="Straight Connector 307"/>
              <p:cNvCxnSpPr/>
              <p:nvPr/>
            </p:nvCxnSpPr>
            <p:spPr bwMode="auto">
              <a:xfrm flipH="1">
                <a:off x="4650505" y="3392996"/>
                <a:ext cx="36004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09" name="Straight Connector 308"/>
              <p:cNvCxnSpPr>
                <a:stCxn id="307" idx="1"/>
              </p:cNvCxnSpPr>
              <p:nvPr/>
            </p:nvCxnSpPr>
            <p:spPr bwMode="auto">
              <a:xfrm rot="5400000" flipH="1">
                <a:off x="3984431" y="3230978"/>
                <a:ext cx="1" cy="324036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310" name="TextBox 309"/>
              <p:cNvSpPr txBox="1"/>
              <p:nvPr/>
            </p:nvSpPr>
            <p:spPr>
              <a:xfrm>
                <a:off x="4073400" y="2941204"/>
                <a:ext cx="6335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Verdana"/>
                    <a:cs typeface="Verdana"/>
                  </a:rPr>
                  <a:t>200k</a:t>
                </a:r>
              </a:p>
            </p:txBody>
          </p:sp>
        </p:grpSp>
        <p:grpSp>
          <p:nvGrpSpPr>
            <p:cNvPr id="311" name="Group 310"/>
            <p:cNvGrpSpPr/>
            <p:nvPr/>
          </p:nvGrpSpPr>
          <p:grpSpPr>
            <a:xfrm>
              <a:off x="5743225" y="2490561"/>
              <a:ext cx="279648" cy="288032"/>
              <a:chOff x="3079204" y="2996952"/>
              <a:chExt cx="279648" cy="288032"/>
            </a:xfrm>
          </p:grpSpPr>
          <p:cxnSp>
            <p:nvCxnSpPr>
              <p:cNvPr id="312" name="Straight Connector 311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313" name="Group 312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314" name="Straight Connector 313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315" name="Straight Connector 314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316" name="Straight Connector 315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cxnSp>
          <p:nvCxnSpPr>
            <p:cNvPr id="317" name="Straight Connector 316"/>
            <p:cNvCxnSpPr/>
            <p:nvPr/>
          </p:nvCxnSpPr>
          <p:spPr bwMode="auto">
            <a:xfrm flipH="1">
              <a:off x="4441279" y="349009"/>
              <a:ext cx="273243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18" name="Oval 317"/>
            <p:cNvSpPr/>
            <p:nvPr/>
          </p:nvSpPr>
          <p:spPr>
            <a:xfrm>
              <a:off x="7134860" y="761636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9" name="Oval 318"/>
            <p:cNvSpPr/>
            <p:nvPr/>
          </p:nvSpPr>
          <p:spPr>
            <a:xfrm>
              <a:off x="5851084" y="1275032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0" name="Oval 319"/>
            <p:cNvSpPr/>
            <p:nvPr/>
          </p:nvSpPr>
          <p:spPr>
            <a:xfrm>
              <a:off x="7854938" y="1638137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1" name="Oval 320"/>
            <p:cNvSpPr/>
            <p:nvPr/>
          </p:nvSpPr>
          <p:spPr>
            <a:xfrm>
              <a:off x="5851084" y="316463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22" name="Group 321"/>
            <p:cNvGrpSpPr/>
            <p:nvPr/>
          </p:nvGrpSpPr>
          <p:grpSpPr>
            <a:xfrm rot="16200000">
              <a:off x="5497661" y="2745814"/>
              <a:ext cx="1188131" cy="595806"/>
              <a:chOff x="3822414" y="2941206"/>
              <a:chExt cx="1188131" cy="595806"/>
            </a:xfrm>
          </p:grpSpPr>
          <p:sp>
            <p:nvSpPr>
              <p:cNvPr id="323" name="Rectangle 322"/>
              <p:cNvSpPr/>
              <p:nvPr/>
            </p:nvSpPr>
            <p:spPr bwMode="auto">
              <a:xfrm>
                <a:off x="4146449" y="3248980"/>
                <a:ext cx="504056" cy="288032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effectLst/>
                    <a:latin typeface="Verdana"/>
                    <a:cs typeface="Verdana"/>
                  </a:rPr>
                  <a:t>R4</a:t>
                </a:r>
              </a:p>
            </p:txBody>
          </p:sp>
          <p:cxnSp>
            <p:nvCxnSpPr>
              <p:cNvPr id="324" name="Straight Connector 323"/>
              <p:cNvCxnSpPr/>
              <p:nvPr/>
            </p:nvCxnSpPr>
            <p:spPr bwMode="auto">
              <a:xfrm flipH="1">
                <a:off x="4650505" y="3392996"/>
                <a:ext cx="36004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25" name="Straight Connector 324"/>
              <p:cNvCxnSpPr>
                <a:stCxn id="323" idx="1"/>
              </p:cNvCxnSpPr>
              <p:nvPr/>
            </p:nvCxnSpPr>
            <p:spPr bwMode="auto">
              <a:xfrm rot="5400000" flipH="1">
                <a:off x="3984431" y="3230978"/>
                <a:ext cx="1" cy="324036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326" name="TextBox 325"/>
              <p:cNvSpPr txBox="1"/>
              <p:nvPr/>
            </p:nvSpPr>
            <p:spPr>
              <a:xfrm>
                <a:off x="4130556" y="2941206"/>
                <a:ext cx="5191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000000"/>
                    </a:solidFill>
                    <a:latin typeface="Verdana"/>
                    <a:cs typeface="Verdana"/>
                  </a:rPr>
                  <a:t>20k</a:t>
                </a:r>
              </a:p>
            </p:txBody>
          </p:sp>
        </p:grpSp>
        <p:grpSp>
          <p:nvGrpSpPr>
            <p:cNvPr id="327" name="Group 326"/>
            <p:cNvGrpSpPr/>
            <p:nvPr/>
          </p:nvGrpSpPr>
          <p:grpSpPr>
            <a:xfrm>
              <a:off x="6098559" y="3914380"/>
              <a:ext cx="279648" cy="288032"/>
              <a:chOff x="3079204" y="2996952"/>
              <a:chExt cx="279648" cy="288032"/>
            </a:xfrm>
          </p:grpSpPr>
          <p:cxnSp>
            <p:nvCxnSpPr>
              <p:cNvPr id="328" name="Straight Connector 327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329" name="Group 328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330" name="Straight Connector 329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331" name="Straight Connector 330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332" name="Straight Connector 331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333" name="Oval 332"/>
            <p:cNvSpPr/>
            <p:nvPr/>
          </p:nvSpPr>
          <p:spPr>
            <a:xfrm>
              <a:off x="6204348" y="2561836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34" name="Group 333"/>
            <p:cNvGrpSpPr/>
            <p:nvPr/>
          </p:nvGrpSpPr>
          <p:grpSpPr>
            <a:xfrm>
              <a:off x="4454215" y="1230421"/>
              <a:ext cx="362682" cy="206732"/>
              <a:chOff x="5740858" y="1494076"/>
              <a:chExt cx="362682" cy="206732"/>
            </a:xfrm>
          </p:grpSpPr>
          <p:cxnSp>
            <p:nvCxnSpPr>
              <p:cNvPr id="335" name="Straight Connector 334"/>
              <p:cNvCxnSpPr/>
              <p:nvPr/>
            </p:nvCxnSpPr>
            <p:spPr bwMode="auto">
              <a:xfrm>
                <a:off x="6031532" y="1494076"/>
                <a:ext cx="0" cy="20673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36" name="Straight Connector 335"/>
              <p:cNvCxnSpPr/>
              <p:nvPr/>
            </p:nvCxnSpPr>
            <p:spPr bwMode="auto">
              <a:xfrm>
                <a:off x="6103540" y="1494076"/>
                <a:ext cx="0" cy="20673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37" name="Straight Connector 336"/>
              <p:cNvCxnSpPr/>
              <p:nvPr/>
            </p:nvCxnSpPr>
            <p:spPr bwMode="auto">
              <a:xfrm flipH="1">
                <a:off x="5740858" y="1587317"/>
                <a:ext cx="301061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339" name="Straight Connector 338"/>
            <p:cNvCxnSpPr/>
            <p:nvPr/>
          </p:nvCxnSpPr>
          <p:spPr bwMode="auto">
            <a:xfrm flipH="1">
              <a:off x="4816897" y="1302428"/>
              <a:ext cx="1518037" cy="212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40" name="TextBox 339"/>
            <p:cNvSpPr txBox="1"/>
            <p:nvPr/>
          </p:nvSpPr>
          <p:spPr>
            <a:xfrm>
              <a:off x="4703499" y="879614"/>
              <a:ext cx="402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Verdana"/>
                  <a:cs typeface="Verdana"/>
                </a:rPr>
                <a:t>1</a:t>
              </a:r>
              <a:r>
                <a:rPr lang="en-US" sz="1400" dirty="0">
                  <a:solidFill>
                    <a:srgbClr val="000000"/>
                  </a:solidFill>
                  <a:latin typeface="Symbol" charset="2"/>
                  <a:cs typeface="Symbol" charset="2"/>
                </a:rPr>
                <a:t>m</a:t>
              </a:r>
            </a:p>
          </p:txBody>
        </p:sp>
        <p:grpSp>
          <p:nvGrpSpPr>
            <p:cNvPr id="341" name="Group 340"/>
            <p:cNvGrpSpPr/>
            <p:nvPr/>
          </p:nvGrpSpPr>
          <p:grpSpPr>
            <a:xfrm rot="16200000">
              <a:off x="5913741" y="3623158"/>
              <a:ext cx="663743" cy="206732"/>
              <a:chOff x="5740858" y="1494076"/>
              <a:chExt cx="663743" cy="206732"/>
            </a:xfrm>
          </p:grpSpPr>
          <p:cxnSp>
            <p:nvCxnSpPr>
              <p:cNvPr id="342" name="Straight Connector 341"/>
              <p:cNvCxnSpPr/>
              <p:nvPr/>
            </p:nvCxnSpPr>
            <p:spPr bwMode="auto">
              <a:xfrm>
                <a:off x="6031532" y="1494076"/>
                <a:ext cx="0" cy="20673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43" name="Straight Connector 342"/>
              <p:cNvCxnSpPr/>
              <p:nvPr/>
            </p:nvCxnSpPr>
            <p:spPr bwMode="auto">
              <a:xfrm>
                <a:off x="6103540" y="1494076"/>
                <a:ext cx="0" cy="20673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44" name="Straight Connector 343"/>
              <p:cNvCxnSpPr/>
              <p:nvPr/>
            </p:nvCxnSpPr>
            <p:spPr bwMode="auto">
              <a:xfrm flipH="1">
                <a:off x="5740858" y="1587317"/>
                <a:ext cx="301061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45" name="Straight Connector 344"/>
              <p:cNvCxnSpPr/>
              <p:nvPr/>
            </p:nvCxnSpPr>
            <p:spPr bwMode="auto">
              <a:xfrm flipH="1">
                <a:off x="6103540" y="1592544"/>
                <a:ext cx="301061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346" name="TextBox 345"/>
            <p:cNvSpPr txBox="1"/>
            <p:nvPr/>
          </p:nvSpPr>
          <p:spPr>
            <a:xfrm>
              <a:off x="6295972" y="3560835"/>
              <a:ext cx="402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1</a:t>
              </a:r>
              <a:r>
                <a:rPr lang="en-US" sz="1400" dirty="0">
                  <a:latin typeface="Symbol" charset="2"/>
                  <a:cs typeface="Symbol" charset="2"/>
                </a:rPr>
                <a:t>m</a:t>
              </a:r>
            </a:p>
          </p:txBody>
        </p:sp>
        <p:grpSp>
          <p:nvGrpSpPr>
            <p:cNvPr id="184" name="Group 183"/>
            <p:cNvGrpSpPr/>
            <p:nvPr/>
          </p:nvGrpSpPr>
          <p:grpSpPr>
            <a:xfrm rot="16200000">
              <a:off x="3785848" y="524215"/>
              <a:ext cx="974652" cy="624251"/>
              <a:chOff x="3896161" y="2912761"/>
              <a:chExt cx="974652" cy="624251"/>
            </a:xfrm>
          </p:grpSpPr>
          <p:sp>
            <p:nvSpPr>
              <p:cNvPr id="185" name="Rectangle 184"/>
              <p:cNvSpPr/>
              <p:nvPr/>
            </p:nvSpPr>
            <p:spPr bwMode="auto">
              <a:xfrm>
                <a:off x="4146449" y="3248980"/>
                <a:ext cx="504056" cy="288032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Verdana"/>
                    <a:cs typeface="Verdana"/>
                  </a:rPr>
                  <a:t>R11</a:t>
                </a:r>
              </a:p>
            </p:txBody>
          </p:sp>
          <p:cxnSp>
            <p:nvCxnSpPr>
              <p:cNvPr id="189" name="Straight Connector 188"/>
              <p:cNvCxnSpPr/>
              <p:nvPr/>
            </p:nvCxnSpPr>
            <p:spPr bwMode="auto">
              <a:xfrm rot="5400000">
                <a:off x="4760659" y="3282842"/>
                <a:ext cx="0" cy="220309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90" name="Straight Connector 189"/>
              <p:cNvCxnSpPr>
                <a:stCxn id="185" idx="1"/>
              </p:cNvCxnSpPr>
              <p:nvPr/>
            </p:nvCxnSpPr>
            <p:spPr bwMode="auto">
              <a:xfrm rot="5400000">
                <a:off x="4021305" y="3267852"/>
                <a:ext cx="0" cy="250288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91" name="TextBox 190"/>
              <p:cNvSpPr txBox="1"/>
              <p:nvPr/>
            </p:nvSpPr>
            <p:spPr>
              <a:xfrm>
                <a:off x="4126003" y="2912761"/>
                <a:ext cx="5838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  <a:latin typeface="Verdana"/>
                    <a:cs typeface="Verdana"/>
                  </a:rPr>
                  <a:t>2.2k</a:t>
                </a:r>
              </a:p>
            </p:txBody>
          </p:sp>
        </p:grpSp>
        <p:sp>
          <p:nvSpPr>
            <p:cNvPr id="192" name="Oval 191"/>
            <p:cNvSpPr/>
            <p:nvPr/>
          </p:nvSpPr>
          <p:spPr>
            <a:xfrm>
              <a:off x="4408435" y="1280556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3" name="Group 192"/>
            <p:cNvGrpSpPr/>
            <p:nvPr/>
          </p:nvGrpSpPr>
          <p:grpSpPr>
            <a:xfrm>
              <a:off x="3065202" y="1325519"/>
              <a:ext cx="279648" cy="288032"/>
              <a:chOff x="3079204" y="2996952"/>
              <a:chExt cx="279648" cy="288032"/>
            </a:xfrm>
          </p:grpSpPr>
          <p:cxnSp>
            <p:nvCxnSpPr>
              <p:cNvPr id="194" name="Straight Connector 193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95" name="Group 194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196" name="Straight Connector 195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97" name="Straight Connector 196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98" name="Straight Connector 197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199" name="Oval 198"/>
            <p:cNvSpPr/>
            <p:nvPr/>
          </p:nvSpPr>
          <p:spPr bwMode="auto">
            <a:xfrm>
              <a:off x="3585130" y="1140643"/>
              <a:ext cx="375904" cy="389099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3552286" y="1164946"/>
              <a:ext cx="4567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  <a:latin typeface="Verdana"/>
                  <a:cs typeface="Verdana"/>
                </a:rPr>
                <a:t>mic</a:t>
              </a:r>
              <a:endParaRPr lang="en-US" sz="1200" dirty="0">
                <a:solidFill>
                  <a:srgbClr val="FF0000"/>
                </a:solidFill>
                <a:latin typeface="Verdana"/>
                <a:cs typeface="Verdana"/>
              </a:endParaRPr>
            </a:p>
          </p:txBody>
        </p:sp>
      </p:grpSp>
      <p:cxnSp>
        <p:nvCxnSpPr>
          <p:cNvPr id="208" name="Straight Connector 207"/>
          <p:cNvCxnSpPr/>
          <p:nvPr/>
        </p:nvCxnSpPr>
        <p:spPr bwMode="auto">
          <a:xfrm flipH="1" flipV="1">
            <a:off x="5320095" y="2992874"/>
            <a:ext cx="2219" cy="107534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1941934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E03AB-6CF5-F483-94A9-CCBE71146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710E81A7-9C33-8A53-A8EF-FB28BF8961BC}"/>
              </a:ext>
            </a:extLst>
          </p:cNvPr>
          <p:cNvCxnSpPr/>
          <p:nvPr/>
        </p:nvCxnSpPr>
        <p:spPr bwMode="auto">
          <a:xfrm flipH="1" flipV="1">
            <a:off x="8858942" y="5629196"/>
            <a:ext cx="2219" cy="107534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FB864D3-CE53-80D1-6F62-E1BED23BB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94992"/>
            <a:ext cx="7772400" cy="28680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8CAC2D-DF66-CCFA-1D3E-1647DA9A9968}"/>
              </a:ext>
            </a:extLst>
          </p:cNvPr>
          <p:cNvSpPr txBox="1"/>
          <p:nvPr/>
        </p:nvSpPr>
        <p:spPr>
          <a:xfrm>
            <a:off x="1151905" y="2363189"/>
            <a:ext cx="45076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2.2k</a:t>
            </a:r>
          </a:p>
        </p:txBody>
      </p:sp>
    </p:spTree>
    <p:extLst>
      <p:ext uri="{BB962C8B-B14F-4D97-AF65-F5344CB8AC3E}">
        <p14:creationId xmlns:p14="http://schemas.microsoft.com/office/powerpoint/2010/main" val="4277130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/>
          <p:cNvGrpSpPr/>
          <p:nvPr/>
        </p:nvGrpSpPr>
        <p:grpSpPr>
          <a:xfrm>
            <a:off x="6279522" y="2024934"/>
            <a:ext cx="1340757" cy="1728192"/>
            <a:chOff x="8507199" y="1772816"/>
            <a:chExt cx="1340757" cy="1728192"/>
          </a:xfrm>
        </p:grpSpPr>
        <p:cxnSp>
          <p:nvCxnSpPr>
            <p:cNvPr id="157" name="Straight Connector 156"/>
            <p:cNvCxnSpPr/>
            <p:nvPr/>
          </p:nvCxnSpPr>
          <p:spPr bwMode="auto">
            <a:xfrm flipH="1">
              <a:off x="8507199" y="2348880"/>
              <a:ext cx="43741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58" name="Oval 157"/>
            <p:cNvSpPr/>
            <p:nvPr/>
          </p:nvSpPr>
          <p:spPr bwMode="auto">
            <a:xfrm>
              <a:off x="8944618" y="2276872"/>
              <a:ext cx="144016" cy="144016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grpSp>
          <p:nvGrpSpPr>
            <p:cNvPr id="159" name="Group 158"/>
            <p:cNvGrpSpPr/>
            <p:nvPr/>
          </p:nvGrpSpPr>
          <p:grpSpPr>
            <a:xfrm>
              <a:off x="8610290" y="1988840"/>
              <a:ext cx="589594" cy="576064"/>
              <a:chOff x="8610290" y="1988840"/>
              <a:chExt cx="589594" cy="576064"/>
            </a:xfrm>
          </p:grpSpPr>
          <p:pic>
            <p:nvPicPr>
              <p:cNvPr id="176" name="Picture 17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767836" y="2132856"/>
                <a:ext cx="432048" cy="432048"/>
              </a:xfrm>
              <a:prstGeom prst="rect">
                <a:avLst/>
              </a:prstGeom>
            </p:spPr>
          </p:pic>
          <p:sp>
            <p:nvSpPr>
              <p:cNvPr id="177" name="TextBox 176"/>
              <p:cNvSpPr txBox="1"/>
              <p:nvPr/>
            </p:nvSpPr>
            <p:spPr>
              <a:xfrm>
                <a:off x="8610290" y="1988840"/>
                <a:ext cx="3735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Verdana"/>
                    <a:cs typeface="Verdana"/>
                  </a:rPr>
                  <a:t>+</a:t>
                </a:r>
              </a:p>
            </p:txBody>
          </p:sp>
        </p:grpSp>
        <p:cxnSp>
          <p:nvCxnSpPr>
            <p:cNvPr id="160" name="Straight Connector 159"/>
            <p:cNvCxnSpPr/>
            <p:nvPr/>
          </p:nvCxnSpPr>
          <p:spPr bwMode="auto">
            <a:xfrm flipV="1">
              <a:off x="9199884" y="2348880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61" name="Straight Connector 160"/>
            <p:cNvCxnSpPr/>
            <p:nvPr/>
          </p:nvCxnSpPr>
          <p:spPr bwMode="auto">
            <a:xfrm flipH="1">
              <a:off x="9199884" y="2780928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62" name="Group 161"/>
            <p:cNvGrpSpPr/>
            <p:nvPr/>
          </p:nvGrpSpPr>
          <p:grpSpPr>
            <a:xfrm>
              <a:off x="9343900" y="2708920"/>
              <a:ext cx="360040" cy="360040"/>
              <a:chOff x="8767836" y="3212976"/>
              <a:chExt cx="360040" cy="360040"/>
            </a:xfrm>
          </p:grpSpPr>
          <p:sp>
            <p:nvSpPr>
              <p:cNvPr id="172" name="Rectangle 171"/>
              <p:cNvSpPr/>
              <p:nvPr/>
            </p:nvSpPr>
            <p:spPr bwMode="auto">
              <a:xfrm>
                <a:off x="8767836" y="3212976"/>
                <a:ext cx="144016" cy="360040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endParaRPr>
              </a:p>
            </p:txBody>
          </p:sp>
          <p:cxnSp>
            <p:nvCxnSpPr>
              <p:cNvPr id="173" name="Straight Connector 172"/>
              <p:cNvCxnSpPr/>
              <p:nvPr/>
            </p:nvCxnSpPr>
            <p:spPr bwMode="auto">
              <a:xfrm flipV="1">
                <a:off x="8911852" y="3212976"/>
                <a:ext cx="216024" cy="7200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74" name="Straight Connector 173"/>
              <p:cNvCxnSpPr/>
              <p:nvPr/>
            </p:nvCxnSpPr>
            <p:spPr bwMode="auto">
              <a:xfrm>
                <a:off x="8911852" y="3501008"/>
                <a:ext cx="216024" cy="7200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75" name="Straight Connector 174"/>
              <p:cNvCxnSpPr/>
              <p:nvPr/>
            </p:nvCxnSpPr>
            <p:spPr bwMode="auto">
              <a:xfrm>
                <a:off x="9127876" y="3212976"/>
                <a:ext cx="0" cy="36004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163" name="Straight Connector 162"/>
            <p:cNvCxnSpPr/>
            <p:nvPr/>
          </p:nvCxnSpPr>
          <p:spPr bwMode="auto">
            <a:xfrm flipH="1">
              <a:off x="9199884" y="2996952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64" name="Straight Connector 163"/>
            <p:cNvCxnSpPr/>
            <p:nvPr/>
          </p:nvCxnSpPr>
          <p:spPr bwMode="auto">
            <a:xfrm flipV="1">
              <a:off x="9199884" y="2996952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65" name="Group 164"/>
            <p:cNvGrpSpPr/>
            <p:nvPr/>
          </p:nvGrpSpPr>
          <p:grpSpPr>
            <a:xfrm>
              <a:off x="9127876" y="3429000"/>
              <a:ext cx="216024" cy="72008"/>
              <a:chOff x="3447628" y="4437112"/>
              <a:chExt cx="351656" cy="144016"/>
            </a:xfrm>
          </p:grpSpPr>
          <p:cxnSp>
            <p:nvCxnSpPr>
              <p:cNvPr id="168" name="Straight Connector 167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69" name="Straight Connector 168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70" name="Straight Connector 169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166" name="TextBox 165"/>
            <p:cNvSpPr txBox="1"/>
            <p:nvPr/>
          </p:nvSpPr>
          <p:spPr>
            <a:xfrm>
              <a:off x="9279710" y="2420888"/>
              <a:ext cx="4006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8</a:t>
              </a:r>
              <a:r>
                <a:rPr lang="en-US" sz="1200" dirty="0">
                  <a:latin typeface="Symbol" charset="2"/>
                  <a:cs typeface="Symbol" charset="2"/>
                </a:rPr>
                <a:t>W</a:t>
              </a: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8839844" y="1772816"/>
              <a:ext cx="10081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220</a:t>
              </a:r>
              <a:r>
                <a:rPr lang="en-US" sz="1400" dirty="0">
                  <a:latin typeface="Symbol" charset="2"/>
                  <a:cs typeface="Symbol" charset="2"/>
                </a:rPr>
                <a:t>m</a:t>
              </a:r>
            </a:p>
          </p:txBody>
        </p:sp>
      </p:grpSp>
      <p:sp>
        <p:nvSpPr>
          <p:cNvPr id="178" name="TextBox 177"/>
          <p:cNvSpPr txBox="1"/>
          <p:nvPr/>
        </p:nvSpPr>
        <p:spPr>
          <a:xfrm>
            <a:off x="4518818" y="1952926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3</a:t>
            </a:r>
          </a:p>
        </p:txBody>
      </p:sp>
      <p:grpSp>
        <p:nvGrpSpPr>
          <p:cNvPr id="179" name="Group 178"/>
          <p:cNvGrpSpPr/>
          <p:nvPr/>
        </p:nvGrpSpPr>
        <p:grpSpPr>
          <a:xfrm>
            <a:off x="4806850" y="1880918"/>
            <a:ext cx="1152128" cy="1368152"/>
            <a:chOff x="2503140" y="2852936"/>
            <a:chExt cx="1440160" cy="1368152"/>
          </a:xfrm>
        </p:grpSpPr>
        <p:cxnSp>
          <p:nvCxnSpPr>
            <p:cNvPr id="180" name="Straight Connector 179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81" name="Straight Connector 180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82" name="Straight Connector 181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201" name="TextBox 200"/>
          <p:cNvSpPr txBox="1"/>
          <p:nvPr/>
        </p:nvSpPr>
        <p:spPr>
          <a:xfrm>
            <a:off x="4846092" y="1376862"/>
            <a:ext cx="55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+5v</a:t>
            </a:r>
          </a:p>
        </p:txBody>
      </p:sp>
      <p:cxnSp>
        <p:nvCxnSpPr>
          <p:cNvPr id="203" name="Straight Connector 202"/>
          <p:cNvCxnSpPr/>
          <p:nvPr/>
        </p:nvCxnSpPr>
        <p:spPr bwMode="auto">
          <a:xfrm>
            <a:off x="5382914" y="1520878"/>
            <a:ext cx="2" cy="7200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204" name="Group 203"/>
          <p:cNvGrpSpPr/>
          <p:nvPr/>
        </p:nvGrpSpPr>
        <p:grpSpPr>
          <a:xfrm>
            <a:off x="5454922" y="2817022"/>
            <a:ext cx="279648" cy="288032"/>
            <a:chOff x="3079204" y="2996952"/>
            <a:chExt cx="279648" cy="288032"/>
          </a:xfrm>
        </p:grpSpPr>
        <p:cxnSp>
          <p:nvCxnSpPr>
            <p:cNvPr id="205" name="Straight Connector 204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06" name="Group 205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207" name="Straight Connector 206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09" name="Straight Connector 208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10" name="Straight Connector 209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211" name="TextBox 210"/>
          <p:cNvSpPr txBox="1"/>
          <p:nvPr/>
        </p:nvSpPr>
        <p:spPr>
          <a:xfrm>
            <a:off x="4793320" y="2024934"/>
            <a:ext cx="37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212" name="Straight Connector 211"/>
          <p:cNvCxnSpPr/>
          <p:nvPr/>
        </p:nvCxnSpPr>
        <p:spPr bwMode="auto">
          <a:xfrm flipH="1">
            <a:off x="4878858" y="2889030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13" name="Straight Connector 212"/>
          <p:cNvCxnSpPr>
            <a:stCxn id="211" idx="1"/>
          </p:cNvCxnSpPr>
          <p:nvPr/>
        </p:nvCxnSpPr>
        <p:spPr bwMode="auto">
          <a:xfrm flipH="1" flipV="1">
            <a:off x="4060366" y="2204954"/>
            <a:ext cx="732954" cy="464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14" name="Straight Connector 213"/>
          <p:cNvCxnSpPr/>
          <p:nvPr/>
        </p:nvCxnSpPr>
        <p:spPr bwMode="auto">
          <a:xfrm flipH="1">
            <a:off x="4446810" y="2889030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15" name="Straight Connector 214"/>
          <p:cNvCxnSpPr>
            <a:stCxn id="177" idx="2"/>
          </p:cNvCxnSpPr>
          <p:nvPr/>
        </p:nvCxnSpPr>
        <p:spPr bwMode="auto">
          <a:xfrm flipH="1" flipV="1">
            <a:off x="5958978" y="2600998"/>
            <a:ext cx="610420" cy="929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16" name="Straight Connector 215"/>
          <p:cNvCxnSpPr/>
          <p:nvPr/>
        </p:nvCxnSpPr>
        <p:spPr bwMode="auto">
          <a:xfrm flipH="1">
            <a:off x="3045892" y="2204954"/>
            <a:ext cx="45973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17" name="Oval 216"/>
          <p:cNvSpPr/>
          <p:nvPr/>
        </p:nvSpPr>
        <p:spPr bwMode="auto">
          <a:xfrm>
            <a:off x="2757860" y="2673006"/>
            <a:ext cx="504056" cy="50405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pic>
        <p:nvPicPr>
          <p:cNvPr id="218" name="Picture 217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9000" contras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06316" y="2745014"/>
            <a:ext cx="283592" cy="293720"/>
          </a:xfrm>
          <a:prstGeom prst="rect">
            <a:avLst/>
          </a:prstGeom>
        </p:spPr>
      </p:pic>
      <p:cxnSp>
        <p:nvCxnSpPr>
          <p:cNvPr id="220" name="Straight Connector 219"/>
          <p:cNvCxnSpPr/>
          <p:nvPr/>
        </p:nvCxnSpPr>
        <p:spPr bwMode="auto">
          <a:xfrm>
            <a:off x="3045892" y="2168950"/>
            <a:ext cx="0" cy="50405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221" name="Group 220"/>
          <p:cNvGrpSpPr/>
          <p:nvPr/>
        </p:nvGrpSpPr>
        <p:grpSpPr>
          <a:xfrm>
            <a:off x="2901876" y="3177062"/>
            <a:ext cx="279648" cy="288032"/>
            <a:chOff x="3079204" y="2996952"/>
            <a:chExt cx="279648" cy="288032"/>
          </a:xfrm>
        </p:grpSpPr>
        <p:cxnSp>
          <p:nvCxnSpPr>
            <p:cNvPr id="222" name="Straight Connector 221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23" name="Group 222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224" name="Straight Connector 223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25" name="Straight Connector 22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26" name="Straight Connector 225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227" name="TextBox 226"/>
          <p:cNvSpPr txBox="1"/>
          <p:nvPr/>
        </p:nvSpPr>
        <p:spPr>
          <a:xfrm>
            <a:off x="6189863" y="2663714"/>
            <a:ext cx="449506" cy="2616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Vo3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613844" y="1952926"/>
            <a:ext cx="462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Verdana"/>
                <a:cs typeface="Verdana"/>
              </a:rPr>
              <a:t>Vs</a:t>
            </a:r>
            <a:endParaRPr lang="en-US" sz="1800" dirty="0">
              <a:latin typeface="Verdana"/>
              <a:cs typeface="Verdana"/>
            </a:endParaRPr>
          </a:p>
        </p:txBody>
      </p:sp>
      <p:sp>
        <p:nvSpPr>
          <p:cNvPr id="229" name="Rectangle 228"/>
          <p:cNvSpPr/>
          <p:nvPr/>
        </p:nvSpPr>
        <p:spPr bwMode="auto">
          <a:xfrm rot="5400000">
            <a:off x="5873222" y="3861138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rPr>
              <a:t>R12</a:t>
            </a:r>
          </a:p>
        </p:txBody>
      </p:sp>
      <p:grpSp>
        <p:nvGrpSpPr>
          <p:cNvPr id="230" name="Group 229"/>
          <p:cNvGrpSpPr/>
          <p:nvPr/>
        </p:nvGrpSpPr>
        <p:grpSpPr>
          <a:xfrm>
            <a:off x="5382914" y="1664894"/>
            <a:ext cx="792087" cy="648071"/>
            <a:chOff x="2575148" y="1844825"/>
            <a:chExt cx="792087" cy="648071"/>
          </a:xfrm>
        </p:grpSpPr>
        <p:grpSp>
          <p:nvGrpSpPr>
            <p:cNvPr id="231" name="Group 230"/>
            <p:cNvGrpSpPr/>
            <p:nvPr/>
          </p:nvGrpSpPr>
          <p:grpSpPr>
            <a:xfrm>
              <a:off x="2575148" y="1844825"/>
              <a:ext cx="792087" cy="504056"/>
              <a:chOff x="3511253" y="2048847"/>
              <a:chExt cx="792087" cy="588065"/>
            </a:xfrm>
          </p:grpSpPr>
          <p:grpSp>
            <p:nvGrpSpPr>
              <p:cNvPr id="238" name="Group 237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240" name="Straight Connector 239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41" name="Straight Connector 240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42" name="Straight Connector 241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43" name="Straight Connector 242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44" name="Straight Connector 243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239" name="TextBox 238"/>
              <p:cNvSpPr txBox="1"/>
              <p:nvPr/>
            </p:nvSpPr>
            <p:spPr>
              <a:xfrm>
                <a:off x="3772425" y="2048847"/>
                <a:ext cx="5309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Verdana"/>
                    <a:cs typeface="Verdana"/>
                  </a:rPr>
                  <a:t>0.1</a:t>
                </a:r>
                <a:r>
                  <a:rPr lang="en-US" sz="1200" dirty="0">
                    <a:latin typeface="Symbol" charset="2"/>
                    <a:cs typeface="Symbol" charset="2"/>
                  </a:rPr>
                  <a:t>m</a:t>
                </a:r>
              </a:p>
            </p:txBody>
          </p:sp>
        </p:grpSp>
        <p:grpSp>
          <p:nvGrpSpPr>
            <p:cNvPr id="232" name="Group 231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233" name="Straight Connector 232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34" name="Group 233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35" name="Straight Connector 234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36" name="Straight Connector 235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37" name="Straight Connector 236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cxnSp>
        <p:nvCxnSpPr>
          <p:cNvPr id="245" name="Straight Connector 244"/>
          <p:cNvCxnSpPr>
            <a:stCxn id="229" idx="1"/>
          </p:cNvCxnSpPr>
          <p:nvPr/>
        </p:nvCxnSpPr>
        <p:spPr bwMode="auto">
          <a:xfrm flipV="1">
            <a:off x="6125250" y="3393086"/>
            <a:ext cx="0" cy="36004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46" name="TextBox 245"/>
          <p:cNvSpPr txBox="1"/>
          <p:nvPr/>
        </p:nvSpPr>
        <p:spPr>
          <a:xfrm>
            <a:off x="4901114" y="2384974"/>
            <a:ext cx="7783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LM386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094882" y="1880918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6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526930" y="2745014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4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5886970" y="2312966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5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518818" y="2600998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2</a:t>
            </a:r>
          </a:p>
        </p:txBody>
      </p:sp>
      <p:grpSp>
        <p:nvGrpSpPr>
          <p:cNvPr id="251" name="Group 250"/>
          <p:cNvGrpSpPr/>
          <p:nvPr/>
        </p:nvGrpSpPr>
        <p:grpSpPr>
          <a:xfrm>
            <a:off x="4253042" y="3321078"/>
            <a:ext cx="432048" cy="360040"/>
            <a:chOff x="3079204" y="2996952"/>
            <a:chExt cx="279648" cy="288032"/>
          </a:xfrm>
        </p:grpSpPr>
        <p:cxnSp>
          <p:nvCxnSpPr>
            <p:cNvPr id="252" name="Straight Connector 251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38" name="Group 337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347" name="Straight Connector 346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48" name="Straight Connector 347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49" name="Straight Connector 348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cxnSp>
        <p:nvCxnSpPr>
          <p:cNvPr id="352" name="Straight Connector 351"/>
          <p:cNvCxnSpPr/>
          <p:nvPr/>
        </p:nvCxnSpPr>
        <p:spPr bwMode="auto">
          <a:xfrm flipV="1">
            <a:off x="4469066" y="2889030"/>
            <a:ext cx="0" cy="50405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53" name="TextBox 352"/>
          <p:cNvSpPr txBox="1"/>
          <p:nvPr/>
        </p:nvSpPr>
        <p:spPr>
          <a:xfrm>
            <a:off x="3448101" y="2293221"/>
            <a:ext cx="516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10</a:t>
            </a:r>
            <a:r>
              <a:rPr lang="en-US" sz="1400" dirty="0">
                <a:latin typeface="Symbol" charset="2"/>
                <a:cs typeface="Symbol" charset="2"/>
              </a:rPr>
              <a:t>m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5782196" y="1880918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C1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3695827" y="1758291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C4</a:t>
            </a:r>
          </a:p>
        </p:txBody>
      </p:sp>
      <p:grpSp>
        <p:nvGrpSpPr>
          <p:cNvPr id="356" name="Group 355"/>
          <p:cNvGrpSpPr/>
          <p:nvPr/>
        </p:nvGrpSpPr>
        <p:grpSpPr>
          <a:xfrm>
            <a:off x="5981238" y="2600997"/>
            <a:ext cx="771768" cy="936104"/>
            <a:chOff x="3664445" y="1544791"/>
            <a:chExt cx="559463" cy="1092121"/>
          </a:xfrm>
        </p:grpSpPr>
        <p:grpSp>
          <p:nvGrpSpPr>
            <p:cNvPr id="357" name="Group 356"/>
            <p:cNvGrpSpPr/>
            <p:nvPr/>
          </p:nvGrpSpPr>
          <p:grpSpPr>
            <a:xfrm>
              <a:off x="3664445" y="1544791"/>
              <a:ext cx="206848" cy="1092121"/>
              <a:chOff x="3726185" y="1544791"/>
              <a:chExt cx="290214" cy="1092121"/>
            </a:xfrm>
          </p:grpSpPr>
          <p:cxnSp>
            <p:nvCxnSpPr>
              <p:cNvPr id="359" name="Straight Connector 358"/>
              <p:cNvCxnSpPr/>
              <p:nvPr/>
            </p:nvCxnSpPr>
            <p:spPr bwMode="auto">
              <a:xfrm flipH="1">
                <a:off x="3871292" y="1544791"/>
                <a:ext cx="1368" cy="804089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60" name="Straight Connector 359"/>
              <p:cNvCxnSpPr/>
              <p:nvPr/>
            </p:nvCxnSpPr>
            <p:spPr bwMode="auto">
              <a:xfrm flipH="1">
                <a:off x="3726185" y="2348880"/>
                <a:ext cx="289123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61" name="Straight Connector 360"/>
              <p:cNvCxnSpPr/>
              <p:nvPr/>
            </p:nvCxnSpPr>
            <p:spPr bwMode="auto">
              <a:xfrm flipH="1">
                <a:off x="3727276" y="2420888"/>
                <a:ext cx="289123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62" name="Straight Connector 361"/>
              <p:cNvCxnSpPr/>
              <p:nvPr/>
            </p:nvCxnSpPr>
            <p:spPr bwMode="auto">
              <a:xfrm>
                <a:off x="3871292" y="2420888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358" name="TextBox 357"/>
            <p:cNvSpPr txBox="1"/>
            <p:nvPr/>
          </p:nvSpPr>
          <p:spPr>
            <a:xfrm>
              <a:off x="3772425" y="2048847"/>
              <a:ext cx="45148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0.01</a:t>
              </a:r>
              <a:r>
                <a:rPr lang="en-US" sz="1200" dirty="0">
                  <a:latin typeface="Symbol" charset="2"/>
                  <a:cs typeface="Symbol" charset="2"/>
                </a:rPr>
                <a:t>m</a:t>
              </a:r>
            </a:p>
          </p:txBody>
        </p:sp>
      </p:grpSp>
      <p:sp>
        <p:nvSpPr>
          <p:cNvPr id="363" name="TextBox 362"/>
          <p:cNvSpPr txBox="1"/>
          <p:nvPr/>
        </p:nvSpPr>
        <p:spPr>
          <a:xfrm>
            <a:off x="6303997" y="3834304"/>
            <a:ext cx="412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68</a:t>
            </a:r>
          </a:p>
        </p:txBody>
      </p:sp>
      <p:grpSp>
        <p:nvGrpSpPr>
          <p:cNvPr id="364" name="Group 363"/>
          <p:cNvGrpSpPr/>
          <p:nvPr/>
        </p:nvGrpSpPr>
        <p:grpSpPr>
          <a:xfrm>
            <a:off x="5981234" y="4257182"/>
            <a:ext cx="279648" cy="288032"/>
            <a:chOff x="3079204" y="2996952"/>
            <a:chExt cx="279648" cy="288032"/>
          </a:xfrm>
        </p:grpSpPr>
        <p:cxnSp>
          <p:nvCxnSpPr>
            <p:cNvPr id="365" name="Straight Connector 364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66" name="Group 365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367" name="Straight Connector 366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68" name="Straight Connector 367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69" name="Straight Connector 368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370" name="TextBox 369"/>
          <p:cNvSpPr txBox="1"/>
          <p:nvPr/>
        </p:nvSpPr>
        <p:spPr>
          <a:xfrm>
            <a:off x="5643230" y="3275201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C5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260358" y="2294157"/>
            <a:ext cx="2353486" cy="7386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Verdana"/>
                <a:cs typeface="Verdana"/>
              </a:rPr>
              <a:t>sine wave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Verdana"/>
                <a:cs typeface="Verdana"/>
              </a:rPr>
              <a:t>0.4V peak-to-peak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Verdana"/>
                <a:cs typeface="Verdana"/>
              </a:rPr>
              <a:t>2.5V DC offset</a:t>
            </a:r>
          </a:p>
        </p:txBody>
      </p:sp>
      <p:sp>
        <p:nvSpPr>
          <p:cNvPr id="372" name="Oval 371"/>
          <p:cNvSpPr/>
          <p:nvPr/>
        </p:nvSpPr>
        <p:spPr>
          <a:xfrm>
            <a:off x="5343844" y="1700165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3" name="Oval 372"/>
          <p:cNvSpPr/>
          <p:nvPr/>
        </p:nvSpPr>
        <p:spPr>
          <a:xfrm>
            <a:off x="6079748" y="2564261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5" name="Group 374"/>
          <p:cNvGrpSpPr/>
          <p:nvPr/>
        </p:nvGrpSpPr>
        <p:grpSpPr>
          <a:xfrm rot="16200000">
            <a:off x="3612389" y="1901409"/>
            <a:ext cx="285343" cy="615681"/>
            <a:chOff x="3726185" y="1918618"/>
            <a:chExt cx="290214" cy="718294"/>
          </a:xfrm>
        </p:grpSpPr>
        <p:cxnSp>
          <p:nvCxnSpPr>
            <p:cNvPr id="377" name="Straight Connector 376"/>
            <p:cNvCxnSpPr/>
            <p:nvPr/>
          </p:nvCxnSpPr>
          <p:spPr bwMode="auto">
            <a:xfrm rot="5400000">
              <a:off x="3661230" y="2133064"/>
              <a:ext cx="430261" cy="136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78" name="Straight Connector 377"/>
            <p:cNvCxnSpPr/>
            <p:nvPr/>
          </p:nvCxnSpPr>
          <p:spPr bwMode="auto">
            <a:xfrm flipH="1">
              <a:off x="3726185" y="2348880"/>
              <a:ext cx="28912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79" name="Straight Connector 378"/>
            <p:cNvCxnSpPr/>
            <p:nvPr/>
          </p:nvCxnSpPr>
          <p:spPr bwMode="auto">
            <a:xfrm flipH="1">
              <a:off x="3727276" y="2420888"/>
              <a:ext cx="28912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80" name="Straight Connector 379"/>
            <p:cNvCxnSpPr/>
            <p:nvPr/>
          </p:nvCxnSpPr>
          <p:spPr bwMode="auto">
            <a:xfrm>
              <a:off x="3871292" y="2420888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868814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669DF8-1DBB-7F12-EF32-6EDF75B67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269" y="1972223"/>
            <a:ext cx="2743200" cy="3060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58FA11-EC0B-9ED2-D909-C279DE17E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583" y="1972223"/>
            <a:ext cx="2755900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729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D2D63E-4278-895F-9BA3-6425BB72A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3888827"/>
            <a:ext cx="4401630" cy="267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251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D085E8-2166-511A-9134-B1B7EDA24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726" y="1952080"/>
            <a:ext cx="2398462" cy="158586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6344870-5E65-BD40-7A38-0A4425865FA9}"/>
              </a:ext>
            </a:extLst>
          </p:cNvPr>
          <p:cNvGrpSpPr/>
          <p:nvPr/>
        </p:nvGrpSpPr>
        <p:grpSpPr>
          <a:xfrm>
            <a:off x="6299545" y="2204954"/>
            <a:ext cx="504056" cy="1080120"/>
            <a:chOff x="6972207" y="2600998"/>
            <a:chExt cx="504056" cy="1080120"/>
          </a:xfrm>
        </p:grpSpPr>
        <p:cxnSp>
          <p:nvCxnSpPr>
            <p:cNvPr id="160" name="Straight Connector 159"/>
            <p:cNvCxnSpPr/>
            <p:nvPr/>
          </p:nvCxnSpPr>
          <p:spPr bwMode="auto">
            <a:xfrm flipV="1">
              <a:off x="6972207" y="2600998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61" name="Straight Connector 160"/>
            <p:cNvCxnSpPr/>
            <p:nvPr/>
          </p:nvCxnSpPr>
          <p:spPr bwMode="auto">
            <a:xfrm flipH="1">
              <a:off x="6972207" y="3033046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62" name="Group 161"/>
            <p:cNvGrpSpPr/>
            <p:nvPr/>
          </p:nvGrpSpPr>
          <p:grpSpPr>
            <a:xfrm>
              <a:off x="7116223" y="2961038"/>
              <a:ext cx="360040" cy="360040"/>
              <a:chOff x="8767836" y="3212976"/>
              <a:chExt cx="360040" cy="360040"/>
            </a:xfrm>
          </p:grpSpPr>
          <p:sp>
            <p:nvSpPr>
              <p:cNvPr id="172" name="Rectangle 171"/>
              <p:cNvSpPr/>
              <p:nvPr/>
            </p:nvSpPr>
            <p:spPr bwMode="auto">
              <a:xfrm>
                <a:off x="8767836" y="3212976"/>
                <a:ext cx="144016" cy="360040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endParaRPr>
              </a:p>
            </p:txBody>
          </p:sp>
          <p:cxnSp>
            <p:nvCxnSpPr>
              <p:cNvPr id="173" name="Straight Connector 172"/>
              <p:cNvCxnSpPr/>
              <p:nvPr/>
            </p:nvCxnSpPr>
            <p:spPr bwMode="auto">
              <a:xfrm flipV="1">
                <a:off x="8911852" y="3212976"/>
                <a:ext cx="216024" cy="7200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74" name="Straight Connector 173"/>
              <p:cNvCxnSpPr/>
              <p:nvPr/>
            </p:nvCxnSpPr>
            <p:spPr bwMode="auto">
              <a:xfrm>
                <a:off x="8911852" y="3501008"/>
                <a:ext cx="216024" cy="7200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75" name="Straight Connector 174"/>
              <p:cNvCxnSpPr/>
              <p:nvPr/>
            </p:nvCxnSpPr>
            <p:spPr bwMode="auto">
              <a:xfrm>
                <a:off x="9127876" y="3212976"/>
                <a:ext cx="0" cy="36004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163" name="Straight Connector 162"/>
            <p:cNvCxnSpPr/>
            <p:nvPr/>
          </p:nvCxnSpPr>
          <p:spPr bwMode="auto">
            <a:xfrm flipH="1">
              <a:off x="6972207" y="3249070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64" name="Straight Connector 163"/>
            <p:cNvCxnSpPr/>
            <p:nvPr/>
          </p:nvCxnSpPr>
          <p:spPr bwMode="auto">
            <a:xfrm flipV="1">
              <a:off x="6972207" y="3249070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66" name="TextBox 165"/>
            <p:cNvSpPr txBox="1"/>
            <p:nvPr/>
          </p:nvSpPr>
          <p:spPr>
            <a:xfrm>
              <a:off x="7052033" y="2673006"/>
              <a:ext cx="4006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8</a:t>
              </a:r>
              <a:r>
                <a:rPr lang="en-US" sz="1200" dirty="0">
                  <a:latin typeface="Symbol" charset="2"/>
                  <a:cs typeface="Symbol" charset="2"/>
                </a:rPr>
                <a:t>W</a:t>
              </a:r>
            </a:p>
          </p:txBody>
        </p:sp>
      </p:grpSp>
      <p:cxnSp>
        <p:nvCxnSpPr>
          <p:cNvPr id="216" name="Straight Connector 215"/>
          <p:cNvCxnSpPr>
            <a:cxnSpLocks/>
          </p:cNvCxnSpPr>
          <p:nvPr/>
        </p:nvCxnSpPr>
        <p:spPr bwMode="auto">
          <a:xfrm flipH="1">
            <a:off x="3045892" y="2204954"/>
            <a:ext cx="90599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17" name="Oval 216"/>
          <p:cNvSpPr/>
          <p:nvPr/>
        </p:nvSpPr>
        <p:spPr bwMode="auto">
          <a:xfrm>
            <a:off x="2757860" y="2673006"/>
            <a:ext cx="504056" cy="50405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pic>
        <p:nvPicPr>
          <p:cNvPr id="218" name="Picture 217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9000" contras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06316" y="2745014"/>
            <a:ext cx="283592" cy="293720"/>
          </a:xfrm>
          <a:prstGeom prst="rect">
            <a:avLst/>
          </a:prstGeom>
        </p:spPr>
      </p:pic>
      <p:cxnSp>
        <p:nvCxnSpPr>
          <p:cNvPr id="220" name="Straight Connector 219"/>
          <p:cNvCxnSpPr/>
          <p:nvPr/>
        </p:nvCxnSpPr>
        <p:spPr bwMode="auto">
          <a:xfrm>
            <a:off x="3045892" y="2168950"/>
            <a:ext cx="0" cy="504056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221" name="Group 220"/>
          <p:cNvGrpSpPr/>
          <p:nvPr/>
        </p:nvGrpSpPr>
        <p:grpSpPr>
          <a:xfrm>
            <a:off x="2901876" y="3177062"/>
            <a:ext cx="279648" cy="288032"/>
            <a:chOff x="3079204" y="2996952"/>
            <a:chExt cx="279648" cy="288032"/>
          </a:xfrm>
        </p:grpSpPr>
        <p:cxnSp>
          <p:nvCxnSpPr>
            <p:cNvPr id="222" name="Straight Connector 221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23" name="Group 222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224" name="Straight Connector 223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25" name="Straight Connector 22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26" name="Straight Connector 225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228" name="TextBox 227"/>
          <p:cNvSpPr txBox="1"/>
          <p:nvPr/>
        </p:nvSpPr>
        <p:spPr>
          <a:xfrm>
            <a:off x="2613844" y="1952926"/>
            <a:ext cx="462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Verdana"/>
                <a:cs typeface="Verdana"/>
              </a:rPr>
              <a:t>Vs</a:t>
            </a:r>
            <a:endParaRPr lang="en-US" sz="1800" dirty="0">
              <a:latin typeface="Verdana"/>
              <a:cs typeface="Verdana"/>
            </a:endParaRPr>
          </a:p>
        </p:txBody>
      </p:sp>
      <p:sp>
        <p:nvSpPr>
          <p:cNvPr id="371" name="TextBox 370"/>
          <p:cNvSpPr txBox="1"/>
          <p:nvPr/>
        </p:nvSpPr>
        <p:spPr>
          <a:xfrm>
            <a:off x="260358" y="2294157"/>
            <a:ext cx="2353486" cy="7386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Verdana"/>
                <a:cs typeface="Verdana"/>
              </a:rPr>
              <a:t>sine wave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Verdana"/>
                <a:cs typeface="Verdana"/>
              </a:rPr>
              <a:t>0.4V peak-to-peak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Verdana"/>
                <a:cs typeface="Verdana"/>
              </a:rPr>
              <a:t>2.5V DC offset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AC6945-06E5-0815-E234-5B272696E304}"/>
              </a:ext>
            </a:extLst>
          </p:cNvPr>
          <p:cNvCxnSpPr>
            <a:cxnSpLocks/>
          </p:cNvCxnSpPr>
          <p:nvPr/>
        </p:nvCxnSpPr>
        <p:spPr bwMode="auto">
          <a:xfrm flipH="1">
            <a:off x="3384331" y="2480391"/>
            <a:ext cx="560033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494DD6-1794-8107-4FA4-0DE77EE17F8F}"/>
              </a:ext>
            </a:extLst>
          </p:cNvPr>
          <p:cNvCxnSpPr>
            <a:cxnSpLocks/>
          </p:cNvCxnSpPr>
          <p:nvPr/>
        </p:nvCxnSpPr>
        <p:spPr bwMode="auto">
          <a:xfrm>
            <a:off x="3393768" y="2489478"/>
            <a:ext cx="0" cy="79559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5C24D0-8138-D58C-AC05-DB952C6FFE31}"/>
              </a:ext>
            </a:extLst>
          </p:cNvPr>
          <p:cNvCxnSpPr>
            <a:cxnSpLocks/>
          </p:cNvCxnSpPr>
          <p:nvPr/>
        </p:nvCxnSpPr>
        <p:spPr bwMode="auto">
          <a:xfrm flipH="1">
            <a:off x="3053255" y="3285074"/>
            <a:ext cx="89863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6A072D-C317-C62B-0440-6F6A1C6C79BA}"/>
              </a:ext>
            </a:extLst>
          </p:cNvPr>
          <p:cNvSpPr txBox="1"/>
          <p:nvPr/>
        </p:nvSpPr>
        <p:spPr>
          <a:xfrm>
            <a:off x="3827067" y="1227355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5V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576586-C26A-6E11-A306-D83E9091F4A1}"/>
              </a:ext>
            </a:extLst>
          </p:cNvPr>
          <p:cNvCxnSpPr>
            <a:cxnSpLocks/>
          </p:cNvCxnSpPr>
          <p:nvPr/>
        </p:nvCxnSpPr>
        <p:spPr bwMode="auto">
          <a:xfrm>
            <a:off x="4071686" y="1555128"/>
            <a:ext cx="0" cy="122764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098CEA-7814-47D0-2101-732475349D5B}"/>
              </a:ext>
            </a:extLst>
          </p:cNvPr>
          <p:cNvCxnSpPr>
            <a:cxnSpLocks/>
          </p:cNvCxnSpPr>
          <p:nvPr/>
        </p:nvCxnSpPr>
        <p:spPr bwMode="auto">
          <a:xfrm flipH="1">
            <a:off x="3944364" y="2782772"/>
            <a:ext cx="127321" cy="25004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170F32D-A9D6-65F1-ABE1-ECAC656A4B5B}"/>
              </a:ext>
            </a:extLst>
          </p:cNvPr>
          <p:cNvCxnSpPr>
            <a:cxnSpLocks/>
          </p:cNvCxnSpPr>
          <p:nvPr/>
        </p:nvCxnSpPr>
        <p:spPr bwMode="auto">
          <a:xfrm flipH="1">
            <a:off x="5728138" y="2168950"/>
            <a:ext cx="571407" cy="4680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2BF993-8091-6BCB-E89C-84533360E5F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656130" y="2925034"/>
            <a:ext cx="643415" cy="35142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3231183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10747</TotalTime>
  <Words>577</Words>
  <Application>Microsoft Macintosh PowerPoint</Application>
  <PresentationFormat>On-screen Show (4:3)</PresentationFormat>
  <Paragraphs>449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Symbol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Imperial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Cheung</dc:creator>
  <cp:lastModifiedBy>Cheung, Peter Y</cp:lastModifiedBy>
  <cp:revision>44</cp:revision>
  <dcterms:created xsi:type="dcterms:W3CDTF">2020-05-25T11:00:01Z</dcterms:created>
  <dcterms:modified xsi:type="dcterms:W3CDTF">2025-11-05T07:44:05Z</dcterms:modified>
</cp:coreProperties>
</file>